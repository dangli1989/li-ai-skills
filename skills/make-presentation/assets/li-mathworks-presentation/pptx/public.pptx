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56" r:id="rId5"/>
    <p:sldId id="279" r:id="rId6"/>
    <p:sldId id="278" r:id="rId7"/>
    <p:sldId id="280" r:id="rId8"/>
    <p:sldId id="261" r:id="rId9"/>
    <p:sldId id="277"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400"/>
    <a:srgbClr val="228B22"/>
    <a:srgbClr val="A020F6"/>
    <a:srgbClr val="0000FF"/>
    <a:srgbClr val="636569"/>
    <a:srgbClr val="715091"/>
    <a:srgbClr val="176DAD"/>
    <a:srgbClr val="0D78C9"/>
    <a:srgbClr val="024C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859AEF-BE5F-6B44-BE28-ACB051E382BC}" v="1" dt="2026-01-27T19:39:12.182"/>
    <p1510:client id="{A7BCD7BE-C29E-4AD9-0A12-23C04ACBF4B2}" v="30" dt="2026-01-27T19:36:21.7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0981" autoAdjust="0"/>
  </p:normalViewPr>
  <p:slideViewPr>
    <p:cSldViewPr snapToGrid="0">
      <p:cViewPr varScale="1">
        <p:scale>
          <a:sx n="77" d="100"/>
          <a:sy n="77" d="100"/>
        </p:scale>
        <p:origin x="52" y="36"/>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8/4/2026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8/4/2026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7A5DCF06-F24C-994E-9BEC-4325F534396F}"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EB9EFC4-0C07-55BB-43CB-CF359DD0F884}"/>
              </a:ext>
            </a:extLst>
          </p:cNvPr>
          <p:cNvSpPr/>
          <p:nvPr userDrawn="1"/>
        </p:nvSpPr>
        <p:spPr>
          <a:xfrm>
            <a:off x="8602226" y="7193577"/>
            <a:ext cx="457200" cy="307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 name="Rectangle 27">
            <a:extLst>
              <a:ext uri="{FF2B5EF4-FFF2-40B4-BE49-F238E27FC236}">
                <a16:creationId xmlns:a16="http://schemas.microsoft.com/office/drawing/2014/main" id="{7B3DB00D-5816-CFD1-0B93-DB59CDCC6830}"/>
              </a:ext>
            </a:extLst>
          </p:cNvPr>
          <p:cNvSpPr/>
          <p:nvPr userDrawn="1"/>
        </p:nvSpPr>
        <p:spPr>
          <a:xfrm>
            <a:off x="9228741" y="7193577"/>
            <a:ext cx="457200" cy="307778"/>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 name="Rectangle 28">
            <a:extLst>
              <a:ext uri="{FF2B5EF4-FFF2-40B4-BE49-F238E27FC236}">
                <a16:creationId xmlns:a16="http://schemas.microsoft.com/office/drawing/2014/main" id="{3F8C20EA-A0DE-590F-ED0A-9B58D0AA0727}"/>
              </a:ext>
            </a:extLst>
          </p:cNvPr>
          <p:cNvSpPr/>
          <p:nvPr userDrawn="1"/>
        </p:nvSpPr>
        <p:spPr>
          <a:xfrm>
            <a:off x="9855256" y="7193577"/>
            <a:ext cx="457200" cy="307778"/>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 name="Rectangle 29">
            <a:extLst>
              <a:ext uri="{FF2B5EF4-FFF2-40B4-BE49-F238E27FC236}">
                <a16:creationId xmlns:a16="http://schemas.microsoft.com/office/drawing/2014/main" id="{BF1CC28F-AE8F-3BCB-CD51-F835D2636E53}"/>
              </a:ext>
            </a:extLst>
          </p:cNvPr>
          <p:cNvSpPr/>
          <p:nvPr userDrawn="1"/>
        </p:nvSpPr>
        <p:spPr>
          <a:xfrm>
            <a:off x="10481771" y="7193577"/>
            <a:ext cx="457200" cy="307778"/>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 name="Rectangle 30">
            <a:extLst>
              <a:ext uri="{FF2B5EF4-FFF2-40B4-BE49-F238E27FC236}">
                <a16:creationId xmlns:a16="http://schemas.microsoft.com/office/drawing/2014/main" id="{9D1263EC-582E-BD6D-287A-896C979249CB}"/>
              </a:ext>
            </a:extLst>
          </p:cNvPr>
          <p:cNvSpPr/>
          <p:nvPr userDrawn="1"/>
        </p:nvSpPr>
        <p:spPr>
          <a:xfrm>
            <a:off x="11108286" y="7193577"/>
            <a:ext cx="457200" cy="307778"/>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 name="Rectangle 31">
            <a:extLst>
              <a:ext uri="{FF2B5EF4-FFF2-40B4-BE49-F238E27FC236}">
                <a16:creationId xmlns:a16="http://schemas.microsoft.com/office/drawing/2014/main" id="{94CAE5B0-0532-2F09-B2A6-CFCE719D0E79}"/>
              </a:ext>
            </a:extLst>
          </p:cNvPr>
          <p:cNvSpPr/>
          <p:nvPr userDrawn="1"/>
        </p:nvSpPr>
        <p:spPr>
          <a:xfrm>
            <a:off x="11734800" y="7193577"/>
            <a:ext cx="457200" cy="30777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 name="Rectangle 32">
            <a:extLst>
              <a:ext uri="{FF2B5EF4-FFF2-40B4-BE49-F238E27FC236}">
                <a16:creationId xmlns:a16="http://schemas.microsoft.com/office/drawing/2014/main" id="{3DF609A0-6466-159F-722F-7772420CE816}"/>
              </a:ext>
            </a:extLst>
          </p:cNvPr>
          <p:cNvSpPr/>
          <p:nvPr userDrawn="1"/>
        </p:nvSpPr>
        <p:spPr>
          <a:xfrm>
            <a:off x="3218091" y="7193577"/>
            <a:ext cx="457200" cy="307778"/>
          </a:xfrm>
          <a:prstGeom prst="rect">
            <a:avLst/>
          </a:prstGeom>
          <a:solidFill>
            <a:srgbClr val="B731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 name="Rectangle 33">
            <a:extLst>
              <a:ext uri="{FF2B5EF4-FFF2-40B4-BE49-F238E27FC236}">
                <a16:creationId xmlns:a16="http://schemas.microsoft.com/office/drawing/2014/main" id="{388A5942-0429-943A-EDB2-9216E3B66685}"/>
              </a:ext>
            </a:extLst>
          </p:cNvPr>
          <p:cNvSpPr/>
          <p:nvPr userDrawn="1"/>
        </p:nvSpPr>
        <p:spPr>
          <a:xfrm>
            <a:off x="3838830" y="7193577"/>
            <a:ext cx="457200" cy="307778"/>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 name="Rectangle 34">
            <a:extLst>
              <a:ext uri="{FF2B5EF4-FFF2-40B4-BE49-F238E27FC236}">
                <a16:creationId xmlns:a16="http://schemas.microsoft.com/office/drawing/2014/main" id="{159F8D8F-926E-44FF-B1C6-4B3AD85CB2EB}"/>
              </a:ext>
            </a:extLst>
          </p:cNvPr>
          <p:cNvSpPr/>
          <p:nvPr userDrawn="1"/>
        </p:nvSpPr>
        <p:spPr>
          <a:xfrm>
            <a:off x="4460475" y="7193577"/>
            <a:ext cx="457200" cy="307778"/>
          </a:xfrm>
          <a:prstGeom prst="rect">
            <a:avLst/>
          </a:prstGeom>
          <a:solidFill>
            <a:srgbClr val="48A2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 name="Rectangle 35">
            <a:extLst>
              <a:ext uri="{FF2B5EF4-FFF2-40B4-BE49-F238E27FC236}">
                <a16:creationId xmlns:a16="http://schemas.microsoft.com/office/drawing/2014/main" id="{3DC833EA-BA73-A76C-28B5-A7EC4E1EB56B}"/>
              </a:ext>
            </a:extLst>
          </p:cNvPr>
          <p:cNvSpPr/>
          <p:nvPr userDrawn="1"/>
        </p:nvSpPr>
        <p:spPr>
          <a:xfrm>
            <a:off x="5062152" y="7193577"/>
            <a:ext cx="457200" cy="307778"/>
          </a:xfrm>
          <a:prstGeom prst="rect">
            <a:avLst/>
          </a:prstGeom>
          <a:solidFill>
            <a:srgbClr val="00A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 name="Rectangle 36">
            <a:extLst>
              <a:ext uri="{FF2B5EF4-FFF2-40B4-BE49-F238E27FC236}">
                <a16:creationId xmlns:a16="http://schemas.microsoft.com/office/drawing/2014/main" id="{28AEA155-1A64-2F59-16E0-F5213228F556}"/>
              </a:ext>
            </a:extLst>
          </p:cNvPr>
          <p:cNvSpPr/>
          <p:nvPr userDrawn="1"/>
        </p:nvSpPr>
        <p:spPr>
          <a:xfrm>
            <a:off x="5688910" y="7193577"/>
            <a:ext cx="457200" cy="307778"/>
          </a:xfrm>
          <a:prstGeom prst="rect">
            <a:avLst/>
          </a:prstGeom>
          <a:solidFill>
            <a:srgbClr val="7150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 name="Rectangle 37">
            <a:extLst>
              <a:ext uri="{FF2B5EF4-FFF2-40B4-BE49-F238E27FC236}">
                <a16:creationId xmlns:a16="http://schemas.microsoft.com/office/drawing/2014/main" id="{5D0BAB26-8A8A-324A-55BE-722CB3EB2D21}"/>
              </a:ext>
            </a:extLst>
          </p:cNvPr>
          <p:cNvSpPr/>
          <p:nvPr userDrawn="1"/>
        </p:nvSpPr>
        <p:spPr>
          <a:xfrm>
            <a:off x="6309649" y="7193577"/>
            <a:ext cx="457200" cy="307778"/>
          </a:xfrm>
          <a:prstGeom prst="rect">
            <a:avLst/>
          </a:prstGeom>
          <a:solidFill>
            <a:srgbClr val="636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 name="Rectangle 38">
            <a:extLst>
              <a:ext uri="{FF2B5EF4-FFF2-40B4-BE49-F238E27FC236}">
                <a16:creationId xmlns:a16="http://schemas.microsoft.com/office/drawing/2014/main" id="{A0097D47-C13A-B30B-A1CF-AB9FD34E9D73}"/>
              </a:ext>
            </a:extLst>
          </p:cNvPr>
          <p:cNvSpPr/>
          <p:nvPr userDrawn="1"/>
        </p:nvSpPr>
        <p:spPr>
          <a:xfrm>
            <a:off x="713498" y="7193577"/>
            <a:ext cx="457200" cy="3077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0" name="Rectangle 39">
            <a:extLst>
              <a:ext uri="{FF2B5EF4-FFF2-40B4-BE49-F238E27FC236}">
                <a16:creationId xmlns:a16="http://schemas.microsoft.com/office/drawing/2014/main" id="{4153EDC8-5D9B-B284-2476-4EA57A468431}"/>
              </a:ext>
            </a:extLst>
          </p:cNvPr>
          <p:cNvSpPr/>
          <p:nvPr userDrawn="1"/>
        </p:nvSpPr>
        <p:spPr>
          <a:xfrm>
            <a:off x="1298456" y="7193577"/>
            <a:ext cx="457200" cy="3077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 name="TextBox 40">
            <a:extLst>
              <a:ext uri="{FF2B5EF4-FFF2-40B4-BE49-F238E27FC236}">
                <a16:creationId xmlns:a16="http://schemas.microsoft.com/office/drawing/2014/main" id="{367B03DA-9367-DAD0-F282-7378EDBF9F34}"/>
              </a:ext>
            </a:extLst>
          </p:cNvPr>
          <p:cNvSpPr txBox="1"/>
          <p:nvPr userDrawn="1"/>
        </p:nvSpPr>
        <p:spPr>
          <a:xfrm>
            <a:off x="-31888" y="7162800"/>
            <a:ext cx="718688" cy="369332"/>
          </a:xfrm>
          <a:prstGeom prst="rect">
            <a:avLst/>
          </a:prstGeom>
          <a:noFill/>
        </p:spPr>
        <p:txBody>
          <a:bodyPr wrap="square" rtlCol="0">
            <a:spAutoFit/>
          </a:bodyPr>
          <a:lstStyle/>
          <a:p>
            <a:pPr algn="l"/>
            <a:r>
              <a:rPr lang="en-US" sz="900" b="1"/>
              <a:t>BRAND</a:t>
            </a:r>
            <a:br>
              <a:rPr lang="en-US" sz="900" b="1"/>
            </a:br>
            <a:r>
              <a:rPr lang="en-US" sz="900" b="1"/>
              <a:t>COLORS</a:t>
            </a:r>
          </a:p>
        </p:txBody>
      </p:sp>
      <p:sp>
        <p:nvSpPr>
          <p:cNvPr id="42" name="Rectangle 41">
            <a:extLst>
              <a:ext uri="{FF2B5EF4-FFF2-40B4-BE49-F238E27FC236}">
                <a16:creationId xmlns:a16="http://schemas.microsoft.com/office/drawing/2014/main" id="{B235FEAB-2B0C-D216-54C3-E5A79367A052}"/>
              </a:ext>
            </a:extLst>
          </p:cNvPr>
          <p:cNvSpPr/>
          <p:nvPr userDrawn="1"/>
        </p:nvSpPr>
        <p:spPr>
          <a:xfrm>
            <a:off x="2231608" y="7193577"/>
            <a:ext cx="457200" cy="3077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 name="TextBox 42">
            <a:extLst>
              <a:ext uri="{FF2B5EF4-FFF2-40B4-BE49-F238E27FC236}">
                <a16:creationId xmlns:a16="http://schemas.microsoft.com/office/drawing/2014/main" id="{9E936904-F50F-66D0-E43B-C55A578E8885}"/>
              </a:ext>
            </a:extLst>
          </p:cNvPr>
          <p:cNvSpPr txBox="1"/>
          <p:nvPr userDrawn="1"/>
        </p:nvSpPr>
        <p:spPr>
          <a:xfrm>
            <a:off x="7847405" y="7162800"/>
            <a:ext cx="718688" cy="369332"/>
          </a:xfrm>
          <a:prstGeom prst="rect">
            <a:avLst/>
          </a:prstGeom>
          <a:noFill/>
        </p:spPr>
        <p:txBody>
          <a:bodyPr wrap="square" rtlCol="0">
            <a:spAutoFit/>
          </a:bodyPr>
          <a:lstStyle/>
          <a:p>
            <a:pPr algn="l"/>
            <a:r>
              <a:rPr lang="en-US" sz="900" b="1"/>
              <a:t>CODE</a:t>
            </a:r>
            <a:br>
              <a:rPr lang="en-US" sz="900" b="1"/>
            </a:br>
            <a:r>
              <a:rPr lang="en-US" sz="900" b="1"/>
              <a:t>COLORS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athworks.sharepoint.com/:p:/r/sites/emktg_creative_ext/Reference%20Documents/Guidelines/corporate-powerpoint/MW_Presentation_guidelines.pptx?d=w159b07d101814a8aaee0b651acf7775e&amp;csf=1&amp;web=1&amp;e=IzMZnJ" TargetMode="External"/><Relationship Id="rId2" Type="http://schemas.openxmlformats.org/officeDocument/2006/relationships/hyperlink" Target="https://parula.mathworks.com/brand-guidelines/visual-identity/powerpoint-templates/" TargetMode="External"/><Relationship Id="rId1" Type="http://schemas.openxmlformats.org/officeDocument/2006/relationships/slideLayout" Target="../slideLayouts/slideLayout3.xml"/><Relationship Id="rId4" Type="http://schemas.openxmlformats.org/officeDocument/2006/relationships/hyperlink" Target="https://mathworks.highspot.c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assets.mathworks.com/images.html" TargetMode="External"/><Relationship Id="rId7" Type="http://schemas.openxmlformats.org/officeDocument/2006/relationships/image" Target="../media/image4.svg"/><Relationship Id="rId12" Type="http://schemas.openxmlformats.org/officeDocument/2006/relationships/image" Target="../media/image9.svg"/><Relationship Id="rId2" Type="http://schemas.openxmlformats.org/officeDocument/2006/relationships/hyperlink" Target="https://mathworks.sharepoint.com/:w:/s/marketing/emktg_creative/cs/csm/EToMLRsnVmFDoPr99PA677ABYz7Hh3YBXQY0WiCQmK26sQ" TargetMode="External"/><Relationship Id="rId1" Type="http://schemas.openxmlformats.org/officeDocument/2006/relationships/slideLayout" Target="../slideLayouts/slideLayout3.xml"/><Relationship Id="rId6" Type="http://schemas.openxmlformats.org/officeDocument/2006/relationships/hyperlink" Target="https://parula.mathworks.com/brand-guidelines/visual-identity/pictograms/" TargetMode="External"/><Relationship Id="rId11" Type="http://schemas.openxmlformats.org/officeDocument/2006/relationships/image" Target="../media/image8.svg"/><Relationship Id="rId5" Type="http://schemas.openxmlformats.org/officeDocument/2006/relationships/hyperlink" Target="https://parula.mathworks.com/brand-guidelines/brand-overview/" TargetMode="External"/><Relationship Id="rId10" Type="http://schemas.openxmlformats.org/officeDocument/2006/relationships/image" Target="../media/image7.svg"/><Relationship Id="rId4" Type="http://schemas.openxmlformats.org/officeDocument/2006/relationships/hyperlink" Target="https://mathworks.sharepoint.com/:p:/r/sites/emktg_creative_ext/Templates/diagrams-illustrations/Technical-and-Workflow-Diagram-Toolkit.pptx?d=w25edabe77b814005b5a80c069907f812&amp;csf=1&amp;web=1&amp;e=GW0TJT" TargetMode="External"/><Relationship Id="rId9"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hyperlink" Target="https://mathworks.sharepoint.com/:p:/r/sites/emktg_creative_ext/Templates/diagrams-illustrations/Technical-and-Workflow-Diagram-Toolkit.potx?d=w0ae4ff4a25aa477199414f59b3738ed1&amp;csf=1&amp;web=1&amp;e=3o5yn0" TargetMode="External"/><Relationship Id="rId7" Type="http://schemas.openxmlformats.org/officeDocument/2006/relationships/image" Target="../media/image13.svg"/><Relationship Id="rId2" Type="http://schemas.openxmlformats.org/officeDocument/2006/relationships/hyperlink" Target="https://mathworks.sharepoint.com/:p:/r/sites/emktg_creative_ext/Resources/technical-illustrations/illustration-guide.pptx?d=w14d4abe3974741fe989f75b930f302d0&amp;csf=1&amp;web=1&amp;e=7sL0hM" TargetMode="External"/><Relationship Id="rId1" Type="http://schemas.openxmlformats.org/officeDocument/2006/relationships/slideLayout" Target="../slideLayouts/slideLayout3.xml"/><Relationship Id="rId6" Type="http://schemas.openxmlformats.org/officeDocument/2006/relationships/image" Target="../media/image12.svg"/><Relationship Id="rId5" Type="http://schemas.openxmlformats.org/officeDocument/2006/relationships/image" Target="../media/image11.sv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hyperlink" Target="https://iconidcatalog.mathworks.com/results?category=Al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parula.mathworks.com/brand-guidelines/visual-identity/colo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Presentation Title</a:t>
            </a:r>
          </a:p>
        </p:txBody>
      </p:sp>
      <p:sp>
        <p:nvSpPr>
          <p:cNvPr id="3" name="Subtitle 2"/>
          <p:cNvSpPr>
            <a:spLocks noGrp="1"/>
          </p:cNvSpPr>
          <p:nvPr>
            <p:ph type="subTitle" idx="1"/>
          </p:nvPr>
        </p:nvSpPr>
        <p:spPr>
          <a:xfrm>
            <a:off x="941717" y="3200400"/>
            <a:ext cx="10363200" cy="987425"/>
          </a:xfrm>
        </p:spPr>
        <p:txBody>
          <a:bodyPr/>
          <a:lstStyle/>
          <a:p>
            <a:r>
              <a:rPr lang="en-US"/>
              <a:t>By Author</a:t>
            </a:r>
          </a:p>
          <a:p>
            <a:r>
              <a:rPr lang="en-US"/>
              <a:t>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3680B-E4FF-B44A-A773-41AE1F832FD9}"/>
              </a:ext>
            </a:extLst>
          </p:cNvPr>
          <p:cNvSpPr>
            <a:spLocks noGrp="1"/>
          </p:cNvSpPr>
          <p:nvPr>
            <p:ph type="title"/>
          </p:nvPr>
        </p:nvSpPr>
        <p:spPr/>
        <p:txBody>
          <a:bodyPr/>
          <a:lstStyle/>
          <a:p>
            <a:r>
              <a:rPr lang="en-US"/>
              <a:t>PowerPoint Resources</a:t>
            </a:r>
          </a:p>
        </p:txBody>
      </p:sp>
      <p:sp>
        <p:nvSpPr>
          <p:cNvPr id="3" name="TextBox 21">
            <a:extLst>
              <a:ext uri="{FF2B5EF4-FFF2-40B4-BE49-F238E27FC236}">
                <a16:creationId xmlns:a16="http://schemas.microsoft.com/office/drawing/2014/main" id="{14DEEDA5-484A-9A48-9819-95EF6FD45072}"/>
              </a:ext>
            </a:extLst>
          </p:cNvPr>
          <p:cNvSpPr txBox="1"/>
          <p:nvPr/>
        </p:nvSpPr>
        <p:spPr>
          <a:xfrm>
            <a:off x="461318" y="6123114"/>
            <a:ext cx="6373697" cy="37010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i="1">
                <a:solidFill>
                  <a:schemeClr val="accent1"/>
                </a:solidFill>
                <a:latin typeface="Arial"/>
                <a:cs typeface="Arial"/>
              </a:rPr>
              <a:t>V26.0</a:t>
            </a:r>
            <a:r>
              <a:rPr lang="en-US" i="1">
                <a:solidFill>
                  <a:schemeClr val="accent1"/>
                </a:solidFill>
                <a:latin typeface="Arial"/>
                <a:cs typeface="Arial"/>
              </a:rPr>
              <a:t>  Delete this slide before finalizing your presentation.</a:t>
            </a:r>
          </a:p>
        </p:txBody>
      </p:sp>
      <p:sp>
        <p:nvSpPr>
          <p:cNvPr id="4" name="Rectangle 3">
            <a:extLst>
              <a:ext uri="{FF2B5EF4-FFF2-40B4-BE49-F238E27FC236}">
                <a16:creationId xmlns:a16="http://schemas.microsoft.com/office/drawing/2014/main" id="{301251C0-BF4E-814F-8CC9-477E525D77B9}"/>
              </a:ext>
            </a:extLst>
          </p:cNvPr>
          <p:cNvSpPr/>
          <p:nvPr/>
        </p:nvSpPr>
        <p:spPr>
          <a:xfrm>
            <a:off x="7700318" y="6123114"/>
            <a:ext cx="4030364"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8340" indent="-458340" algn="r">
              <a:defRPr/>
            </a:pPr>
            <a:r>
              <a:rPr lang="en-US" sz="1200"/>
              <a:t>Questions concerning presentation design?  </a:t>
            </a:r>
          </a:p>
          <a:p>
            <a:pPr marL="458340" indent="-458340" algn="r">
              <a:defRPr/>
            </a:pPr>
            <a:r>
              <a:rPr lang="en-US" sz="1200"/>
              <a:t>Contact Gabby Vendetti, </a:t>
            </a:r>
            <a:r>
              <a:rPr lang="en-US" sz="1200" err="1"/>
              <a:t>glydon@mathworks.com</a:t>
            </a:r>
            <a:endParaRPr lang="en-US" sz="1200"/>
          </a:p>
        </p:txBody>
      </p:sp>
      <p:sp>
        <p:nvSpPr>
          <p:cNvPr id="5" name="Rectangle 4">
            <a:extLst>
              <a:ext uri="{FF2B5EF4-FFF2-40B4-BE49-F238E27FC236}">
                <a16:creationId xmlns:a16="http://schemas.microsoft.com/office/drawing/2014/main" id="{FE958476-5D16-7F41-8B48-44F8C16B5961}"/>
              </a:ext>
            </a:extLst>
          </p:cNvPr>
          <p:cNvSpPr/>
          <p:nvPr/>
        </p:nvSpPr>
        <p:spPr>
          <a:xfrm>
            <a:off x="762000" y="1676401"/>
            <a:ext cx="3276600" cy="3429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 name="Rectangle 5">
            <a:extLst>
              <a:ext uri="{FF2B5EF4-FFF2-40B4-BE49-F238E27FC236}">
                <a16:creationId xmlns:a16="http://schemas.microsoft.com/office/drawing/2014/main" id="{292EE12B-A7C5-584B-AA41-9F2813FAF313}"/>
              </a:ext>
            </a:extLst>
          </p:cNvPr>
          <p:cNvSpPr/>
          <p:nvPr/>
        </p:nvSpPr>
        <p:spPr>
          <a:xfrm>
            <a:off x="4457700" y="1676400"/>
            <a:ext cx="3276600" cy="3429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 name="Rectangle 6">
            <a:extLst>
              <a:ext uri="{FF2B5EF4-FFF2-40B4-BE49-F238E27FC236}">
                <a16:creationId xmlns:a16="http://schemas.microsoft.com/office/drawing/2014/main" id="{70174E9D-1BA2-7545-A072-8D066AD83558}"/>
              </a:ext>
            </a:extLst>
          </p:cNvPr>
          <p:cNvSpPr/>
          <p:nvPr/>
        </p:nvSpPr>
        <p:spPr>
          <a:xfrm>
            <a:off x="8153400" y="1676400"/>
            <a:ext cx="3276600" cy="3429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 name="Content Placeholder 2">
            <a:extLst>
              <a:ext uri="{FF2B5EF4-FFF2-40B4-BE49-F238E27FC236}">
                <a16:creationId xmlns:a16="http://schemas.microsoft.com/office/drawing/2014/main" id="{9A9D3E58-DA57-BC43-9C43-57E73B9D01C9}"/>
              </a:ext>
            </a:extLst>
          </p:cNvPr>
          <p:cNvSpPr txBox="1">
            <a:spLocks/>
          </p:cNvSpPr>
          <p:nvPr/>
        </p:nvSpPr>
        <p:spPr>
          <a:xfrm>
            <a:off x="1197185" y="2396674"/>
            <a:ext cx="2406230" cy="2480126"/>
          </a:xfrm>
          <a:prstGeom prst="rect">
            <a:avLst/>
          </a:prstGeom>
        </p:spPr>
        <p:txBody>
          <a:bodyPr vert="horz" lIns="91440" tIns="45720" rIns="91440" bIns="4572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0000"/>
              </a:lnSpc>
              <a:buSzTx/>
              <a:buFont typeface="Wingdings" pitchFamily="2" charset="2"/>
              <a:buNone/>
              <a:defRPr/>
            </a:pPr>
            <a:r>
              <a:rPr lang="en-US" sz="1400">
                <a:hlinkClick r:id="rId2"/>
              </a:rPr>
              <a:t>Corporate PowerPoint Template FAQ and Resources</a:t>
            </a:r>
            <a:br>
              <a:rPr lang="en-US" sz="1400"/>
            </a:br>
            <a:endParaRPr lang="en-US" sz="1400"/>
          </a:p>
          <a:p>
            <a:pPr marL="0" indent="0">
              <a:lnSpc>
                <a:spcPct val="90000"/>
              </a:lnSpc>
              <a:buSzTx/>
              <a:buFont typeface="Wingdings" pitchFamily="2" charset="2"/>
              <a:buNone/>
              <a:defRPr/>
            </a:pPr>
            <a:r>
              <a:rPr lang="en-US" sz="1200"/>
              <a:t>This page provides resources, tips, and best practices for updating existing presentations as well as how to get started if you are creating a new presentation.</a:t>
            </a:r>
          </a:p>
        </p:txBody>
      </p:sp>
      <p:sp>
        <p:nvSpPr>
          <p:cNvPr id="9" name="Content Placeholder 2">
            <a:extLst>
              <a:ext uri="{FF2B5EF4-FFF2-40B4-BE49-F238E27FC236}">
                <a16:creationId xmlns:a16="http://schemas.microsoft.com/office/drawing/2014/main" id="{ADF680FF-ED16-834C-98B4-CC452D4DBE4D}"/>
              </a:ext>
            </a:extLst>
          </p:cNvPr>
          <p:cNvSpPr txBox="1">
            <a:spLocks/>
          </p:cNvSpPr>
          <p:nvPr/>
        </p:nvSpPr>
        <p:spPr>
          <a:xfrm>
            <a:off x="4894938" y="2396674"/>
            <a:ext cx="2386280" cy="2480126"/>
          </a:xfrm>
          <a:prstGeom prst="rect">
            <a:avLst/>
          </a:prstGeom>
        </p:spPr>
        <p:txBody>
          <a:bodyPr vert="horz" lIns="91440" tIns="45720" rIns="91440" bIns="4572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0000"/>
              </a:lnSpc>
              <a:buSzTx/>
              <a:buNone/>
              <a:defRPr/>
            </a:pPr>
            <a:r>
              <a:rPr lang="en-US" sz="1400">
                <a:hlinkClick r:id="rId3"/>
              </a:rPr>
              <a:t>Presentation Guidelines</a:t>
            </a:r>
            <a:br>
              <a:rPr lang="en-US" sz="1400"/>
            </a:br>
            <a:endParaRPr lang="en-US" sz="1400"/>
          </a:p>
          <a:p>
            <a:pPr marL="0" indent="0">
              <a:lnSpc>
                <a:spcPct val="90000"/>
              </a:lnSpc>
              <a:buSzTx/>
              <a:buNone/>
              <a:defRPr/>
            </a:pPr>
            <a:r>
              <a:rPr lang="en-US" sz="1200"/>
              <a:t>These guidelines explain how to keep your presentation visually up-to-date, when to use the confidential and nonconfidential templates, how to design visually compelling slides, and other best practices.</a:t>
            </a:r>
          </a:p>
          <a:p>
            <a:pPr marL="0" indent="0">
              <a:lnSpc>
                <a:spcPct val="90000"/>
              </a:lnSpc>
              <a:buSzTx/>
              <a:buFont typeface="Wingdings" pitchFamily="2" charset="2"/>
              <a:buNone/>
              <a:defRPr/>
            </a:pPr>
            <a:endParaRPr lang="en-US" sz="1400"/>
          </a:p>
          <a:p>
            <a:pPr marL="457200" indent="-457200">
              <a:lnSpc>
                <a:spcPct val="80000"/>
              </a:lnSpc>
              <a:buSzTx/>
              <a:buFont typeface="Wingdings" pitchFamily="2" charset="2"/>
              <a:buNone/>
              <a:defRPr/>
            </a:pPr>
            <a:endParaRPr lang="en-US" sz="1400"/>
          </a:p>
        </p:txBody>
      </p:sp>
      <p:sp>
        <p:nvSpPr>
          <p:cNvPr id="10" name="Content Placeholder 2">
            <a:extLst>
              <a:ext uri="{FF2B5EF4-FFF2-40B4-BE49-F238E27FC236}">
                <a16:creationId xmlns:a16="http://schemas.microsoft.com/office/drawing/2014/main" id="{239592EC-032A-6143-8F1D-9D5B232FBECF}"/>
              </a:ext>
            </a:extLst>
          </p:cNvPr>
          <p:cNvSpPr txBox="1">
            <a:spLocks/>
          </p:cNvSpPr>
          <p:nvPr/>
        </p:nvSpPr>
        <p:spPr>
          <a:xfrm>
            <a:off x="8608535" y="2396674"/>
            <a:ext cx="2386280" cy="2708726"/>
          </a:xfrm>
          <a:prstGeom prst="rect">
            <a:avLst/>
          </a:prstGeom>
        </p:spPr>
        <p:txBody>
          <a:bodyPr vert="horz" lIns="91440" tIns="45720" rIns="91440" bIns="4572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defRPr/>
            </a:pPr>
            <a:r>
              <a:rPr lang="en-US" sz="1400">
                <a:hlinkClick r:id="rId4"/>
              </a:rPr>
              <a:t>Highspot Sales </a:t>
            </a:r>
            <a:br>
              <a:rPr lang="en-US" sz="1400">
                <a:hlinkClick r:id="rId4"/>
              </a:rPr>
            </a:br>
            <a:r>
              <a:rPr lang="en-US" sz="1400">
                <a:hlinkClick r:id="rId4"/>
              </a:rPr>
              <a:t>Content System</a:t>
            </a:r>
            <a:endParaRPr lang="en-US" sz="1400" u="sng">
              <a:solidFill>
                <a:srgbClr val="0563C1"/>
              </a:solidFill>
              <a:effectLst/>
              <a:ea typeface="Calibri" panose="020F0502020204030204" pitchFamily="34" charset="0"/>
              <a:hlinkClick r:id="rId4"/>
            </a:endParaRPr>
          </a:p>
          <a:p>
            <a:pPr>
              <a:lnSpc>
                <a:spcPct val="90000"/>
              </a:lnSpc>
              <a:defRPr/>
            </a:pPr>
            <a:endParaRPr lang="en-US" sz="1400">
              <a:effectLst/>
              <a:ea typeface="Calibri" panose="020F0502020204030204" pitchFamily="34" charset="0"/>
            </a:endParaRPr>
          </a:p>
          <a:p>
            <a:pPr>
              <a:lnSpc>
                <a:spcPct val="90000"/>
              </a:lnSpc>
              <a:defRPr/>
            </a:pPr>
            <a:r>
              <a:rPr lang="en-US" sz="1200" err="1">
                <a:effectLst/>
                <a:ea typeface="Calibri" panose="020F0502020204030204" pitchFamily="34" charset="0"/>
              </a:rPr>
              <a:t>Highspot</a:t>
            </a:r>
            <a:r>
              <a:rPr lang="en-US" sz="1200">
                <a:effectLst/>
                <a:ea typeface="Calibri" panose="020F0502020204030204" pitchFamily="34" charset="0"/>
              </a:rPr>
              <a:t> (license required) is the centralized, up-to-date source for customer-facing slides and presentations, including release and product-related presentations as well as user story and technical article summary slides.</a:t>
            </a:r>
            <a:endParaRPr lang="en-US" sz="1200"/>
          </a:p>
          <a:p>
            <a:pPr marL="0" indent="0">
              <a:lnSpc>
                <a:spcPct val="90000"/>
              </a:lnSpc>
              <a:buSzTx/>
              <a:buNone/>
              <a:defRPr/>
            </a:pPr>
            <a:endParaRPr lang="en-US" sz="1400"/>
          </a:p>
          <a:p>
            <a:pPr marL="0" indent="0">
              <a:lnSpc>
                <a:spcPct val="90000"/>
              </a:lnSpc>
              <a:buSzTx/>
              <a:buFont typeface="Wingdings" pitchFamily="2" charset="2"/>
              <a:buNone/>
              <a:defRPr/>
            </a:pPr>
            <a:endParaRPr lang="en-US" sz="1400"/>
          </a:p>
          <a:p>
            <a:pPr marL="457200" indent="-457200">
              <a:lnSpc>
                <a:spcPct val="80000"/>
              </a:lnSpc>
              <a:buSzTx/>
              <a:buFont typeface="Wingdings" pitchFamily="2" charset="2"/>
              <a:buNone/>
              <a:defRPr/>
            </a:pPr>
            <a:endParaRPr lang="en-US" sz="1400"/>
          </a:p>
        </p:txBody>
      </p:sp>
    </p:spTree>
    <p:extLst>
      <p:ext uri="{BB962C8B-B14F-4D97-AF65-F5344CB8AC3E}">
        <p14:creationId xmlns:p14="http://schemas.microsoft.com/office/powerpoint/2010/main" val="2536988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5D53-A6D2-6544-AEEE-24573E7A7410}"/>
              </a:ext>
            </a:extLst>
          </p:cNvPr>
          <p:cNvSpPr>
            <a:spLocks noGrp="1"/>
          </p:cNvSpPr>
          <p:nvPr>
            <p:ph type="title"/>
          </p:nvPr>
        </p:nvSpPr>
        <p:spPr/>
        <p:txBody>
          <a:bodyPr/>
          <a:lstStyle/>
          <a:p>
            <a:r>
              <a:rPr lang="en-US"/>
              <a:t>Image Resources</a:t>
            </a:r>
          </a:p>
        </p:txBody>
      </p:sp>
      <p:sp>
        <p:nvSpPr>
          <p:cNvPr id="3" name="TextBox 2">
            <a:extLst>
              <a:ext uri="{FF2B5EF4-FFF2-40B4-BE49-F238E27FC236}">
                <a16:creationId xmlns:a16="http://schemas.microsoft.com/office/drawing/2014/main" id="{7393042C-C6C0-DF40-4B89-D574A167CD37}"/>
              </a:ext>
            </a:extLst>
          </p:cNvPr>
          <p:cNvSpPr txBox="1"/>
          <p:nvPr/>
        </p:nvSpPr>
        <p:spPr>
          <a:xfrm>
            <a:off x="711202" y="6181045"/>
            <a:ext cx="10769601" cy="370248"/>
          </a:xfrm>
          <a:prstGeom prst="rect">
            <a:avLst/>
          </a:prstGeom>
          <a:noFill/>
        </p:spPr>
        <p:txBody>
          <a:bodyPr wrap="square" lIns="91440" tIns="45720" rIns="91440" bIns="45720" rtlCol="0" anchor="t">
            <a:spAutoFit/>
          </a:bodyPr>
          <a:lstStyle/>
          <a:p>
            <a:pPr algn="ctr"/>
            <a:r>
              <a:rPr lang="en-US" b="1" i="1">
                <a:solidFill>
                  <a:schemeClr val="accent1"/>
                </a:solidFill>
                <a:latin typeface="Arial"/>
                <a:cs typeface="Arial"/>
              </a:rPr>
              <a:t>V26.0</a:t>
            </a:r>
            <a:r>
              <a:rPr lang="en-US" i="1">
                <a:solidFill>
                  <a:schemeClr val="accent1"/>
                </a:solidFill>
                <a:latin typeface="Arial"/>
                <a:cs typeface="Arial"/>
              </a:rPr>
              <a:t>  Delete this slide before finalizing your presentation.</a:t>
            </a:r>
          </a:p>
        </p:txBody>
      </p:sp>
      <p:sp>
        <p:nvSpPr>
          <p:cNvPr id="6" name="Rectangle 5">
            <a:extLst>
              <a:ext uri="{FF2B5EF4-FFF2-40B4-BE49-F238E27FC236}">
                <a16:creationId xmlns:a16="http://schemas.microsoft.com/office/drawing/2014/main" id="{29ACEC03-EBC3-2E5F-ABF1-F012A53B4B43}"/>
              </a:ext>
            </a:extLst>
          </p:cNvPr>
          <p:cNvSpPr/>
          <p:nvPr/>
        </p:nvSpPr>
        <p:spPr>
          <a:xfrm>
            <a:off x="7620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 name="Rectangle 6">
            <a:extLst>
              <a:ext uri="{FF2B5EF4-FFF2-40B4-BE49-F238E27FC236}">
                <a16:creationId xmlns:a16="http://schemas.microsoft.com/office/drawing/2014/main" id="{9ABF6DCF-7891-739D-067B-13FBA38EF48C}"/>
              </a:ext>
            </a:extLst>
          </p:cNvPr>
          <p:cNvSpPr/>
          <p:nvPr/>
        </p:nvSpPr>
        <p:spPr>
          <a:xfrm>
            <a:off x="436245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 name="Rectangle 7">
            <a:extLst>
              <a:ext uri="{FF2B5EF4-FFF2-40B4-BE49-F238E27FC236}">
                <a16:creationId xmlns:a16="http://schemas.microsoft.com/office/drawing/2014/main" id="{F7FEE134-92A2-8DB1-2C62-288A39AF5802}"/>
              </a:ext>
            </a:extLst>
          </p:cNvPr>
          <p:cNvSpPr/>
          <p:nvPr/>
        </p:nvSpPr>
        <p:spPr>
          <a:xfrm>
            <a:off x="79629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 name="Rectangle 8">
            <a:extLst>
              <a:ext uri="{FF2B5EF4-FFF2-40B4-BE49-F238E27FC236}">
                <a16:creationId xmlns:a16="http://schemas.microsoft.com/office/drawing/2014/main" id="{F93AF56B-93EB-E0A9-5E48-161CA87CDDFD}"/>
              </a:ext>
            </a:extLst>
          </p:cNvPr>
          <p:cNvSpPr/>
          <p:nvPr/>
        </p:nvSpPr>
        <p:spPr>
          <a:xfrm>
            <a:off x="4876800" y="1767381"/>
            <a:ext cx="2438400" cy="1643527"/>
          </a:xfrm>
          <a:prstGeom prst="rect">
            <a:avLst/>
          </a:prstGeom>
        </p:spPr>
        <p:txBody>
          <a:bodyPr wrap="square">
            <a:spAutoFit/>
          </a:bodyPr>
          <a:lstStyle/>
          <a:p>
            <a:pPr lvl="0">
              <a:lnSpc>
                <a:spcPct val="90000"/>
              </a:lnSpc>
              <a:defRPr/>
            </a:pPr>
            <a:r>
              <a:rPr lang="en-US" sz="1400">
                <a:hlinkClick r:id="rId2" tooltip="Finding IMages and Stock Photos"/>
              </a:rPr>
              <a:t>Best Practices for Finding Images and Stock Photos</a:t>
            </a:r>
            <a:endParaRPr lang="en-US" sz="1400"/>
          </a:p>
          <a:p>
            <a:pPr lvl="0">
              <a:lnSpc>
                <a:spcPct val="90000"/>
              </a:lnSpc>
              <a:defRPr/>
            </a:pPr>
            <a:endParaRPr lang="en-US" sz="2400"/>
          </a:p>
          <a:p>
            <a:pPr lvl="0">
              <a:lnSpc>
                <a:spcPct val="90000"/>
              </a:lnSpc>
              <a:defRPr/>
            </a:pPr>
            <a:r>
              <a:rPr lang="en-US" sz="1200"/>
              <a:t>Get guidelines for using the </a:t>
            </a:r>
            <a:r>
              <a:rPr lang="en-US" sz="1200" u="sng">
                <a:hlinkClick r:id="rId3" tooltip="https://assets.mathworks.com/images.html"/>
              </a:rPr>
              <a:t>MathWorks Asset Library</a:t>
            </a:r>
            <a:r>
              <a:rPr lang="en-US" sz="1200"/>
              <a:t> (with over 30k images), stock photography, illustrations, clip art, and more.</a:t>
            </a:r>
            <a:endParaRPr lang="en-US" sz="1200">
              <a:hlinkClick r:id="rId4"/>
            </a:endParaRPr>
          </a:p>
        </p:txBody>
      </p:sp>
      <p:sp>
        <p:nvSpPr>
          <p:cNvPr id="10" name="Rectangle 9">
            <a:extLst>
              <a:ext uri="{FF2B5EF4-FFF2-40B4-BE49-F238E27FC236}">
                <a16:creationId xmlns:a16="http://schemas.microsoft.com/office/drawing/2014/main" id="{7861E343-1D45-6610-503E-79B88FABA1C8}"/>
              </a:ext>
            </a:extLst>
          </p:cNvPr>
          <p:cNvSpPr/>
          <p:nvPr/>
        </p:nvSpPr>
        <p:spPr>
          <a:xfrm>
            <a:off x="1295400" y="1767381"/>
            <a:ext cx="2457450" cy="1723549"/>
          </a:xfrm>
          <a:prstGeom prst="rect">
            <a:avLst/>
          </a:prstGeom>
        </p:spPr>
        <p:txBody>
          <a:bodyPr wrap="square">
            <a:spAutoFit/>
          </a:bodyPr>
          <a:lstStyle/>
          <a:p>
            <a:r>
              <a:rPr lang="en-US" sz="1400">
                <a:hlinkClick r:id="rId5"/>
              </a:rPr>
              <a:t>MathWorks Design System (Parula)</a:t>
            </a:r>
            <a:br>
              <a:rPr lang="en-US" sz="1400"/>
            </a:br>
            <a:endParaRPr lang="en-US" sz="1400"/>
          </a:p>
          <a:p>
            <a:r>
              <a:rPr lang="en-US" sz="1200"/>
              <a:t>Learn how to create content that better represents the MathWorks brand and access MathWorks logos and release and service marks.</a:t>
            </a:r>
          </a:p>
        </p:txBody>
      </p:sp>
      <p:sp>
        <p:nvSpPr>
          <p:cNvPr id="17" name="Rectangle 16">
            <a:extLst>
              <a:ext uri="{FF2B5EF4-FFF2-40B4-BE49-F238E27FC236}">
                <a16:creationId xmlns:a16="http://schemas.microsoft.com/office/drawing/2014/main" id="{6C854400-92D9-2EDA-1683-5F3C7E96957B}"/>
              </a:ext>
            </a:extLst>
          </p:cNvPr>
          <p:cNvSpPr/>
          <p:nvPr/>
        </p:nvSpPr>
        <p:spPr>
          <a:xfrm>
            <a:off x="8371233" y="1767381"/>
            <a:ext cx="2498035" cy="1117229"/>
          </a:xfrm>
          <a:prstGeom prst="rect">
            <a:avLst/>
          </a:prstGeom>
        </p:spPr>
        <p:txBody>
          <a:bodyPr wrap="square">
            <a:spAutoFit/>
          </a:bodyPr>
          <a:lstStyle/>
          <a:p>
            <a:pPr lvl="0">
              <a:lnSpc>
                <a:spcPct val="90000"/>
              </a:lnSpc>
              <a:defRPr/>
            </a:pPr>
            <a:r>
              <a:rPr lang="en-US" sz="1400">
                <a:hlinkClick r:id="rId6"/>
              </a:rPr>
              <a:t>Pictogram Library</a:t>
            </a:r>
            <a:endParaRPr lang="en-US" sz="1400"/>
          </a:p>
          <a:p>
            <a:pPr lvl="0">
              <a:lnSpc>
                <a:spcPct val="90000"/>
              </a:lnSpc>
              <a:defRPr/>
            </a:pPr>
            <a:endParaRPr lang="en-US" sz="1200"/>
          </a:p>
          <a:p>
            <a:pPr lvl="0">
              <a:lnSpc>
                <a:spcPct val="90000"/>
              </a:lnSpc>
              <a:defRPr/>
            </a:pPr>
            <a:r>
              <a:rPr lang="en-US" sz="1200"/>
              <a:t>A standard collection of MathWorks pictograms available for use in presentations, diagrams, etc.</a:t>
            </a:r>
          </a:p>
        </p:txBody>
      </p:sp>
      <p:sp>
        <p:nvSpPr>
          <p:cNvPr id="19" name="AutoShape 2" descr="MathWorks Parula Design System">
            <a:extLst>
              <a:ext uri="{FF2B5EF4-FFF2-40B4-BE49-F238E27FC236}">
                <a16:creationId xmlns:a16="http://schemas.microsoft.com/office/drawing/2014/main" id="{67A5678A-F47B-556A-F14F-E7182632B9D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3" name="Graphic 22">
            <a:extLst>
              <a:ext uri="{FF2B5EF4-FFF2-40B4-BE49-F238E27FC236}">
                <a16:creationId xmlns:a16="http://schemas.microsoft.com/office/drawing/2014/main" id="{452B41DA-EEDE-A202-CD19-5524CA8C70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10272" y="3641837"/>
            <a:ext cx="2027705" cy="1723549"/>
          </a:xfrm>
          <a:prstGeom prst="rect">
            <a:avLst/>
          </a:prstGeom>
        </p:spPr>
      </p:pic>
      <p:pic>
        <p:nvPicPr>
          <p:cNvPr id="30" name="Picture 29">
            <a:extLst>
              <a:ext uri="{FF2B5EF4-FFF2-40B4-BE49-F238E27FC236}">
                <a16:creationId xmlns:a16="http://schemas.microsoft.com/office/drawing/2014/main" id="{3FFFEDFA-80AA-0611-FEC0-AD5E294F4006}"/>
              </a:ext>
            </a:extLst>
          </p:cNvPr>
          <p:cNvPicPr>
            <a:picLocks noChangeAspect="1"/>
          </p:cNvPicPr>
          <p:nvPr/>
        </p:nvPicPr>
        <p:blipFill>
          <a:blip r:embed="rId8" cstate="print">
            <a:extLst>
              <a:ext uri="{28A0092B-C50C-407E-A947-70E740481C1C}">
                <a14:useLocalDpi xmlns:a14="http://schemas.microsoft.com/office/drawing/2010/main" val="0"/>
              </a:ext>
            </a:extLst>
          </a:blip>
          <a:srcRect r="35814"/>
          <a:stretch>
            <a:fillRect/>
          </a:stretch>
        </p:blipFill>
        <p:spPr>
          <a:xfrm>
            <a:off x="4980744" y="3590244"/>
            <a:ext cx="2394650" cy="1720773"/>
          </a:xfrm>
          <a:prstGeom prst="rect">
            <a:avLst/>
          </a:prstGeom>
        </p:spPr>
      </p:pic>
      <p:grpSp>
        <p:nvGrpSpPr>
          <p:cNvPr id="31" name="Group 30">
            <a:extLst>
              <a:ext uri="{FF2B5EF4-FFF2-40B4-BE49-F238E27FC236}">
                <a16:creationId xmlns:a16="http://schemas.microsoft.com/office/drawing/2014/main" id="{E32D85D1-E7FA-C97D-1B9A-7857B0D81850}"/>
              </a:ext>
            </a:extLst>
          </p:cNvPr>
          <p:cNvGrpSpPr/>
          <p:nvPr/>
        </p:nvGrpSpPr>
        <p:grpSpPr>
          <a:xfrm>
            <a:off x="8486187" y="3239729"/>
            <a:ext cx="2029413" cy="2052597"/>
            <a:chOff x="9816555" y="3568421"/>
            <a:chExt cx="1981200" cy="2003834"/>
          </a:xfrm>
        </p:grpSpPr>
        <p:pic>
          <p:nvPicPr>
            <p:cNvPr id="32" name="Graphic 31">
              <a:extLst>
                <a:ext uri="{FF2B5EF4-FFF2-40B4-BE49-F238E27FC236}">
                  <a16:creationId xmlns:a16="http://schemas.microsoft.com/office/drawing/2014/main" id="{54EAA026-DDB1-214B-908E-859FDD03F16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16555" y="3568421"/>
              <a:ext cx="990600" cy="990600"/>
            </a:xfrm>
            <a:prstGeom prst="rect">
              <a:avLst/>
            </a:prstGeom>
          </p:spPr>
        </p:pic>
        <p:pic>
          <p:nvPicPr>
            <p:cNvPr id="33" name="Graphic 32">
              <a:extLst>
                <a:ext uri="{FF2B5EF4-FFF2-40B4-BE49-F238E27FC236}">
                  <a16:creationId xmlns:a16="http://schemas.microsoft.com/office/drawing/2014/main" id="{00480057-FBE0-C5F1-B4DB-7DFC641EC52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807155" y="4581655"/>
              <a:ext cx="990600" cy="990600"/>
            </a:xfrm>
            <a:prstGeom prst="rect">
              <a:avLst/>
            </a:prstGeom>
          </p:spPr>
        </p:pic>
        <p:pic>
          <p:nvPicPr>
            <p:cNvPr id="34" name="Graphic 33">
              <a:extLst>
                <a:ext uri="{FF2B5EF4-FFF2-40B4-BE49-F238E27FC236}">
                  <a16:creationId xmlns:a16="http://schemas.microsoft.com/office/drawing/2014/main" id="{ADD6C4F9-856C-6453-0ACC-A023FAFCF85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816555" y="4581655"/>
              <a:ext cx="990600" cy="990600"/>
            </a:xfrm>
            <a:prstGeom prst="rect">
              <a:avLst/>
            </a:prstGeom>
          </p:spPr>
        </p:pic>
        <p:pic>
          <p:nvPicPr>
            <p:cNvPr id="35" name="Graphic 34">
              <a:extLst>
                <a:ext uri="{FF2B5EF4-FFF2-40B4-BE49-F238E27FC236}">
                  <a16:creationId xmlns:a16="http://schemas.microsoft.com/office/drawing/2014/main" id="{EB298F6A-4DEF-1A80-08FA-D6FB8BF08F1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807155" y="3568421"/>
              <a:ext cx="990600" cy="990600"/>
            </a:xfrm>
            <a:prstGeom prst="rect">
              <a:avLst/>
            </a:prstGeom>
          </p:spPr>
        </p:pic>
      </p:grpSp>
    </p:spTree>
    <p:extLst>
      <p:ext uri="{BB962C8B-B14F-4D97-AF65-F5344CB8AC3E}">
        <p14:creationId xmlns:p14="http://schemas.microsoft.com/office/powerpoint/2010/main" val="1881687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811FE5-D373-414D-A191-A268F04886D4}"/>
              </a:ext>
            </a:extLst>
          </p:cNvPr>
          <p:cNvSpPr/>
          <p:nvPr/>
        </p:nvSpPr>
        <p:spPr>
          <a:xfrm>
            <a:off x="7620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3" name="Rectangle 12">
            <a:extLst>
              <a:ext uri="{FF2B5EF4-FFF2-40B4-BE49-F238E27FC236}">
                <a16:creationId xmlns:a16="http://schemas.microsoft.com/office/drawing/2014/main" id="{0C6183C5-F708-5545-A498-AA0C78A9466F}"/>
              </a:ext>
            </a:extLst>
          </p:cNvPr>
          <p:cNvSpPr/>
          <p:nvPr/>
        </p:nvSpPr>
        <p:spPr>
          <a:xfrm>
            <a:off x="436245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4" name="Rectangle 13">
            <a:extLst>
              <a:ext uri="{FF2B5EF4-FFF2-40B4-BE49-F238E27FC236}">
                <a16:creationId xmlns:a16="http://schemas.microsoft.com/office/drawing/2014/main" id="{C00E9F48-4010-4A4E-89CD-EEC1FACBFF72}"/>
              </a:ext>
            </a:extLst>
          </p:cNvPr>
          <p:cNvSpPr/>
          <p:nvPr/>
        </p:nvSpPr>
        <p:spPr>
          <a:xfrm>
            <a:off x="79629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 name="Title 1">
            <a:extLst>
              <a:ext uri="{FF2B5EF4-FFF2-40B4-BE49-F238E27FC236}">
                <a16:creationId xmlns:a16="http://schemas.microsoft.com/office/drawing/2014/main" id="{ED603503-CF54-2146-8DCC-D6841AB5C592}"/>
              </a:ext>
            </a:extLst>
          </p:cNvPr>
          <p:cNvSpPr>
            <a:spLocks noGrp="1"/>
          </p:cNvSpPr>
          <p:nvPr>
            <p:ph type="title"/>
          </p:nvPr>
        </p:nvSpPr>
        <p:spPr>
          <a:xfrm>
            <a:off x="609602" y="457200"/>
            <a:ext cx="10769600" cy="990600"/>
          </a:xfrm>
        </p:spPr>
        <p:txBody>
          <a:bodyPr/>
          <a:lstStyle/>
          <a:p>
            <a:r>
              <a:rPr lang="en-US"/>
              <a:t>Image Resources</a:t>
            </a:r>
          </a:p>
        </p:txBody>
      </p:sp>
      <p:sp>
        <p:nvSpPr>
          <p:cNvPr id="6" name="Rectangle 5">
            <a:extLst>
              <a:ext uri="{FF2B5EF4-FFF2-40B4-BE49-F238E27FC236}">
                <a16:creationId xmlns:a16="http://schemas.microsoft.com/office/drawing/2014/main" id="{7A21E8B7-4E74-594C-AB19-4E73E9D52FB1}"/>
              </a:ext>
            </a:extLst>
          </p:cNvPr>
          <p:cNvSpPr/>
          <p:nvPr/>
        </p:nvSpPr>
        <p:spPr>
          <a:xfrm>
            <a:off x="4876800" y="1767381"/>
            <a:ext cx="2438400" cy="1449628"/>
          </a:xfrm>
          <a:prstGeom prst="rect">
            <a:avLst/>
          </a:prstGeom>
        </p:spPr>
        <p:txBody>
          <a:bodyPr wrap="square">
            <a:spAutoFit/>
          </a:bodyPr>
          <a:lstStyle/>
          <a:p>
            <a:pPr lvl="0">
              <a:lnSpc>
                <a:spcPct val="90000"/>
              </a:lnSpc>
              <a:defRPr/>
            </a:pPr>
            <a:r>
              <a:rPr lang="en-US" sz="1400">
                <a:hlinkClick r:id="rId2"/>
              </a:rPr>
              <a:t>Illustration Style</a:t>
            </a:r>
            <a:endParaRPr lang="en-US" sz="1400"/>
          </a:p>
          <a:p>
            <a:pPr lvl="0">
              <a:lnSpc>
                <a:spcPct val="90000"/>
              </a:lnSpc>
              <a:defRPr/>
            </a:pPr>
            <a:endParaRPr lang="en-US" sz="1200"/>
          </a:p>
          <a:p>
            <a:pPr lvl="0">
              <a:lnSpc>
                <a:spcPct val="90000"/>
              </a:lnSpc>
              <a:defRPr/>
            </a:pPr>
            <a:r>
              <a:rPr lang="en-US" sz="1200"/>
              <a:t>Get illustrations in categories including Avatars, Personas, Technology, Transportation, Sports, and more. Find the complete set alongside some rules and recommendations.</a:t>
            </a:r>
          </a:p>
        </p:txBody>
      </p:sp>
      <p:sp>
        <p:nvSpPr>
          <p:cNvPr id="7" name="Rectangle 6">
            <a:extLst>
              <a:ext uri="{FF2B5EF4-FFF2-40B4-BE49-F238E27FC236}">
                <a16:creationId xmlns:a16="http://schemas.microsoft.com/office/drawing/2014/main" id="{62AB0DD2-40EA-D847-A731-DF37A686AAE7}"/>
              </a:ext>
            </a:extLst>
          </p:cNvPr>
          <p:cNvSpPr/>
          <p:nvPr/>
        </p:nvSpPr>
        <p:spPr>
          <a:xfrm>
            <a:off x="1295400" y="1767381"/>
            <a:ext cx="2457450" cy="1643527"/>
          </a:xfrm>
          <a:prstGeom prst="rect">
            <a:avLst/>
          </a:prstGeom>
        </p:spPr>
        <p:txBody>
          <a:bodyPr wrap="square">
            <a:spAutoFit/>
          </a:bodyPr>
          <a:lstStyle/>
          <a:p>
            <a:pPr lvl="0">
              <a:lnSpc>
                <a:spcPct val="90000"/>
              </a:lnSpc>
              <a:defRPr/>
            </a:pPr>
            <a:r>
              <a:rPr lang="en-US" sz="1400">
                <a:solidFill>
                  <a:srgbClr val="FF0000"/>
                </a:solidFill>
                <a:hlinkClick r:id="rId3"/>
              </a:rPr>
              <a:t>Technical and Workflow Diagram Toolkit</a:t>
            </a:r>
            <a:br>
              <a:rPr lang="en-US" sz="1200">
                <a:hlinkClick r:id="rId3"/>
              </a:rPr>
            </a:br>
            <a:endParaRPr lang="en-US" sz="1200"/>
          </a:p>
          <a:p>
            <a:pPr lvl="0">
              <a:lnSpc>
                <a:spcPct val="90000"/>
              </a:lnSpc>
              <a:defRPr/>
            </a:pPr>
            <a:r>
              <a:rPr lang="en-US" sz="1200"/>
              <a:t>Create simple or complex technical diagrams using provided elements. Each component is an individual artifact for use in presentation materials or video assets.</a:t>
            </a:r>
          </a:p>
        </p:txBody>
      </p:sp>
      <p:pic>
        <p:nvPicPr>
          <p:cNvPr id="8" name="Picture 7" descr="Diagram&#10;&#10;Description automatically generated">
            <a:extLst>
              <a:ext uri="{FF2B5EF4-FFF2-40B4-BE49-F238E27FC236}">
                <a16:creationId xmlns:a16="http://schemas.microsoft.com/office/drawing/2014/main" id="{724371D4-DBEC-F540-AB0E-FA0890E5CA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5046" y="3724552"/>
            <a:ext cx="1708131" cy="1724516"/>
          </a:xfrm>
          <a:prstGeom prst="rect">
            <a:avLst/>
          </a:prstGeom>
        </p:spPr>
      </p:pic>
      <p:pic>
        <p:nvPicPr>
          <p:cNvPr id="9" name="Picture 43">
            <a:extLst>
              <a:ext uri="{FF2B5EF4-FFF2-40B4-BE49-F238E27FC236}">
                <a16:creationId xmlns:a16="http://schemas.microsoft.com/office/drawing/2014/main" id="{715D944B-344F-9D4C-8B72-881908756C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209722" y="3730261"/>
            <a:ext cx="773351" cy="773351"/>
          </a:xfrm>
          <a:prstGeom prst="rect">
            <a:avLst/>
          </a:prstGeom>
        </p:spPr>
      </p:pic>
      <p:pic>
        <p:nvPicPr>
          <p:cNvPr id="10" name="Picture 47">
            <a:extLst>
              <a:ext uri="{FF2B5EF4-FFF2-40B4-BE49-F238E27FC236}">
                <a16:creationId xmlns:a16="http://schemas.microsoft.com/office/drawing/2014/main" id="{0BC0238B-D5CC-BB4D-A0CC-FF6B78A3E8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5000878" y="3812988"/>
            <a:ext cx="773351" cy="773351"/>
          </a:xfrm>
          <a:prstGeom prst="rect">
            <a:avLst/>
          </a:prstGeom>
        </p:spPr>
      </p:pic>
      <p:pic>
        <p:nvPicPr>
          <p:cNvPr id="11" name="Picture 40">
            <a:extLst>
              <a:ext uri="{FF2B5EF4-FFF2-40B4-BE49-F238E27FC236}">
                <a16:creationId xmlns:a16="http://schemas.microsoft.com/office/drawing/2014/main" id="{AE28B9EC-99D3-254D-A05B-75AF3CC5DD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5000878" y="4747424"/>
            <a:ext cx="966688" cy="773351"/>
          </a:xfrm>
          <a:prstGeom prst="rect">
            <a:avLst/>
          </a:prstGeom>
        </p:spPr>
      </p:pic>
      <p:pic>
        <p:nvPicPr>
          <p:cNvPr id="12" name="Graphic 11">
            <a:extLst>
              <a:ext uri="{FF2B5EF4-FFF2-40B4-BE49-F238E27FC236}">
                <a16:creationId xmlns:a16="http://schemas.microsoft.com/office/drawing/2014/main" id="{302180D5-5760-2D4C-9AB7-19D5FCEC9EB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03359" y="4653920"/>
            <a:ext cx="773352" cy="773352"/>
          </a:xfrm>
          <a:prstGeom prst="rect">
            <a:avLst/>
          </a:prstGeom>
        </p:spPr>
      </p:pic>
      <p:sp>
        <p:nvSpPr>
          <p:cNvPr id="15" name="Rectangle 14">
            <a:extLst>
              <a:ext uri="{FF2B5EF4-FFF2-40B4-BE49-F238E27FC236}">
                <a16:creationId xmlns:a16="http://schemas.microsoft.com/office/drawing/2014/main" id="{A2959DDF-845C-EC4D-8E61-33EF873832ED}"/>
              </a:ext>
            </a:extLst>
          </p:cNvPr>
          <p:cNvSpPr/>
          <p:nvPr/>
        </p:nvSpPr>
        <p:spPr>
          <a:xfrm>
            <a:off x="8371233" y="1767381"/>
            <a:ext cx="2498035" cy="784830"/>
          </a:xfrm>
          <a:prstGeom prst="rect">
            <a:avLst/>
          </a:prstGeom>
        </p:spPr>
        <p:txBody>
          <a:bodyPr wrap="square" lIns="91440" tIns="45720" rIns="91440" bIns="45720" anchor="t">
            <a:spAutoFit/>
          </a:bodyPr>
          <a:lstStyle/>
          <a:p>
            <a:pPr lvl="0">
              <a:lnSpc>
                <a:spcPct val="90000"/>
              </a:lnSpc>
              <a:defRPr/>
            </a:pPr>
            <a:r>
              <a:rPr lang="en-US" sz="1400">
                <a:hlinkClick r:id="rId9"/>
              </a:rPr>
              <a:t>Icon ID Catalog</a:t>
            </a:r>
            <a:r>
              <a:rPr lang="en-US" sz="1400"/>
              <a:t> (theme-able)</a:t>
            </a:r>
          </a:p>
          <a:p>
            <a:pPr lvl="0">
              <a:lnSpc>
                <a:spcPct val="90000"/>
              </a:lnSpc>
              <a:defRPr/>
            </a:pPr>
            <a:endParaRPr lang="en-US" sz="1200"/>
          </a:p>
          <a:p>
            <a:pPr lvl="0">
              <a:lnSpc>
                <a:spcPct val="90000"/>
              </a:lnSpc>
              <a:defRPr/>
            </a:pPr>
            <a:r>
              <a:rPr lang="en-US" sz="1200"/>
              <a:t>Find toolstrip, block, plot, and other in-product icons.</a:t>
            </a:r>
          </a:p>
        </p:txBody>
      </p:sp>
      <p:pic>
        <p:nvPicPr>
          <p:cNvPr id="5" name="Picture 4">
            <a:extLst>
              <a:ext uri="{FF2B5EF4-FFF2-40B4-BE49-F238E27FC236}">
                <a16:creationId xmlns:a16="http://schemas.microsoft.com/office/drawing/2014/main" id="{436448E0-C646-53CB-D14F-72FE903289D4}"/>
              </a:ext>
            </a:extLst>
          </p:cNvPr>
          <p:cNvPicPr>
            <a:picLocks noChangeAspect="1"/>
          </p:cNvPicPr>
          <p:nvPr/>
        </p:nvPicPr>
        <p:blipFill>
          <a:blip r:embed="rId10"/>
          <a:stretch>
            <a:fillRect/>
          </a:stretch>
        </p:blipFill>
        <p:spPr>
          <a:xfrm>
            <a:off x="8500191" y="3771843"/>
            <a:ext cx="2240118" cy="1257357"/>
          </a:xfrm>
          <a:prstGeom prst="rect">
            <a:avLst/>
          </a:prstGeom>
        </p:spPr>
      </p:pic>
      <p:sp>
        <p:nvSpPr>
          <p:cNvPr id="17" name="TextBox 16">
            <a:extLst>
              <a:ext uri="{FF2B5EF4-FFF2-40B4-BE49-F238E27FC236}">
                <a16:creationId xmlns:a16="http://schemas.microsoft.com/office/drawing/2014/main" id="{498AF5BD-0F2C-2509-8B90-DF5348F0CD8D}"/>
              </a:ext>
            </a:extLst>
          </p:cNvPr>
          <p:cNvSpPr txBox="1"/>
          <p:nvPr/>
        </p:nvSpPr>
        <p:spPr>
          <a:xfrm>
            <a:off x="711202" y="6181045"/>
            <a:ext cx="10769601" cy="370248"/>
          </a:xfrm>
          <a:prstGeom prst="rect">
            <a:avLst/>
          </a:prstGeom>
          <a:noFill/>
        </p:spPr>
        <p:txBody>
          <a:bodyPr wrap="square" lIns="91440" tIns="45720" rIns="91440" bIns="45720" rtlCol="0" anchor="t">
            <a:spAutoFit/>
          </a:bodyPr>
          <a:lstStyle/>
          <a:p>
            <a:pPr algn="ctr"/>
            <a:r>
              <a:rPr lang="en-US" b="1" i="1">
                <a:solidFill>
                  <a:schemeClr val="accent1"/>
                </a:solidFill>
                <a:latin typeface="Arial"/>
                <a:cs typeface="Arial"/>
              </a:rPr>
              <a:t>V26.0</a:t>
            </a:r>
            <a:r>
              <a:rPr lang="en-US" i="1">
                <a:solidFill>
                  <a:schemeClr val="accent1"/>
                </a:solidFill>
                <a:latin typeface="Arial"/>
                <a:cs typeface="Arial"/>
              </a:rPr>
              <a:t>  Delete this slide before finalizing your presentation.</a:t>
            </a:r>
          </a:p>
        </p:txBody>
      </p:sp>
    </p:spTree>
    <p:extLst>
      <p:ext uri="{BB962C8B-B14F-4D97-AF65-F5344CB8AC3E}">
        <p14:creationId xmlns:p14="http://schemas.microsoft.com/office/powerpoint/2010/main" val="4285500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p:txBody>
          <a:bodyPr/>
          <a:lstStyle/>
          <a:p>
            <a:r>
              <a:rPr lang="en-US"/>
              <a:t>Using the Corporate Template</a:t>
            </a:r>
          </a:p>
        </p:txBody>
      </p:sp>
      <p:sp>
        <p:nvSpPr>
          <p:cNvPr id="38" name="Content Placeholder 37"/>
          <p:cNvSpPr>
            <a:spLocks noGrp="1"/>
          </p:cNvSpPr>
          <p:nvPr>
            <p:ph idx="1"/>
          </p:nvPr>
        </p:nvSpPr>
        <p:spPr/>
        <p:txBody>
          <a:bodyPr/>
          <a:lstStyle/>
          <a:p>
            <a:r>
              <a:rPr lang="en-US"/>
              <a:t>Avoid manually formatting whenever possible. Instead, use built-in styles, templates, layouts, and colors.</a:t>
            </a:r>
          </a:p>
          <a:p>
            <a:r>
              <a:rPr lang="en-US"/>
              <a:t>When creating new presentations, select the slide layout that best suits your needs from the built-in theme, then add content.</a:t>
            </a:r>
          </a:p>
          <a:p>
            <a:r>
              <a:rPr lang="en-US"/>
              <a:t>When creating custom shapes, text boxes, and other elements, start from scratch rather than reformatting template shapes.</a:t>
            </a:r>
          </a:p>
          <a:p>
            <a:r>
              <a:rPr lang="en-US"/>
              <a:t>When applying the new template to existing presentations, review your presentation carefully and manually adjust any formatting issues that have occurred. For additional help, contact Creative Services.</a:t>
            </a:r>
          </a:p>
        </p:txBody>
      </p:sp>
      <p:sp>
        <p:nvSpPr>
          <p:cNvPr id="3" name="TextBox 2">
            <a:extLst>
              <a:ext uri="{FF2B5EF4-FFF2-40B4-BE49-F238E27FC236}">
                <a16:creationId xmlns:a16="http://schemas.microsoft.com/office/drawing/2014/main" id="{18AF9CEF-F47B-4EB6-3266-806BD9F07AEE}"/>
              </a:ext>
            </a:extLst>
          </p:cNvPr>
          <p:cNvSpPr txBox="1"/>
          <p:nvPr/>
        </p:nvSpPr>
        <p:spPr>
          <a:xfrm>
            <a:off x="711202" y="6181045"/>
            <a:ext cx="10769601" cy="370248"/>
          </a:xfrm>
          <a:prstGeom prst="rect">
            <a:avLst/>
          </a:prstGeom>
          <a:noFill/>
        </p:spPr>
        <p:txBody>
          <a:bodyPr wrap="square" lIns="91440" tIns="45720" rIns="91440" bIns="45720" rtlCol="0" anchor="t">
            <a:spAutoFit/>
          </a:bodyPr>
          <a:lstStyle/>
          <a:p>
            <a:pPr algn="ctr"/>
            <a:r>
              <a:rPr lang="en-US" b="1" i="1">
                <a:solidFill>
                  <a:schemeClr val="accent1"/>
                </a:solidFill>
                <a:latin typeface="Arial"/>
                <a:cs typeface="Arial"/>
              </a:rPr>
              <a:t>V26.0</a:t>
            </a:r>
            <a:r>
              <a:rPr lang="en-US" i="1">
                <a:solidFill>
                  <a:schemeClr val="accent1"/>
                </a:solidFill>
                <a:latin typeface="Arial"/>
                <a:cs typeface="Arial"/>
              </a:rPr>
              <a:t>  Delete this slide before finalizing your presentation.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D1CAE780-3693-1440-BA1F-B44101AF725A}"/>
              </a:ext>
            </a:extLst>
          </p:cNvPr>
          <p:cNvSpPr>
            <a:spLocks noGrp="1"/>
          </p:cNvSpPr>
          <p:nvPr>
            <p:ph type="title"/>
          </p:nvPr>
        </p:nvSpPr>
        <p:spPr>
          <a:xfrm>
            <a:off x="609602" y="457200"/>
            <a:ext cx="10769600" cy="990600"/>
          </a:xfrm>
        </p:spPr>
        <p:txBody>
          <a:bodyPr/>
          <a:lstStyle/>
          <a:p>
            <a:r>
              <a:rPr lang="en-US"/>
              <a:t>Color Palette</a:t>
            </a:r>
          </a:p>
        </p:txBody>
      </p:sp>
      <p:sp>
        <p:nvSpPr>
          <p:cNvPr id="72" name="Rectangle 71">
            <a:extLst>
              <a:ext uri="{FF2B5EF4-FFF2-40B4-BE49-F238E27FC236}">
                <a16:creationId xmlns:a16="http://schemas.microsoft.com/office/drawing/2014/main" id="{4FCECC39-F78C-B227-4D9C-D41AD8C2B6E3}"/>
              </a:ext>
            </a:extLst>
          </p:cNvPr>
          <p:cNvSpPr/>
          <p:nvPr/>
        </p:nvSpPr>
        <p:spPr>
          <a:xfrm>
            <a:off x="7593178" y="1219200"/>
            <a:ext cx="3629886" cy="4167188"/>
          </a:xfrm>
          <a:prstGeom prst="rect">
            <a:avLst/>
          </a:prstGeom>
          <a:solidFill>
            <a:schemeClr val="bg1"/>
          </a:solidFill>
          <a:ln w="6350">
            <a:solidFill>
              <a:schemeClr val="bg1">
                <a:lumMod val="85000"/>
              </a:schemeClr>
            </a:solidFill>
          </a:ln>
          <a:effectLst>
            <a:outerShdw blurRad="50800" dist="38100" dir="2700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 name="Rectangle 72">
            <a:extLst>
              <a:ext uri="{FF2B5EF4-FFF2-40B4-BE49-F238E27FC236}">
                <a16:creationId xmlns:a16="http://schemas.microsoft.com/office/drawing/2014/main" id="{111694C7-B861-956B-B675-BF7752315A94}"/>
              </a:ext>
            </a:extLst>
          </p:cNvPr>
          <p:cNvSpPr>
            <a:spLocks/>
          </p:cNvSpPr>
          <p:nvPr/>
        </p:nvSpPr>
        <p:spPr>
          <a:xfrm>
            <a:off x="711202" y="1200807"/>
            <a:ext cx="6375398" cy="4185581"/>
          </a:xfrm>
          <a:prstGeom prst="rect">
            <a:avLst/>
          </a:prstGeom>
          <a:solidFill>
            <a:schemeClr val="bg1"/>
          </a:solidFill>
          <a:ln w="6350">
            <a:solidFill>
              <a:schemeClr val="bg1">
                <a:lumMod val="85000"/>
              </a:schemeClr>
            </a:solidFill>
          </a:ln>
          <a:effectLst>
            <a:outerShdw blurRad="50800" dist="38100" dir="2700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 name="TextBox 73">
            <a:extLst>
              <a:ext uri="{FF2B5EF4-FFF2-40B4-BE49-F238E27FC236}">
                <a16:creationId xmlns:a16="http://schemas.microsoft.com/office/drawing/2014/main" id="{1FEC25C0-96C9-515E-5C9F-050AC98937D6}"/>
              </a:ext>
            </a:extLst>
          </p:cNvPr>
          <p:cNvSpPr txBox="1"/>
          <p:nvPr/>
        </p:nvSpPr>
        <p:spPr>
          <a:xfrm>
            <a:off x="968936" y="1374632"/>
            <a:ext cx="5736664" cy="1077218"/>
          </a:xfrm>
          <a:prstGeom prst="rect">
            <a:avLst/>
          </a:prstGeom>
          <a:noFill/>
        </p:spPr>
        <p:txBody>
          <a:bodyPr wrap="square" rtlCol="0">
            <a:spAutoFit/>
          </a:bodyPr>
          <a:lstStyle/>
          <a:p>
            <a:r>
              <a:rPr lang="en-US" sz="1400"/>
              <a:t>MathWorks Brand Colors</a:t>
            </a:r>
          </a:p>
          <a:p>
            <a:endParaRPr lang="en-US" sz="1400"/>
          </a:p>
          <a:p>
            <a:r>
              <a:rPr lang="en-US" sz="1200"/>
              <a:t>The corporate colors are included in the Theme Colors of this PowerPoint file; the primary brand colors and HEX values are shown below. For more colors such as utility and neutral colors, visit the brand guide </a:t>
            </a:r>
            <a:r>
              <a:rPr lang="en-US" sz="1200">
                <a:hlinkClick r:id="rId2"/>
              </a:rPr>
              <a:t>Color Palette</a:t>
            </a:r>
            <a:r>
              <a:rPr lang="en-US" sz="1200"/>
              <a:t>.</a:t>
            </a:r>
          </a:p>
        </p:txBody>
      </p:sp>
      <p:sp>
        <p:nvSpPr>
          <p:cNvPr id="75" name="TextBox 74">
            <a:extLst>
              <a:ext uri="{FF2B5EF4-FFF2-40B4-BE49-F238E27FC236}">
                <a16:creationId xmlns:a16="http://schemas.microsoft.com/office/drawing/2014/main" id="{A75F37AA-E9B6-6C76-A057-94CD9F73C8D7}"/>
              </a:ext>
            </a:extLst>
          </p:cNvPr>
          <p:cNvSpPr txBox="1"/>
          <p:nvPr/>
        </p:nvSpPr>
        <p:spPr>
          <a:xfrm>
            <a:off x="7745578" y="1374632"/>
            <a:ext cx="3145665" cy="1446550"/>
          </a:xfrm>
          <a:prstGeom prst="rect">
            <a:avLst/>
          </a:prstGeom>
          <a:noFill/>
        </p:spPr>
        <p:txBody>
          <a:bodyPr wrap="square" rtlCol="0">
            <a:spAutoFit/>
          </a:bodyPr>
          <a:lstStyle/>
          <a:p>
            <a:r>
              <a:rPr lang="en-US" sz="1400"/>
              <a:t>MATLAB Code Colors</a:t>
            </a:r>
          </a:p>
          <a:p>
            <a:endParaRPr lang="en-US" sz="1400"/>
          </a:p>
          <a:p>
            <a:r>
              <a:rPr lang="en-US" sz="1200"/>
              <a:t>They are not included in this file’s default Color Themes due to limited colors, but you can either enter the values below or use the Eyedropper or Format Painter to copy and apply them.</a:t>
            </a:r>
          </a:p>
        </p:txBody>
      </p:sp>
      <p:sp>
        <p:nvSpPr>
          <p:cNvPr id="76" name="TextBox 75">
            <a:extLst>
              <a:ext uri="{FF2B5EF4-FFF2-40B4-BE49-F238E27FC236}">
                <a16:creationId xmlns:a16="http://schemas.microsoft.com/office/drawing/2014/main" id="{801A3ED8-3DCC-A02C-5DFF-591A7456537A}"/>
              </a:ext>
            </a:extLst>
          </p:cNvPr>
          <p:cNvSpPr txBox="1"/>
          <p:nvPr/>
        </p:nvSpPr>
        <p:spPr>
          <a:xfrm>
            <a:off x="1078832" y="2759951"/>
            <a:ext cx="2270879" cy="230832"/>
          </a:xfrm>
          <a:prstGeom prst="rect">
            <a:avLst/>
          </a:prstGeom>
          <a:noFill/>
        </p:spPr>
        <p:txBody>
          <a:bodyPr wrap="square" rtlCol="0">
            <a:spAutoFit/>
          </a:bodyPr>
          <a:lstStyle/>
          <a:p>
            <a:r>
              <a:rPr lang="en-US" sz="900" b="1"/>
              <a:t>PRIMARY COLORS</a:t>
            </a:r>
          </a:p>
        </p:txBody>
      </p:sp>
      <p:sp>
        <p:nvSpPr>
          <p:cNvPr id="77" name="TextBox 76">
            <a:extLst>
              <a:ext uri="{FF2B5EF4-FFF2-40B4-BE49-F238E27FC236}">
                <a16:creationId xmlns:a16="http://schemas.microsoft.com/office/drawing/2014/main" id="{7CF6BA44-1EAC-D174-B94D-1A5B74AF2EF2}"/>
              </a:ext>
            </a:extLst>
          </p:cNvPr>
          <p:cNvSpPr txBox="1"/>
          <p:nvPr/>
        </p:nvSpPr>
        <p:spPr>
          <a:xfrm>
            <a:off x="1981200" y="3033468"/>
            <a:ext cx="609600" cy="338554"/>
          </a:xfrm>
          <a:prstGeom prst="rect">
            <a:avLst/>
          </a:prstGeom>
          <a:noFill/>
        </p:spPr>
        <p:txBody>
          <a:bodyPr wrap="square" rtlCol="0">
            <a:spAutoFit/>
          </a:bodyPr>
          <a:lstStyle/>
          <a:p>
            <a:r>
              <a:rPr lang="en-US" sz="800"/>
              <a:t>HEX: 0076A8 </a:t>
            </a:r>
          </a:p>
        </p:txBody>
      </p:sp>
      <p:sp>
        <p:nvSpPr>
          <p:cNvPr id="78" name="TextBox 77">
            <a:extLst>
              <a:ext uri="{FF2B5EF4-FFF2-40B4-BE49-F238E27FC236}">
                <a16:creationId xmlns:a16="http://schemas.microsoft.com/office/drawing/2014/main" id="{090B60F0-36B8-6818-5236-D38D77235C5D}"/>
              </a:ext>
            </a:extLst>
          </p:cNvPr>
          <p:cNvSpPr txBox="1"/>
          <p:nvPr/>
        </p:nvSpPr>
        <p:spPr>
          <a:xfrm>
            <a:off x="1979449" y="4713295"/>
            <a:ext cx="609600" cy="338554"/>
          </a:xfrm>
          <a:prstGeom prst="rect">
            <a:avLst/>
          </a:prstGeom>
          <a:noFill/>
        </p:spPr>
        <p:txBody>
          <a:bodyPr wrap="square" rtlCol="0">
            <a:spAutoFit/>
          </a:bodyPr>
          <a:lstStyle/>
          <a:p>
            <a:r>
              <a:rPr lang="en-US" sz="800"/>
              <a:t>HEX: 004B87 </a:t>
            </a:r>
          </a:p>
        </p:txBody>
      </p:sp>
      <p:sp>
        <p:nvSpPr>
          <p:cNvPr id="79" name="TextBox 78">
            <a:extLst>
              <a:ext uri="{FF2B5EF4-FFF2-40B4-BE49-F238E27FC236}">
                <a16:creationId xmlns:a16="http://schemas.microsoft.com/office/drawing/2014/main" id="{39768FC1-2A70-4373-78D2-5B3A5626155A}"/>
              </a:ext>
            </a:extLst>
          </p:cNvPr>
          <p:cNvSpPr txBox="1"/>
          <p:nvPr/>
        </p:nvSpPr>
        <p:spPr>
          <a:xfrm>
            <a:off x="1078832" y="4379496"/>
            <a:ext cx="2019302" cy="230832"/>
          </a:xfrm>
          <a:prstGeom prst="rect">
            <a:avLst/>
          </a:prstGeom>
          <a:noFill/>
        </p:spPr>
        <p:txBody>
          <a:bodyPr wrap="square" rtlCol="0">
            <a:spAutoFit/>
          </a:bodyPr>
          <a:lstStyle/>
          <a:p>
            <a:r>
              <a:rPr lang="en-US" sz="900" b="1"/>
              <a:t>SECONDARY COLOR</a:t>
            </a:r>
          </a:p>
        </p:txBody>
      </p:sp>
      <p:sp>
        <p:nvSpPr>
          <p:cNvPr id="80" name="Rectangle 79">
            <a:extLst>
              <a:ext uri="{FF2B5EF4-FFF2-40B4-BE49-F238E27FC236}">
                <a16:creationId xmlns:a16="http://schemas.microsoft.com/office/drawing/2014/main" id="{8C02B970-4395-5840-957E-0A907CAF55AC}"/>
              </a:ext>
            </a:extLst>
          </p:cNvPr>
          <p:cNvSpPr/>
          <p:nvPr/>
        </p:nvSpPr>
        <p:spPr>
          <a:xfrm>
            <a:off x="1177588" y="3033468"/>
            <a:ext cx="790420" cy="4717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1" name="TextBox 80">
            <a:extLst>
              <a:ext uri="{FF2B5EF4-FFF2-40B4-BE49-F238E27FC236}">
                <a16:creationId xmlns:a16="http://schemas.microsoft.com/office/drawing/2014/main" id="{38570E1C-92A3-2E36-552F-C92FBD9850AF}"/>
              </a:ext>
            </a:extLst>
          </p:cNvPr>
          <p:cNvSpPr txBox="1"/>
          <p:nvPr/>
        </p:nvSpPr>
        <p:spPr>
          <a:xfrm>
            <a:off x="1985500" y="3709657"/>
            <a:ext cx="609600" cy="338554"/>
          </a:xfrm>
          <a:prstGeom prst="rect">
            <a:avLst/>
          </a:prstGeom>
          <a:noFill/>
        </p:spPr>
        <p:txBody>
          <a:bodyPr wrap="square" rtlCol="0">
            <a:spAutoFit/>
          </a:bodyPr>
          <a:lstStyle/>
          <a:p>
            <a:r>
              <a:rPr lang="en-US" sz="800"/>
              <a:t>HEX: D78825</a:t>
            </a:r>
          </a:p>
        </p:txBody>
      </p:sp>
      <p:sp>
        <p:nvSpPr>
          <p:cNvPr id="82" name="Rectangle 81">
            <a:extLst>
              <a:ext uri="{FF2B5EF4-FFF2-40B4-BE49-F238E27FC236}">
                <a16:creationId xmlns:a16="http://schemas.microsoft.com/office/drawing/2014/main" id="{D2C3BCEA-A16F-0E92-4F97-1C1EAA778954}"/>
              </a:ext>
            </a:extLst>
          </p:cNvPr>
          <p:cNvSpPr/>
          <p:nvPr/>
        </p:nvSpPr>
        <p:spPr>
          <a:xfrm>
            <a:off x="1177588" y="3643068"/>
            <a:ext cx="790420" cy="4717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3" name="Rectangle 82">
            <a:extLst>
              <a:ext uri="{FF2B5EF4-FFF2-40B4-BE49-F238E27FC236}">
                <a16:creationId xmlns:a16="http://schemas.microsoft.com/office/drawing/2014/main" id="{35761460-FD52-DFDE-22AB-FF1610D78F46}"/>
              </a:ext>
            </a:extLst>
          </p:cNvPr>
          <p:cNvSpPr/>
          <p:nvPr/>
        </p:nvSpPr>
        <p:spPr>
          <a:xfrm>
            <a:off x="1177588" y="4633668"/>
            <a:ext cx="790420" cy="4717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4" name="TextBox 83">
            <a:extLst>
              <a:ext uri="{FF2B5EF4-FFF2-40B4-BE49-F238E27FC236}">
                <a16:creationId xmlns:a16="http://schemas.microsoft.com/office/drawing/2014/main" id="{BC156CA2-C6CF-58E1-5634-5EC571042ABE}"/>
              </a:ext>
            </a:extLst>
          </p:cNvPr>
          <p:cNvSpPr txBox="1"/>
          <p:nvPr/>
        </p:nvSpPr>
        <p:spPr>
          <a:xfrm>
            <a:off x="8337481" y="3142323"/>
            <a:ext cx="1046206" cy="461665"/>
          </a:xfrm>
          <a:prstGeom prst="rect">
            <a:avLst/>
          </a:prstGeom>
          <a:noFill/>
        </p:spPr>
        <p:txBody>
          <a:bodyPr wrap="square" rtlCol="0">
            <a:spAutoFit/>
          </a:bodyPr>
          <a:lstStyle/>
          <a:p>
            <a:r>
              <a:rPr lang="en-US" sz="800" b="1"/>
              <a:t>REGULAR CODE</a:t>
            </a:r>
          </a:p>
          <a:p>
            <a:r>
              <a:rPr lang="en-US" sz="800"/>
              <a:t>HEX: 000000</a:t>
            </a:r>
          </a:p>
          <a:p>
            <a:r>
              <a:rPr lang="en-US" sz="800"/>
              <a:t>RGB: 0, 0, 0</a:t>
            </a:r>
          </a:p>
        </p:txBody>
      </p:sp>
      <p:sp>
        <p:nvSpPr>
          <p:cNvPr id="85" name="Rectangle 84">
            <a:extLst>
              <a:ext uri="{FF2B5EF4-FFF2-40B4-BE49-F238E27FC236}">
                <a16:creationId xmlns:a16="http://schemas.microsoft.com/office/drawing/2014/main" id="{641A1639-90A2-003F-9EBC-195F518A8F92}"/>
              </a:ext>
            </a:extLst>
          </p:cNvPr>
          <p:cNvSpPr/>
          <p:nvPr/>
        </p:nvSpPr>
        <p:spPr>
          <a:xfrm>
            <a:off x="7897979" y="3142323"/>
            <a:ext cx="439502" cy="4717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6" name="TextBox 85">
            <a:extLst>
              <a:ext uri="{FF2B5EF4-FFF2-40B4-BE49-F238E27FC236}">
                <a16:creationId xmlns:a16="http://schemas.microsoft.com/office/drawing/2014/main" id="{5181D78F-1A70-056F-A7BD-9763F6973197}"/>
              </a:ext>
            </a:extLst>
          </p:cNvPr>
          <p:cNvSpPr txBox="1"/>
          <p:nvPr/>
        </p:nvSpPr>
        <p:spPr>
          <a:xfrm>
            <a:off x="10041448" y="3142323"/>
            <a:ext cx="1046206" cy="461665"/>
          </a:xfrm>
          <a:prstGeom prst="rect">
            <a:avLst/>
          </a:prstGeom>
          <a:noFill/>
        </p:spPr>
        <p:txBody>
          <a:bodyPr wrap="square" rtlCol="0">
            <a:spAutoFit/>
          </a:bodyPr>
          <a:lstStyle/>
          <a:p>
            <a:r>
              <a:rPr lang="en-US" sz="800" b="1"/>
              <a:t>KEYWORD</a:t>
            </a:r>
          </a:p>
          <a:p>
            <a:r>
              <a:rPr lang="en-US" sz="800"/>
              <a:t>HEX: 0000ff</a:t>
            </a:r>
          </a:p>
          <a:p>
            <a:r>
              <a:rPr lang="en-US" sz="800"/>
              <a:t>RGB: 0, 0, 255</a:t>
            </a:r>
          </a:p>
        </p:txBody>
      </p:sp>
      <p:sp>
        <p:nvSpPr>
          <p:cNvPr id="87" name="Rectangle 86">
            <a:extLst>
              <a:ext uri="{FF2B5EF4-FFF2-40B4-BE49-F238E27FC236}">
                <a16:creationId xmlns:a16="http://schemas.microsoft.com/office/drawing/2014/main" id="{3CE7918A-DE37-7985-BFAF-A172EF5F7985}"/>
              </a:ext>
            </a:extLst>
          </p:cNvPr>
          <p:cNvSpPr/>
          <p:nvPr/>
        </p:nvSpPr>
        <p:spPr>
          <a:xfrm>
            <a:off x="9601946" y="3142323"/>
            <a:ext cx="439502" cy="471732"/>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8" name="TextBox 87">
            <a:extLst>
              <a:ext uri="{FF2B5EF4-FFF2-40B4-BE49-F238E27FC236}">
                <a16:creationId xmlns:a16="http://schemas.microsoft.com/office/drawing/2014/main" id="{392CFDE7-242B-4F58-BCCC-78CFAD4FE578}"/>
              </a:ext>
            </a:extLst>
          </p:cNvPr>
          <p:cNvSpPr txBox="1"/>
          <p:nvPr/>
        </p:nvSpPr>
        <p:spPr>
          <a:xfrm>
            <a:off x="8337481" y="3891966"/>
            <a:ext cx="1046206" cy="461665"/>
          </a:xfrm>
          <a:prstGeom prst="rect">
            <a:avLst/>
          </a:prstGeom>
          <a:noFill/>
        </p:spPr>
        <p:txBody>
          <a:bodyPr wrap="square" rtlCol="0">
            <a:spAutoFit/>
          </a:bodyPr>
          <a:lstStyle/>
          <a:p>
            <a:r>
              <a:rPr lang="en-US" sz="800" b="1"/>
              <a:t>STRING</a:t>
            </a:r>
          </a:p>
          <a:p>
            <a:r>
              <a:rPr lang="en-US" sz="800"/>
              <a:t>HEX: A020F6</a:t>
            </a:r>
          </a:p>
          <a:p>
            <a:r>
              <a:rPr lang="en-US" sz="800"/>
              <a:t>RGB: 160, 32, 240</a:t>
            </a:r>
          </a:p>
        </p:txBody>
      </p:sp>
      <p:sp>
        <p:nvSpPr>
          <p:cNvPr id="89" name="Rectangle 88">
            <a:extLst>
              <a:ext uri="{FF2B5EF4-FFF2-40B4-BE49-F238E27FC236}">
                <a16:creationId xmlns:a16="http://schemas.microsoft.com/office/drawing/2014/main" id="{17533223-45F0-F9EE-6D14-4E712BA544A7}"/>
              </a:ext>
            </a:extLst>
          </p:cNvPr>
          <p:cNvSpPr/>
          <p:nvPr/>
        </p:nvSpPr>
        <p:spPr>
          <a:xfrm>
            <a:off x="7897979" y="3891966"/>
            <a:ext cx="439502" cy="471732"/>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0" name="TextBox 89">
            <a:extLst>
              <a:ext uri="{FF2B5EF4-FFF2-40B4-BE49-F238E27FC236}">
                <a16:creationId xmlns:a16="http://schemas.microsoft.com/office/drawing/2014/main" id="{9EA1D8E8-A499-E969-D4D5-85D76741FCA2}"/>
              </a:ext>
            </a:extLst>
          </p:cNvPr>
          <p:cNvSpPr txBox="1"/>
          <p:nvPr/>
        </p:nvSpPr>
        <p:spPr>
          <a:xfrm>
            <a:off x="10041448" y="3891966"/>
            <a:ext cx="1046206" cy="461665"/>
          </a:xfrm>
          <a:prstGeom prst="rect">
            <a:avLst/>
          </a:prstGeom>
          <a:noFill/>
        </p:spPr>
        <p:txBody>
          <a:bodyPr wrap="square" rtlCol="0">
            <a:spAutoFit/>
          </a:bodyPr>
          <a:lstStyle/>
          <a:p>
            <a:r>
              <a:rPr lang="en-US" sz="800" b="1"/>
              <a:t>COMMENT</a:t>
            </a:r>
          </a:p>
          <a:p>
            <a:r>
              <a:rPr lang="en-US" sz="800"/>
              <a:t>HEX: 228B22</a:t>
            </a:r>
          </a:p>
          <a:p>
            <a:r>
              <a:rPr lang="en-US" sz="800"/>
              <a:t>RGB: 34, 139, 34</a:t>
            </a:r>
          </a:p>
        </p:txBody>
      </p:sp>
      <p:sp>
        <p:nvSpPr>
          <p:cNvPr id="91" name="Rectangle 90">
            <a:extLst>
              <a:ext uri="{FF2B5EF4-FFF2-40B4-BE49-F238E27FC236}">
                <a16:creationId xmlns:a16="http://schemas.microsoft.com/office/drawing/2014/main" id="{40439D66-8B6F-CDE1-9F7E-64E3735DC009}"/>
              </a:ext>
            </a:extLst>
          </p:cNvPr>
          <p:cNvSpPr/>
          <p:nvPr/>
        </p:nvSpPr>
        <p:spPr>
          <a:xfrm>
            <a:off x="9601946" y="3891966"/>
            <a:ext cx="439502" cy="471732"/>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2" name="TextBox 91">
            <a:extLst>
              <a:ext uri="{FF2B5EF4-FFF2-40B4-BE49-F238E27FC236}">
                <a16:creationId xmlns:a16="http://schemas.microsoft.com/office/drawing/2014/main" id="{2F550A1F-7B44-139D-E532-5068214AB243}"/>
              </a:ext>
            </a:extLst>
          </p:cNvPr>
          <p:cNvSpPr txBox="1"/>
          <p:nvPr/>
        </p:nvSpPr>
        <p:spPr>
          <a:xfrm>
            <a:off x="8337481" y="4650077"/>
            <a:ext cx="1046206" cy="461665"/>
          </a:xfrm>
          <a:prstGeom prst="rect">
            <a:avLst/>
          </a:prstGeom>
          <a:noFill/>
        </p:spPr>
        <p:txBody>
          <a:bodyPr wrap="square" rtlCol="0">
            <a:spAutoFit/>
          </a:bodyPr>
          <a:lstStyle/>
          <a:p>
            <a:r>
              <a:rPr lang="en-US" sz="800" b="1"/>
              <a:t>WARNING</a:t>
            </a:r>
          </a:p>
          <a:p>
            <a:r>
              <a:rPr lang="en-US" sz="800"/>
              <a:t>HEX: FF6400</a:t>
            </a:r>
          </a:p>
          <a:p>
            <a:r>
              <a:rPr lang="en-US" sz="800"/>
              <a:t>RGB: 255, 100, 0</a:t>
            </a:r>
          </a:p>
        </p:txBody>
      </p:sp>
      <p:sp>
        <p:nvSpPr>
          <p:cNvPr id="93" name="Rectangle 92">
            <a:extLst>
              <a:ext uri="{FF2B5EF4-FFF2-40B4-BE49-F238E27FC236}">
                <a16:creationId xmlns:a16="http://schemas.microsoft.com/office/drawing/2014/main" id="{E459848D-4C50-A116-D683-02AFA2EC9165}"/>
              </a:ext>
            </a:extLst>
          </p:cNvPr>
          <p:cNvSpPr/>
          <p:nvPr/>
        </p:nvSpPr>
        <p:spPr>
          <a:xfrm>
            <a:off x="7897979" y="4650077"/>
            <a:ext cx="439502" cy="471732"/>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4" name="TextBox 93">
            <a:extLst>
              <a:ext uri="{FF2B5EF4-FFF2-40B4-BE49-F238E27FC236}">
                <a16:creationId xmlns:a16="http://schemas.microsoft.com/office/drawing/2014/main" id="{5795D717-9D41-13E1-3241-E2A062065E8F}"/>
              </a:ext>
            </a:extLst>
          </p:cNvPr>
          <p:cNvSpPr txBox="1"/>
          <p:nvPr/>
        </p:nvSpPr>
        <p:spPr>
          <a:xfrm>
            <a:off x="10041448" y="4650077"/>
            <a:ext cx="1046206" cy="461665"/>
          </a:xfrm>
          <a:prstGeom prst="rect">
            <a:avLst/>
          </a:prstGeom>
          <a:noFill/>
        </p:spPr>
        <p:txBody>
          <a:bodyPr wrap="square" rtlCol="0">
            <a:spAutoFit/>
          </a:bodyPr>
          <a:lstStyle/>
          <a:p>
            <a:r>
              <a:rPr lang="en-US" sz="800" b="1"/>
              <a:t>ERROR</a:t>
            </a:r>
          </a:p>
          <a:p>
            <a:r>
              <a:rPr lang="en-US" sz="800"/>
              <a:t>HEX: FF0000</a:t>
            </a:r>
          </a:p>
          <a:p>
            <a:r>
              <a:rPr lang="en-US" sz="800"/>
              <a:t>RGB: 255, 0, 0</a:t>
            </a:r>
          </a:p>
        </p:txBody>
      </p:sp>
      <p:sp>
        <p:nvSpPr>
          <p:cNvPr id="95" name="Rectangle 94">
            <a:extLst>
              <a:ext uri="{FF2B5EF4-FFF2-40B4-BE49-F238E27FC236}">
                <a16:creationId xmlns:a16="http://schemas.microsoft.com/office/drawing/2014/main" id="{55F79DBF-D376-B2CC-A2BF-5703A42AB240}"/>
              </a:ext>
            </a:extLst>
          </p:cNvPr>
          <p:cNvSpPr/>
          <p:nvPr/>
        </p:nvSpPr>
        <p:spPr>
          <a:xfrm>
            <a:off x="9601946" y="4650077"/>
            <a:ext cx="439502" cy="47173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6" name="TextBox 95">
            <a:extLst>
              <a:ext uri="{FF2B5EF4-FFF2-40B4-BE49-F238E27FC236}">
                <a16:creationId xmlns:a16="http://schemas.microsoft.com/office/drawing/2014/main" id="{794A0C16-9DDB-ED79-F5B1-4FCC66292704}"/>
              </a:ext>
            </a:extLst>
          </p:cNvPr>
          <p:cNvSpPr txBox="1"/>
          <p:nvPr/>
        </p:nvSpPr>
        <p:spPr>
          <a:xfrm>
            <a:off x="3624086" y="2759951"/>
            <a:ext cx="2114550" cy="230832"/>
          </a:xfrm>
          <a:prstGeom prst="rect">
            <a:avLst/>
          </a:prstGeom>
          <a:noFill/>
        </p:spPr>
        <p:txBody>
          <a:bodyPr wrap="square" rtlCol="0">
            <a:spAutoFit/>
          </a:bodyPr>
          <a:lstStyle/>
          <a:p>
            <a:r>
              <a:rPr lang="en-US" sz="900" b="1"/>
              <a:t>UTILITY COLORS</a:t>
            </a:r>
          </a:p>
        </p:txBody>
      </p:sp>
      <p:sp>
        <p:nvSpPr>
          <p:cNvPr id="97" name="TextBox 96">
            <a:extLst>
              <a:ext uri="{FF2B5EF4-FFF2-40B4-BE49-F238E27FC236}">
                <a16:creationId xmlns:a16="http://schemas.microsoft.com/office/drawing/2014/main" id="{C9FFC661-E49C-C273-C869-B88101391FEC}"/>
              </a:ext>
            </a:extLst>
          </p:cNvPr>
          <p:cNvSpPr txBox="1"/>
          <p:nvPr/>
        </p:nvSpPr>
        <p:spPr>
          <a:xfrm>
            <a:off x="4480154" y="3033468"/>
            <a:ext cx="609600" cy="338554"/>
          </a:xfrm>
          <a:prstGeom prst="rect">
            <a:avLst/>
          </a:prstGeom>
          <a:noFill/>
        </p:spPr>
        <p:txBody>
          <a:bodyPr wrap="square" rtlCol="0">
            <a:spAutoFit/>
          </a:bodyPr>
          <a:lstStyle/>
          <a:p>
            <a:r>
              <a:rPr lang="en-US" sz="800"/>
              <a:t>HEX: </a:t>
            </a:r>
            <a:r>
              <a:rPr lang="en-US" sz="800">
                <a:solidFill>
                  <a:srgbClr val="1A1A1A"/>
                </a:solidFill>
                <a:highlight>
                  <a:srgbClr val="FFFFFF"/>
                </a:highlight>
                <a:latin typeface="Roboto" panose="02000000000000000000" pitchFamily="2" charset="0"/>
              </a:rPr>
              <a:t>B</a:t>
            </a:r>
            <a:r>
              <a:rPr lang="en-US" sz="800" b="0" i="0">
                <a:solidFill>
                  <a:srgbClr val="1A1A1A"/>
                </a:solidFill>
                <a:effectLst/>
                <a:highlight>
                  <a:srgbClr val="FFFFFF"/>
                </a:highlight>
                <a:latin typeface="Roboto" panose="02000000000000000000" pitchFamily="2" charset="0"/>
              </a:rPr>
              <a:t>7312C</a:t>
            </a:r>
            <a:endParaRPr lang="en-US" sz="800"/>
          </a:p>
        </p:txBody>
      </p:sp>
      <p:sp>
        <p:nvSpPr>
          <p:cNvPr id="98" name="Rectangle 97">
            <a:extLst>
              <a:ext uri="{FF2B5EF4-FFF2-40B4-BE49-F238E27FC236}">
                <a16:creationId xmlns:a16="http://schemas.microsoft.com/office/drawing/2014/main" id="{A4CD993F-0F7D-2C1C-0B9E-6CA99121E15F}"/>
              </a:ext>
            </a:extLst>
          </p:cNvPr>
          <p:cNvSpPr/>
          <p:nvPr/>
        </p:nvSpPr>
        <p:spPr>
          <a:xfrm>
            <a:off x="3737918" y="3033468"/>
            <a:ext cx="790420" cy="471732"/>
          </a:xfrm>
          <a:prstGeom prst="rect">
            <a:avLst/>
          </a:prstGeom>
          <a:solidFill>
            <a:srgbClr val="B731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9" name="TextBox 98">
            <a:extLst>
              <a:ext uri="{FF2B5EF4-FFF2-40B4-BE49-F238E27FC236}">
                <a16:creationId xmlns:a16="http://schemas.microsoft.com/office/drawing/2014/main" id="{314DC390-1782-EE1B-543A-8856582C8440}"/>
              </a:ext>
            </a:extLst>
          </p:cNvPr>
          <p:cNvSpPr txBox="1"/>
          <p:nvPr/>
        </p:nvSpPr>
        <p:spPr>
          <a:xfrm>
            <a:off x="4504161" y="3885914"/>
            <a:ext cx="609600" cy="338554"/>
          </a:xfrm>
          <a:prstGeom prst="rect">
            <a:avLst/>
          </a:prstGeom>
          <a:noFill/>
        </p:spPr>
        <p:txBody>
          <a:bodyPr wrap="square" rtlCol="0">
            <a:spAutoFit/>
          </a:bodyPr>
          <a:lstStyle/>
          <a:p>
            <a:r>
              <a:rPr lang="en-US" sz="800"/>
              <a:t>HEX: </a:t>
            </a:r>
            <a:r>
              <a:rPr lang="en-US" sz="800">
                <a:solidFill>
                  <a:srgbClr val="1A1A1A"/>
                </a:solidFill>
                <a:highlight>
                  <a:srgbClr val="FFFFFF"/>
                </a:highlight>
                <a:latin typeface="Roboto" panose="02000000000000000000" pitchFamily="2" charset="0"/>
              </a:rPr>
              <a:t>F2A</a:t>
            </a:r>
            <a:r>
              <a:rPr lang="en-US" sz="800" b="0" i="0">
                <a:solidFill>
                  <a:srgbClr val="1A1A1A"/>
                </a:solidFill>
                <a:effectLst/>
                <a:highlight>
                  <a:srgbClr val="FFFFFF"/>
                </a:highlight>
                <a:latin typeface="Roboto" panose="02000000000000000000" pitchFamily="2" charset="0"/>
              </a:rPr>
              <a:t>900</a:t>
            </a:r>
            <a:endParaRPr lang="en-US" sz="800"/>
          </a:p>
        </p:txBody>
      </p:sp>
      <p:sp>
        <p:nvSpPr>
          <p:cNvPr id="100" name="Rectangle 99">
            <a:extLst>
              <a:ext uri="{FF2B5EF4-FFF2-40B4-BE49-F238E27FC236}">
                <a16:creationId xmlns:a16="http://schemas.microsoft.com/office/drawing/2014/main" id="{865F8851-D743-1BEC-CBF8-6AB44B52C751}"/>
              </a:ext>
            </a:extLst>
          </p:cNvPr>
          <p:cNvSpPr/>
          <p:nvPr/>
        </p:nvSpPr>
        <p:spPr>
          <a:xfrm>
            <a:off x="3737598" y="3819325"/>
            <a:ext cx="790420" cy="471732"/>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01" name="TextBox 100">
            <a:extLst>
              <a:ext uri="{FF2B5EF4-FFF2-40B4-BE49-F238E27FC236}">
                <a16:creationId xmlns:a16="http://schemas.microsoft.com/office/drawing/2014/main" id="{2450BB66-155A-3CA0-2D0D-8EAE3C8431A3}"/>
              </a:ext>
            </a:extLst>
          </p:cNvPr>
          <p:cNvSpPr txBox="1"/>
          <p:nvPr/>
        </p:nvSpPr>
        <p:spPr>
          <a:xfrm>
            <a:off x="4521763" y="4709425"/>
            <a:ext cx="609600" cy="338554"/>
          </a:xfrm>
          <a:prstGeom prst="rect">
            <a:avLst/>
          </a:prstGeom>
          <a:noFill/>
        </p:spPr>
        <p:txBody>
          <a:bodyPr wrap="square" rtlCol="0">
            <a:spAutoFit/>
          </a:bodyPr>
          <a:lstStyle/>
          <a:p>
            <a:r>
              <a:rPr lang="en-US" sz="800"/>
              <a:t>HEX: 48A23F</a:t>
            </a:r>
          </a:p>
        </p:txBody>
      </p:sp>
      <p:sp>
        <p:nvSpPr>
          <p:cNvPr id="102" name="Rectangle 101">
            <a:extLst>
              <a:ext uri="{FF2B5EF4-FFF2-40B4-BE49-F238E27FC236}">
                <a16:creationId xmlns:a16="http://schemas.microsoft.com/office/drawing/2014/main" id="{D55EF32F-A1A6-0B01-DA76-9D515F24F7EE}"/>
              </a:ext>
            </a:extLst>
          </p:cNvPr>
          <p:cNvSpPr/>
          <p:nvPr/>
        </p:nvSpPr>
        <p:spPr>
          <a:xfrm>
            <a:off x="3755200" y="4642836"/>
            <a:ext cx="790420" cy="471732"/>
          </a:xfrm>
          <a:prstGeom prst="rect">
            <a:avLst/>
          </a:prstGeom>
          <a:solidFill>
            <a:srgbClr val="48A2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03" name="TextBox 102">
            <a:extLst>
              <a:ext uri="{FF2B5EF4-FFF2-40B4-BE49-F238E27FC236}">
                <a16:creationId xmlns:a16="http://schemas.microsoft.com/office/drawing/2014/main" id="{E31E8A85-BA60-30AE-4F65-F45161CB0F73}"/>
              </a:ext>
            </a:extLst>
          </p:cNvPr>
          <p:cNvSpPr txBox="1"/>
          <p:nvPr/>
        </p:nvSpPr>
        <p:spPr>
          <a:xfrm>
            <a:off x="5912953" y="3033468"/>
            <a:ext cx="609600" cy="338554"/>
          </a:xfrm>
          <a:prstGeom prst="rect">
            <a:avLst/>
          </a:prstGeom>
          <a:noFill/>
        </p:spPr>
        <p:txBody>
          <a:bodyPr wrap="square" rtlCol="0">
            <a:spAutoFit/>
          </a:bodyPr>
          <a:lstStyle/>
          <a:p>
            <a:r>
              <a:rPr lang="en-US" sz="800"/>
              <a:t>HEX: 00A9E0</a:t>
            </a:r>
          </a:p>
        </p:txBody>
      </p:sp>
      <p:sp>
        <p:nvSpPr>
          <p:cNvPr id="104" name="Rectangle 103">
            <a:extLst>
              <a:ext uri="{FF2B5EF4-FFF2-40B4-BE49-F238E27FC236}">
                <a16:creationId xmlns:a16="http://schemas.microsoft.com/office/drawing/2014/main" id="{C84AF6C8-D2A7-9C9F-3CB2-8947DE79C929}"/>
              </a:ext>
            </a:extLst>
          </p:cNvPr>
          <p:cNvSpPr/>
          <p:nvPr/>
        </p:nvSpPr>
        <p:spPr>
          <a:xfrm>
            <a:off x="5170717" y="3033468"/>
            <a:ext cx="790420" cy="471732"/>
          </a:xfrm>
          <a:prstGeom prst="rect">
            <a:avLst/>
          </a:prstGeom>
          <a:solidFill>
            <a:srgbClr val="00A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05" name="TextBox 104">
            <a:extLst>
              <a:ext uri="{FF2B5EF4-FFF2-40B4-BE49-F238E27FC236}">
                <a16:creationId xmlns:a16="http://schemas.microsoft.com/office/drawing/2014/main" id="{B1C71241-1401-E6D3-7FA1-71B76B5F2DBF}"/>
              </a:ext>
            </a:extLst>
          </p:cNvPr>
          <p:cNvSpPr txBox="1"/>
          <p:nvPr/>
        </p:nvSpPr>
        <p:spPr>
          <a:xfrm>
            <a:off x="5955172" y="3875743"/>
            <a:ext cx="609600" cy="338554"/>
          </a:xfrm>
          <a:prstGeom prst="rect">
            <a:avLst/>
          </a:prstGeom>
          <a:noFill/>
        </p:spPr>
        <p:txBody>
          <a:bodyPr wrap="square" rtlCol="0">
            <a:spAutoFit/>
          </a:bodyPr>
          <a:lstStyle/>
          <a:p>
            <a:r>
              <a:rPr lang="en-US" sz="800"/>
              <a:t>HEX: </a:t>
            </a:r>
            <a:r>
              <a:rPr lang="en-US" sz="800" b="0" i="0">
                <a:solidFill>
                  <a:srgbClr val="1A1A1A"/>
                </a:solidFill>
                <a:effectLst/>
                <a:highlight>
                  <a:srgbClr val="FFFFFF"/>
                </a:highlight>
                <a:latin typeface="Roboto" panose="02000000000000000000" pitchFamily="2" charset="0"/>
              </a:rPr>
              <a:t>715091</a:t>
            </a:r>
            <a:endParaRPr lang="en-US" sz="800"/>
          </a:p>
        </p:txBody>
      </p:sp>
      <p:sp>
        <p:nvSpPr>
          <p:cNvPr id="106" name="Rectangle 105">
            <a:extLst>
              <a:ext uri="{FF2B5EF4-FFF2-40B4-BE49-F238E27FC236}">
                <a16:creationId xmlns:a16="http://schemas.microsoft.com/office/drawing/2014/main" id="{7885FEF1-D18B-9ADC-69F7-952130CBDDF1}"/>
              </a:ext>
            </a:extLst>
          </p:cNvPr>
          <p:cNvSpPr/>
          <p:nvPr/>
        </p:nvSpPr>
        <p:spPr>
          <a:xfrm>
            <a:off x="5188609" y="3809154"/>
            <a:ext cx="790420" cy="471732"/>
          </a:xfrm>
          <a:prstGeom prst="rect">
            <a:avLst/>
          </a:prstGeom>
          <a:solidFill>
            <a:srgbClr val="7150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07" name="TextBox 106">
            <a:extLst>
              <a:ext uri="{FF2B5EF4-FFF2-40B4-BE49-F238E27FC236}">
                <a16:creationId xmlns:a16="http://schemas.microsoft.com/office/drawing/2014/main" id="{99AA447D-A060-00A1-F24E-64D079034B3A}"/>
              </a:ext>
            </a:extLst>
          </p:cNvPr>
          <p:cNvSpPr txBox="1"/>
          <p:nvPr/>
        </p:nvSpPr>
        <p:spPr>
          <a:xfrm>
            <a:off x="5955172" y="4686730"/>
            <a:ext cx="609600" cy="338554"/>
          </a:xfrm>
          <a:prstGeom prst="rect">
            <a:avLst/>
          </a:prstGeom>
          <a:noFill/>
        </p:spPr>
        <p:txBody>
          <a:bodyPr wrap="square" rtlCol="0">
            <a:spAutoFit/>
          </a:bodyPr>
          <a:lstStyle/>
          <a:p>
            <a:r>
              <a:rPr lang="en-US" sz="800"/>
              <a:t>HEX: </a:t>
            </a:r>
            <a:r>
              <a:rPr lang="en-US" sz="800" b="0" i="0">
                <a:solidFill>
                  <a:srgbClr val="1A1A1A"/>
                </a:solidFill>
                <a:effectLst/>
                <a:highlight>
                  <a:srgbClr val="FFFFFF"/>
                </a:highlight>
                <a:latin typeface="Roboto" panose="02000000000000000000" pitchFamily="2" charset="0"/>
              </a:rPr>
              <a:t>636569</a:t>
            </a:r>
            <a:endParaRPr lang="en-US" sz="800"/>
          </a:p>
        </p:txBody>
      </p:sp>
      <p:sp>
        <p:nvSpPr>
          <p:cNvPr id="108" name="Rectangle 107">
            <a:extLst>
              <a:ext uri="{FF2B5EF4-FFF2-40B4-BE49-F238E27FC236}">
                <a16:creationId xmlns:a16="http://schemas.microsoft.com/office/drawing/2014/main" id="{97290F6F-CDAB-B462-0419-9D45C675F6AA}"/>
              </a:ext>
            </a:extLst>
          </p:cNvPr>
          <p:cNvSpPr/>
          <p:nvPr/>
        </p:nvSpPr>
        <p:spPr>
          <a:xfrm>
            <a:off x="5188609" y="4620141"/>
            <a:ext cx="790420" cy="471732"/>
          </a:xfrm>
          <a:prstGeom prst="rect">
            <a:avLst/>
          </a:prstGeom>
          <a:solidFill>
            <a:srgbClr val="636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09" name="Rectangle 108">
            <a:extLst>
              <a:ext uri="{FF2B5EF4-FFF2-40B4-BE49-F238E27FC236}">
                <a16:creationId xmlns:a16="http://schemas.microsoft.com/office/drawing/2014/main" id="{964287F7-8CF9-D79D-461F-81E23F531E2A}"/>
              </a:ext>
            </a:extLst>
          </p:cNvPr>
          <p:cNvSpPr>
            <a:spLocks/>
          </p:cNvSpPr>
          <p:nvPr/>
        </p:nvSpPr>
        <p:spPr>
          <a:xfrm>
            <a:off x="711202" y="5520413"/>
            <a:ext cx="10511862" cy="587522"/>
          </a:xfrm>
          <a:prstGeom prst="rect">
            <a:avLst/>
          </a:prstGeom>
          <a:solidFill>
            <a:schemeClr val="bg1"/>
          </a:solidFill>
          <a:ln w="6350">
            <a:solidFill>
              <a:schemeClr val="bg1">
                <a:lumMod val="85000"/>
              </a:schemeClr>
            </a:solidFill>
          </a:ln>
          <a:effectLst>
            <a:outerShdw blurRad="50800" dist="38100" dir="2700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r>
              <a:rPr lang="en-US" sz="1200">
                <a:solidFill>
                  <a:schemeClr val="tx1"/>
                </a:solidFill>
                <a:latin typeface="Arial" pitchFamily="34" charset="0"/>
                <a:cs typeface="Arial" pitchFamily="34" charset="0"/>
              </a:rPr>
              <a:t>Swatches of these colors are included below. To apply them, select the element you’d like to apply a color to, select </a:t>
            </a:r>
            <a:br>
              <a:rPr lang="en-US" sz="1200">
                <a:solidFill>
                  <a:schemeClr val="tx1"/>
                </a:solidFill>
                <a:latin typeface="Arial" pitchFamily="34" charset="0"/>
                <a:cs typeface="Arial" pitchFamily="34" charset="0"/>
              </a:rPr>
            </a:br>
            <a:r>
              <a:rPr lang="en-US" sz="1200">
                <a:solidFill>
                  <a:schemeClr val="tx1"/>
                </a:solidFill>
                <a:latin typeface="Arial" pitchFamily="34" charset="0"/>
                <a:cs typeface="Arial" pitchFamily="34" charset="0"/>
              </a:rPr>
              <a:t>the eyedropper tool from the appropriate color palette menu, and click the swatch for the color you’d like to apply.</a:t>
            </a:r>
          </a:p>
        </p:txBody>
      </p:sp>
      <p:pic>
        <p:nvPicPr>
          <p:cNvPr id="110" name="Picture 109">
            <a:extLst>
              <a:ext uri="{FF2B5EF4-FFF2-40B4-BE49-F238E27FC236}">
                <a16:creationId xmlns:a16="http://schemas.microsoft.com/office/drawing/2014/main" id="{90E6DD7B-5EA0-EB42-A65C-9BB41D36C5A6}"/>
              </a:ext>
            </a:extLst>
          </p:cNvPr>
          <p:cNvPicPr>
            <a:picLocks noChangeAspect="1"/>
          </p:cNvPicPr>
          <p:nvPr/>
        </p:nvPicPr>
        <p:blipFill>
          <a:blip r:embed="rId3"/>
          <a:stretch>
            <a:fillRect/>
          </a:stretch>
        </p:blipFill>
        <p:spPr>
          <a:xfrm>
            <a:off x="9533286" y="5678115"/>
            <a:ext cx="908097" cy="273064"/>
          </a:xfrm>
          <a:prstGeom prst="rect">
            <a:avLst/>
          </a:prstGeom>
        </p:spPr>
      </p:pic>
      <p:sp>
        <p:nvSpPr>
          <p:cNvPr id="3" name="TextBox 2">
            <a:extLst>
              <a:ext uri="{FF2B5EF4-FFF2-40B4-BE49-F238E27FC236}">
                <a16:creationId xmlns:a16="http://schemas.microsoft.com/office/drawing/2014/main" id="{616EA889-B8C9-1B71-E1C5-FE61FAB6BB59}"/>
              </a:ext>
            </a:extLst>
          </p:cNvPr>
          <p:cNvSpPr txBox="1"/>
          <p:nvPr/>
        </p:nvSpPr>
        <p:spPr>
          <a:xfrm>
            <a:off x="711202" y="6181045"/>
            <a:ext cx="10769601" cy="370248"/>
          </a:xfrm>
          <a:prstGeom prst="rect">
            <a:avLst/>
          </a:prstGeom>
          <a:noFill/>
        </p:spPr>
        <p:txBody>
          <a:bodyPr wrap="square" lIns="91440" tIns="45720" rIns="91440" bIns="45720" rtlCol="0" anchor="t">
            <a:spAutoFit/>
          </a:bodyPr>
          <a:lstStyle/>
          <a:p>
            <a:pPr algn="ctr"/>
            <a:r>
              <a:rPr lang="en-US" b="1" i="1">
                <a:solidFill>
                  <a:schemeClr val="accent1"/>
                </a:solidFill>
                <a:latin typeface="Arial"/>
                <a:cs typeface="Arial"/>
              </a:rPr>
              <a:t>V26.0</a:t>
            </a:r>
            <a:r>
              <a:rPr lang="en-US" i="1">
                <a:solidFill>
                  <a:schemeClr val="accent1"/>
                </a:solidFill>
                <a:latin typeface="Arial"/>
                <a:cs typeface="Arial"/>
              </a:rPr>
              <a:t>  Delete this slide before finalizing your presentation.</a:t>
            </a:r>
          </a:p>
        </p:txBody>
      </p:sp>
    </p:spTree>
    <p:extLst>
      <p:ext uri="{BB962C8B-B14F-4D97-AF65-F5344CB8AC3E}">
        <p14:creationId xmlns:p14="http://schemas.microsoft.com/office/powerpoint/2010/main" val="105934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spTree>
    <p:extLst>
      <p:ext uri="{BB962C8B-B14F-4D97-AF65-F5344CB8AC3E}">
        <p14:creationId xmlns:p14="http://schemas.microsoft.com/office/powerpoint/2010/main" val="2784395857"/>
      </p:ext>
    </p:extLst>
  </p:cSld>
  <p:clrMapOvr>
    <a:masterClrMapping/>
  </p:clrMapOvr>
</p:sld>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 id="{59CF0C3A-1374-FF4F-BC13-83D96775E065}" vid="{E2E3060B-D3CD-9E44-A667-975AC4DDCA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8BDF109259C3742B70118398EA662DF" ma:contentTypeVersion="4" ma:contentTypeDescription="Create a new document." ma:contentTypeScope="" ma:versionID="685566423c5dd230aba5d55ba4d04239">
  <xsd:schema xmlns:xsd="http://www.w3.org/2001/XMLSchema" xmlns:xs="http://www.w3.org/2001/XMLSchema" xmlns:p="http://schemas.microsoft.com/office/2006/metadata/properties" xmlns:ns2="c0427815-c159-405c-a9c3-9204bd95a48e" targetNamespace="http://schemas.microsoft.com/office/2006/metadata/properties" ma:root="true" ma:fieldsID="db0a9b8f4106c642c10fea28b3543bf4" ns2:_="">
    <xsd:import namespace="c0427815-c159-405c-a9c3-9204bd95a48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27815-c159-405c-a9c3-9204bd95a4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B851B7-D313-4E85-A1E0-5976CFE11EC3}">
  <ds:schemaRefs>
    <ds:schemaRef ds:uri="http://schemas.microsoft.com/office/2006/metadata/properties"/>
    <ds:schemaRef ds:uri="http://schemas.microsoft.com/sharepoint/v3"/>
    <ds:schemaRef ds:uri="a70944c9-f5be-4b0f-89c7-00caf47c665c"/>
    <ds:schemaRef ds:uri="http://purl.org/dc/dcmitype/"/>
    <ds:schemaRef ds:uri="http://www.w3.org/XML/1998/namespace"/>
    <ds:schemaRef ds:uri="19f94994-4311-4823-a682-47492cb9e3e3"/>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3B61DF2E-245C-45DF-A9A5-EABECEA4295F}">
  <ds:schemaRefs>
    <ds:schemaRef ds:uri="http://schemas.microsoft.com/sharepoint/v3/contenttype/forms"/>
  </ds:schemaRefs>
</ds:datastoreItem>
</file>

<file path=customXml/itemProps3.xml><?xml version="1.0" encoding="utf-8"?>
<ds:datastoreItem xmlns:ds="http://schemas.openxmlformats.org/officeDocument/2006/customXml" ds:itemID="{A130D810-BCBB-473F-88F7-D071E062A6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427815-c159-405c-a9c3-9204bd95a4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9dd3a11-4348-4468-9bdd-e5072b1dc1e6}" enabled="0" method="" siteId="{99dd3a11-4348-4468-9bdd-e5072b1dc1e6}" removed="1"/>
</clbl:labelList>
</file>

<file path=docProps/app.xml><?xml version="1.0" encoding="utf-8"?>
<Properties xmlns="http://schemas.openxmlformats.org/officeDocument/2006/extended-properties" xmlns:vt="http://schemas.openxmlformats.org/officeDocument/2006/docPropsVTypes">
  <Template>MathWorks Public PowerPoint Template</Template>
  <TotalTime>0</TotalTime>
  <Words>668</Words>
  <Application>Microsoft Office PowerPoint</Application>
  <PresentationFormat>Widescreen</PresentationFormat>
  <Paragraphs>80</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Courier New</vt:lpstr>
      <vt:lpstr>Roboto</vt:lpstr>
      <vt:lpstr>Wingdings</vt:lpstr>
      <vt:lpstr>MW_Public_widescreen</vt:lpstr>
      <vt:lpstr>Presentation Title</vt:lpstr>
      <vt:lpstr>PowerPoint Resources</vt:lpstr>
      <vt:lpstr>Image Resources</vt:lpstr>
      <vt:lpstr>Image Resources</vt:lpstr>
      <vt:lpstr>Using the Corporate Template</vt:lpstr>
      <vt:lpstr>Color Palette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Li Dang</dc:creator>
  <cp:keywords>Version 26.0</cp:keywords>
  <dc:description/>
  <cp:lastModifiedBy>Li Dang</cp:lastModifiedBy>
  <cp:revision>1</cp:revision>
  <dcterms:created xsi:type="dcterms:W3CDTF">2026-08-04T16:11:18Z</dcterms:created>
  <dcterms:modified xsi:type="dcterms:W3CDTF">2026-08-04T16:11:35Z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0x010100E8BDF109259C3742B70118398EA662DF</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