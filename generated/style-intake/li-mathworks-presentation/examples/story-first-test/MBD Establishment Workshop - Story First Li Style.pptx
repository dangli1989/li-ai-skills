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56"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400"/>
    <a:srgbClr val="228B22"/>
    <a:srgbClr val="A020F6"/>
    <a:srgbClr val="0000FF"/>
    <a:srgbClr val="636569"/>
    <a:srgbClr val="715091"/>
    <a:srgbClr val="176DAD"/>
    <a:srgbClr val="0D78C9"/>
    <a:srgbClr val="024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859AEF-BE5F-6B44-BE28-ACB051E382BC}" v="1" dt="2026-01-27T19:39:12.182"/>
    <p1510:client id="{A7BCD7BE-C29E-4AD9-0A12-23C04ACBF4B2}" v="30" dt="2026-01-27T19:36:21.7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0981" autoAdjust="0"/>
  </p:normalViewPr>
  <p:slideViewPr>
    <p:cSldViewPr snapToGrid="0">
      <p:cViewPr varScale="1">
        <p:scale>
          <a:sx n="146" d="100"/>
          <a:sy n="146" d="100"/>
        </p:scale>
        <p:origin x="560" y="72"/>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8/5/2026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8/5/2026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Set the story around artifact-driven decisions instead of a list of topics.</a:t>
            </a:r>
          </a:p>
          <a:p>
            <a:r>
              <a:rPr lang="en-US"/>
              <a:t>Talk track: We start with the problem: the usual conversion checklist sounds reasonable, but it does not tell us what to do with real project constraints. The rest of the workshop shows how source code, architecture, workflow, and test evidence drive the conversion decisions.</a:t>
            </a:r>
          </a:p>
          <a:p>
            <a:r>
              <a:rPr lang="en-US"/>
              <a:t>Builds:</a:t>
            </a:r>
          </a:p>
          <a:p>
            <a:r>
              <a:rPr lang="en-US"/>
              <a:t>- Reveal the four agenda points in order.</a:t>
            </a:r>
          </a:p>
        </p:txBody>
      </p:sp>
      <p:sp>
        <p:nvSpPr>
          <p:cNvPr id="4" name="Slide Number Placeholder 3"/>
          <p:cNvSpPr>
            <a:spLocks noGrp="1"/>
          </p:cNvSpPr>
          <p:nvPr>
            <p:ph type="sldNum" sz="quarter" idx="5"/>
          </p:nvPr>
        </p:nvSpPr>
        <p:spPr/>
        <p:txBody>
          <a:bodyPr/>
          <a:lstStyle/>
          <a:p>
            <a:fld id="{AD73B8C3-A209-4A55-9261-22C2A02B3159}" type="slidenum">
              <a:rPr lang="en-US" smtClean="0"/>
              <a:pPr/>
              <a:t>2</a:t>
            </a:fld>
            <a:endParaRPr lang="en-US"/>
          </a:p>
        </p:txBody>
      </p:sp>
    </p:spTree>
    <p:extLst>
      <p:ext uri="{BB962C8B-B14F-4D97-AF65-F5344CB8AC3E}">
        <p14:creationId xmlns:p14="http://schemas.microsoft.com/office/powerpoint/2010/main" val="333252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Define the training rhythm without declaring a deck-wide color legend that is not needed.</a:t>
            </a:r>
          </a:p>
          <a:p>
            <a:r>
              <a:rPr lang="en-US"/>
              <a:t>Talk track: The workshop works because every idea is connected to a project artifact. When we introduce a method, we immediately show the evidence that justifies it and the model action that follows.</a:t>
            </a:r>
          </a:p>
          <a:p>
            <a:r>
              <a:rPr lang="en-US"/>
              <a:t>Builds:</a:t>
            </a:r>
          </a:p>
          <a:p>
            <a:r>
              <a:rPr lang="en-US"/>
              <a:t>- Show method first.</a:t>
            </a:r>
          </a:p>
          <a:p>
            <a:r>
              <a:rPr lang="en-US"/>
              <a:t>- Reveal evidence, modeling action, and practice as the instructional rhythm.</a:t>
            </a:r>
          </a:p>
        </p:txBody>
      </p:sp>
      <p:sp>
        <p:nvSpPr>
          <p:cNvPr id="4" name="Slide Number Placeholder 3"/>
          <p:cNvSpPr>
            <a:spLocks noGrp="1"/>
          </p:cNvSpPr>
          <p:nvPr>
            <p:ph type="sldNum" sz="quarter" idx="5"/>
          </p:nvPr>
        </p:nvSpPr>
        <p:spPr/>
        <p:txBody>
          <a:bodyPr/>
          <a:lstStyle/>
          <a:p>
            <a:fld id="{AD73B8C3-A209-4A55-9261-22C2A02B3159}" type="slidenum">
              <a:rPr lang="en-US" smtClean="0"/>
              <a:pPr/>
              <a:t>3</a:t>
            </a:fld>
            <a:endParaRPr lang="en-US"/>
          </a:p>
        </p:txBody>
      </p:sp>
    </p:spTree>
    <p:extLst>
      <p:ext uri="{BB962C8B-B14F-4D97-AF65-F5344CB8AC3E}">
        <p14:creationId xmlns:p14="http://schemas.microsoft.com/office/powerpoint/2010/main" val="3705329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Create the high-level mental model before showing detailed code evidence.</a:t>
            </a:r>
          </a:p>
          <a:p>
            <a:r>
              <a:rPr lang="en-US"/>
              <a:t>Talk track: This is the target pattern we want the audience to remember. Scope decides what is in or out. Architecture turns boundaries into System Composer structure. Behavior becomes Simulink implementation. Requirements and tests make the result reviewable.</a:t>
            </a:r>
          </a:p>
          <a:p>
            <a:r>
              <a:rPr lang="en-US"/>
              <a:t>Builds:</a:t>
            </a:r>
          </a:p>
          <a:p>
            <a:r>
              <a:rPr lang="en-US"/>
              <a:t>- Reveal the path from scope to tests.</a:t>
            </a:r>
          </a:p>
          <a:p>
            <a:r>
              <a:rPr lang="en-US"/>
              <a:t>- Reveal tool labels with each phase.</a:t>
            </a:r>
          </a:p>
          <a:p>
            <a:r>
              <a:rPr lang="en-US"/>
              <a:t>- Reveal the artifact and repeatability callouts.</a:t>
            </a:r>
          </a:p>
        </p:txBody>
      </p:sp>
      <p:sp>
        <p:nvSpPr>
          <p:cNvPr id="4" name="Slide Number Placeholder 3"/>
          <p:cNvSpPr>
            <a:spLocks noGrp="1"/>
          </p:cNvSpPr>
          <p:nvPr>
            <p:ph type="sldNum" sz="quarter" idx="5"/>
          </p:nvPr>
        </p:nvSpPr>
        <p:spPr/>
        <p:txBody>
          <a:bodyPr/>
          <a:lstStyle/>
          <a:p>
            <a:fld id="{AD73B8C3-A209-4A55-9261-22C2A02B3159}" type="slidenum">
              <a:rPr lang="en-US" smtClean="0"/>
              <a:pPr/>
              <a:t>4</a:t>
            </a:fld>
            <a:endParaRPr lang="en-US"/>
          </a:p>
        </p:txBody>
      </p:sp>
    </p:spTree>
    <p:extLst>
      <p:ext uri="{BB962C8B-B14F-4D97-AF65-F5344CB8AC3E}">
        <p14:creationId xmlns:p14="http://schemas.microsoft.com/office/powerpoint/2010/main" val="2517877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Turn the early source-slide question into a visual risk argument.</a:t>
            </a:r>
          </a:p>
          <a:p>
            <a:r>
              <a:rPr lang="en-US"/>
              <a:t>Talk track: The first teaching point is that a checklist does not produce a useful model by itself. Each step depends on specific input evidence. If the evidence is missing, the model is either blocked or built at the wrong level of abstraction.</a:t>
            </a:r>
          </a:p>
          <a:p>
            <a:r>
              <a:rPr lang="en-US"/>
              <a:t>Builds:</a:t>
            </a:r>
          </a:p>
          <a:p>
            <a:r>
              <a:rPr lang="en-US"/>
              <a:t>- Reveal the generic steps.</a:t>
            </a:r>
          </a:p>
          <a:p>
            <a:r>
              <a:rPr lang="en-US"/>
              <a:t>- Add state labels to show why each step is not actionable yet.</a:t>
            </a:r>
          </a:p>
        </p:txBody>
      </p:sp>
      <p:sp>
        <p:nvSpPr>
          <p:cNvPr id="4" name="Slide Number Placeholder 3"/>
          <p:cNvSpPr>
            <a:spLocks noGrp="1"/>
          </p:cNvSpPr>
          <p:nvPr>
            <p:ph type="sldNum" sz="quarter" idx="5"/>
          </p:nvPr>
        </p:nvSpPr>
        <p:spPr/>
        <p:txBody>
          <a:bodyPr/>
          <a:lstStyle/>
          <a:p>
            <a:fld id="{AD73B8C3-A209-4A55-9261-22C2A02B3159}" type="slidenum">
              <a:rPr lang="en-US" smtClean="0"/>
              <a:pPr/>
              <a:t>5</a:t>
            </a:fld>
            <a:endParaRPr lang="en-US"/>
          </a:p>
        </p:txBody>
      </p:sp>
    </p:spTree>
    <p:extLst>
      <p:ext uri="{BB962C8B-B14F-4D97-AF65-F5344CB8AC3E}">
        <p14:creationId xmlns:p14="http://schemas.microsoft.com/office/powerpoint/2010/main" val="3336812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Show the replacement process that makes conversion actionable.</a:t>
            </a:r>
          </a:p>
          <a:p>
            <a:r>
              <a:rPr lang="en-US"/>
              <a:t>Talk track: The workshop solves the problem by changing the order. We do not model first. We define the scope, analyze the workflow, inspect code artifacts, then create architecture and tests from evidence.</a:t>
            </a:r>
          </a:p>
          <a:p>
            <a:r>
              <a:rPr lang="en-US"/>
              <a:t>Builds:</a:t>
            </a:r>
          </a:p>
          <a:p>
            <a:r>
              <a:rPr lang="en-US"/>
              <a:t>- Reveal scope and workflow.</a:t>
            </a:r>
          </a:p>
          <a:p>
            <a:r>
              <a:rPr lang="en-US"/>
              <a:t>- Reveal code artifacts as the bridge to modeling.</a:t>
            </a:r>
          </a:p>
          <a:p>
            <a:r>
              <a:rPr lang="en-US"/>
              <a:t>- Reveal architecture, testing, and next steps.</a:t>
            </a:r>
          </a:p>
        </p:txBody>
      </p:sp>
      <p:sp>
        <p:nvSpPr>
          <p:cNvPr id="4" name="Slide Number Placeholder 3"/>
          <p:cNvSpPr>
            <a:spLocks noGrp="1"/>
          </p:cNvSpPr>
          <p:nvPr>
            <p:ph type="sldNum" sz="quarter" idx="5"/>
          </p:nvPr>
        </p:nvSpPr>
        <p:spPr/>
        <p:txBody>
          <a:bodyPr/>
          <a:lstStyle/>
          <a:p>
            <a:fld id="{AD73B8C3-A209-4A55-9261-22C2A02B3159}" type="slidenum">
              <a:rPr lang="en-US" smtClean="0"/>
              <a:pPr/>
              <a:t>6</a:t>
            </a:fld>
            <a:endParaRPr lang="en-US"/>
          </a:p>
        </p:txBody>
      </p:sp>
    </p:spTree>
    <p:extLst>
      <p:ext uri="{BB962C8B-B14F-4D97-AF65-F5344CB8AC3E}">
        <p14:creationId xmlns:p14="http://schemas.microsoft.com/office/powerpoint/2010/main" val="373640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Use a concrete code artifact so the workshop does not remain abstract.</a:t>
            </a:r>
          </a:p>
          <a:p>
            <a:r>
              <a:rPr lang="en-US"/>
              <a:t>Talk track: This code excerpt is useful because it shows several modeling decisions at once. The function sequence suggests behavior boundaries. The RTDB access suggests interfaces. The status bit assignment suggests requirements and test observations.</a:t>
            </a:r>
          </a:p>
          <a:p>
            <a:r>
              <a:rPr lang="en-US"/>
              <a:t>Builds:</a:t>
            </a:r>
          </a:p>
          <a:p>
            <a:r>
              <a:rPr lang="en-US"/>
              <a:t>- Show the code excerpt first.</a:t>
            </a:r>
          </a:p>
          <a:p>
            <a:r>
              <a:rPr lang="en-US"/>
              <a:t>- Reveal each callout as a modeling decision.</a:t>
            </a:r>
          </a:p>
        </p:txBody>
      </p:sp>
      <p:sp>
        <p:nvSpPr>
          <p:cNvPr id="4" name="Slide Number Placeholder 3"/>
          <p:cNvSpPr>
            <a:spLocks noGrp="1"/>
          </p:cNvSpPr>
          <p:nvPr>
            <p:ph type="sldNum" sz="quarter" idx="5"/>
          </p:nvPr>
        </p:nvSpPr>
        <p:spPr/>
        <p:txBody>
          <a:bodyPr/>
          <a:lstStyle/>
          <a:p>
            <a:fld id="{AD73B8C3-A209-4A55-9261-22C2A02B3159}" type="slidenum">
              <a:rPr lang="en-US" smtClean="0"/>
              <a:pPr/>
              <a:t>7</a:t>
            </a:fld>
            <a:endParaRPr lang="en-US"/>
          </a:p>
        </p:txBody>
      </p:sp>
    </p:spTree>
    <p:extLst>
      <p:ext uri="{BB962C8B-B14F-4D97-AF65-F5344CB8AC3E}">
        <p14:creationId xmlns:p14="http://schemas.microsoft.com/office/powerpoint/2010/main" val="327405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Demonstrate the concept-plus-artifact pattern from the MBSE/training corpus.</a:t>
            </a:r>
          </a:p>
          <a:p>
            <a:r>
              <a:rPr lang="en-US"/>
              <a:t>Talk track: The data-definition slide turns source code into an interface contract. The point is not to paste every typedef. The point is to decide what the model owns, what it exposes, and what tests need to observe.</a:t>
            </a:r>
          </a:p>
          <a:p>
            <a:r>
              <a:rPr lang="en-US"/>
              <a:t>Builds:</a:t>
            </a:r>
          </a:p>
          <a:p>
            <a:r>
              <a:rPr lang="en-US"/>
              <a:t>- Reveal the three concept cards.</a:t>
            </a:r>
          </a:p>
          <a:p>
            <a:r>
              <a:rPr lang="en-US"/>
              <a:t>- Reveal the artifact placeholder and the own/expose/verify callouts.</a:t>
            </a:r>
          </a:p>
        </p:txBody>
      </p:sp>
      <p:sp>
        <p:nvSpPr>
          <p:cNvPr id="4" name="Slide Number Placeholder 3"/>
          <p:cNvSpPr>
            <a:spLocks noGrp="1"/>
          </p:cNvSpPr>
          <p:nvPr>
            <p:ph type="sldNum" sz="quarter" idx="5"/>
          </p:nvPr>
        </p:nvSpPr>
        <p:spPr/>
        <p:txBody>
          <a:bodyPr/>
          <a:lstStyle/>
          <a:p>
            <a:fld id="{AD73B8C3-A209-4A55-9261-22C2A02B3159}" type="slidenum">
              <a:rPr lang="en-US" smtClean="0"/>
              <a:pPr/>
              <a:t>8</a:t>
            </a:fld>
            <a:endParaRPr lang="en-US"/>
          </a:p>
        </p:txBody>
      </p:sp>
    </p:spTree>
    <p:extLst>
      <p:ext uri="{BB962C8B-B14F-4D97-AF65-F5344CB8AC3E}">
        <p14:creationId xmlns:p14="http://schemas.microsoft.com/office/powerpoint/2010/main" val="1459426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Provide a repeatable review scaffold that can be reused in future customer workshops.</a:t>
            </a:r>
          </a:p>
          <a:p>
            <a:r>
              <a:rPr lang="en-US"/>
              <a:t>Talk track: This map is the reusable working view. Every artifact has to answer a decision question. If an artifact does not answer a decision, it belongs in backup material, not the main workflow.</a:t>
            </a:r>
          </a:p>
          <a:p>
            <a:r>
              <a:rPr lang="en-US"/>
              <a:t>Builds:</a:t>
            </a:r>
          </a:p>
          <a:p>
            <a:r>
              <a:rPr lang="en-US"/>
              <a:t>- Reveal the first three source-side artifacts.</a:t>
            </a:r>
          </a:p>
          <a:p>
            <a:r>
              <a:rPr lang="en-US"/>
              <a:t>- Reveal architecture, tests, and gaps as the target-side decisions.</a:t>
            </a:r>
          </a:p>
        </p:txBody>
      </p:sp>
      <p:sp>
        <p:nvSpPr>
          <p:cNvPr id="4" name="Slide Number Placeholder 3"/>
          <p:cNvSpPr>
            <a:spLocks noGrp="1"/>
          </p:cNvSpPr>
          <p:nvPr>
            <p:ph type="sldNum" sz="quarter" idx="5"/>
          </p:nvPr>
        </p:nvSpPr>
        <p:spPr/>
        <p:txBody>
          <a:bodyPr/>
          <a:lstStyle/>
          <a:p>
            <a:fld id="{AD73B8C3-A209-4A55-9261-22C2A02B3159}" type="slidenum">
              <a:rPr lang="en-US" smtClean="0"/>
              <a:pPr/>
              <a:t>9</a:t>
            </a:fld>
            <a:endParaRPr lang="en-US"/>
          </a:p>
        </p:txBody>
      </p:sp>
    </p:spTree>
    <p:extLst>
      <p:ext uri="{BB962C8B-B14F-4D97-AF65-F5344CB8AC3E}">
        <p14:creationId xmlns:p14="http://schemas.microsoft.com/office/powerpoint/2010/main" val="2747264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Teach best practice for sequencing System Composer work in an MBD establishment service.</a:t>
            </a:r>
          </a:p>
          <a:p>
            <a:r>
              <a:rPr lang="en-US"/>
              <a:t>Talk track: System Composer is most effective after the team understands the source evidence. We use code and workflow analysis to decide components and interfaces, then move behavior into Simulink and verification into tests.</a:t>
            </a:r>
          </a:p>
          <a:p>
            <a:r>
              <a:rPr lang="en-US"/>
              <a:t>Builds:</a:t>
            </a:r>
          </a:p>
          <a:p>
            <a:r>
              <a:rPr lang="en-US"/>
              <a:t>- Reveal source functions and System Composer components.</a:t>
            </a:r>
          </a:p>
          <a:p>
            <a:r>
              <a:rPr lang="en-US"/>
              <a:t>- Reveal interfaces, behavior, and test evidence.</a:t>
            </a:r>
          </a:p>
        </p:txBody>
      </p:sp>
      <p:sp>
        <p:nvSpPr>
          <p:cNvPr id="4" name="Slide Number Placeholder 3"/>
          <p:cNvSpPr>
            <a:spLocks noGrp="1"/>
          </p:cNvSpPr>
          <p:nvPr>
            <p:ph type="sldNum" sz="quarter" idx="5"/>
          </p:nvPr>
        </p:nvSpPr>
        <p:spPr/>
        <p:txBody>
          <a:bodyPr/>
          <a:lstStyle/>
          <a:p>
            <a:fld id="{AD73B8C3-A209-4A55-9261-22C2A02B3159}" type="slidenum">
              <a:rPr lang="en-US" smtClean="0"/>
              <a:pPr/>
              <a:t>10</a:t>
            </a:fld>
            <a:endParaRPr lang="en-US"/>
          </a:p>
        </p:txBody>
      </p:sp>
    </p:spTree>
    <p:extLst>
      <p:ext uri="{BB962C8B-B14F-4D97-AF65-F5344CB8AC3E}">
        <p14:creationId xmlns:p14="http://schemas.microsoft.com/office/powerpoint/2010/main" val="2196363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Replace a plain text table with a status-driven decision table.</a:t>
            </a:r>
          </a:p>
          <a:p>
            <a:r>
              <a:rPr lang="en-US"/>
              <a:t>Talk track: This table is intentionally not just a list. It shows the decision, the evidence supporting it, whether the decision is validated, and the next action. That makes the slide useful even when someone reads it later.</a:t>
            </a:r>
          </a:p>
          <a:p>
            <a:r>
              <a:rPr lang="en-US"/>
              <a:t>Builds:</a:t>
            </a:r>
          </a:p>
          <a:p>
            <a:r>
              <a:rPr lang="en-US"/>
              <a:t>- Reveal the decision table.</a:t>
            </a:r>
          </a:p>
          <a:p>
            <a:r>
              <a:rPr lang="en-US"/>
              <a:t>- Call attention to status and next-action columns.</a:t>
            </a:r>
          </a:p>
        </p:txBody>
      </p:sp>
      <p:sp>
        <p:nvSpPr>
          <p:cNvPr id="4" name="Slide Number Placeholder 3"/>
          <p:cNvSpPr>
            <a:spLocks noGrp="1"/>
          </p:cNvSpPr>
          <p:nvPr>
            <p:ph type="sldNum" sz="quarter" idx="5"/>
          </p:nvPr>
        </p:nvSpPr>
        <p:spPr/>
        <p:txBody>
          <a:bodyPr/>
          <a:lstStyle/>
          <a:p>
            <a:fld id="{AD73B8C3-A209-4A55-9261-22C2A02B3159}" type="slidenum">
              <a:rPr lang="en-US" smtClean="0"/>
              <a:pPr/>
              <a:t>11</a:t>
            </a:fld>
            <a:endParaRPr lang="en-US"/>
          </a:p>
        </p:txBody>
      </p:sp>
    </p:spTree>
    <p:extLst>
      <p:ext uri="{BB962C8B-B14F-4D97-AF65-F5344CB8AC3E}">
        <p14:creationId xmlns:p14="http://schemas.microsoft.com/office/powerpoint/2010/main" val="3544339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Turn the workshop story into an action the audience can practice.</a:t>
            </a:r>
          </a:p>
          <a:p>
            <a:r>
              <a:rPr lang="en-US"/>
              <a:t>Talk track: The exercise uses one representative component. The audience starts with source evidence, drafts the modeling boundary, and ends by defining what would prove the conversion is correct.</a:t>
            </a:r>
          </a:p>
          <a:p>
            <a:r>
              <a:rPr lang="en-US"/>
              <a:t>Builds:</a:t>
            </a:r>
          </a:p>
          <a:p>
            <a:r>
              <a:rPr lang="en-US"/>
              <a:t>- Reveal Start, Build, and Check as a three-step exercise.</a:t>
            </a:r>
          </a:p>
        </p:txBody>
      </p:sp>
      <p:sp>
        <p:nvSpPr>
          <p:cNvPr id="4" name="Slide Number Placeholder 3"/>
          <p:cNvSpPr>
            <a:spLocks noGrp="1"/>
          </p:cNvSpPr>
          <p:nvPr>
            <p:ph type="sldNum" sz="quarter" idx="5"/>
          </p:nvPr>
        </p:nvSpPr>
        <p:spPr/>
        <p:txBody>
          <a:bodyPr/>
          <a:lstStyle/>
          <a:p>
            <a:fld id="{AD73B8C3-A209-4A55-9261-22C2A02B3159}" type="slidenum">
              <a:rPr lang="en-US" smtClean="0"/>
              <a:pPr/>
              <a:t>12</a:t>
            </a:fld>
            <a:endParaRPr lang="en-US"/>
          </a:p>
        </p:txBody>
      </p:sp>
    </p:spTree>
    <p:extLst>
      <p:ext uri="{BB962C8B-B14F-4D97-AF65-F5344CB8AC3E}">
        <p14:creationId xmlns:p14="http://schemas.microsoft.com/office/powerpoint/2010/main" val="4234159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Close the training loop with a memorable reusable method.</a:t>
            </a:r>
          </a:p>
          <a:p>
            <a:r>
              <a:rPr lang="en-US"/>
              <a:t>Talk track: The reusable pattern is evidence first, architecture second, behavior third, verification always. Missing information is not ignored; it is tracked as a project gap.</a:t>
            </a:r>
          </a:p>
          <a:p>
            <a:r>
              <a:rPr lang="en-US"/>
              <a:t>Builds:</a:t>
            </a:r>
          </a:p>
          <a:p>
            <a:r>
              <a:rPr lang="en-US"/>
              <a:t>- Reveal the four takeaways in order.</a:t>
            </a:r>
          </a:p>
        </p:txBody>
      </p:sp>
      <p:sp>
        <p:nvSpPr>
          <p:cNvPr id="4" name="Slide Number Placeholder 3"/>
          <p:cNvSpPr>
            <a:spLocks noGrp="1"/>
          </p:cNvSpPr>
          <p:nvPr>
            <p:ph type="sldNum" sz="quarter" idx="5"/>
          </p:nvPr>
        </p:nvSpPr>
        <p:spPr/>
        <p:txBody>
          <a:bodyPr/>
          <a:lstStyle/>
          <a:p>
            <a:fld id="{AD73B8C3-A209-4A55-9261-22C2A02B3159}" type="slidenum">
              <a:rPr lang="en-US" smtClean="0"/>
              <a:pPr/>
              <a:t>13</a:t>
            </a:fld>
            <a:endParaRPr lang="en-US"/>
          </a:p>
        </p:txBody>
      </p:sp>
    </p:spTree>
    <p:extLst>
      <p:ext uri="{BB962C8B-B14F-4D97-AF65-F5344CB8AC3E}">
        <p14:creationId xmlns:p14="http://schemas.microsoft.com/office/powerpoint/2010/main" val="3114017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 Preserve the source deck's closing intent while making ownership and next action readable.</a:t>
            </a:r>
          </a:p>
          <a:p>
            <a:r>
              <a:rPr lang="en-US"/>
              <a:t>Talk track: The close should make ownership clear. MathWorks packages the reusable method and demo assets. The customer team provides project-safe evidence. Together, the next step is to run one component through the full workflow.</a:t>
            </a:r>
          </a:p>
          <a:p>
            <a:r>
              <a:rPr lang="en-US"/>
              <a:t>Builds:</a:t>
            </a:r>
          </a:p>
          <a:p>
            <a:r>
              <a:rPr lang="en-US"/>
              <a:t>- Reveal owner rows.</a:t>
            </a:r>
          </a:p>
          <a:p>
            <a:r>
              <a:rPr lang="en-US"/>
              <a:t>- End on the joint next step.</a:t>
            </a:r>
          </a:p>
        </p:txBody>
      </p:sp>
      <p:sp>
        <p:nvSpPr>
          <p:cNvPr id="4" name="Slide Number Placeholder 3"/>
          <p:cNvSpPr>
            <a:spLocks noGrp="1"/>
          </p:cNvSpPr>
          <p:nvPr>
            <p:ph type="sldNum" sz="quarter" idx="5"/>
          </p:nvPr>
        </p:nvSpPr>
        <p:spPr/>
        <p:txBody>
          <a:bodyPr/>
          <a:lstStyle/>
          <a:p>
            <a:fld id="{AD73B8C3-A209-4A55-9261-22C2A02B3159}" type="slidenum">
              <a:rPr lang="en-US" smtClean="0"/>
              <a:pPr/>
              <a:t>14</a:t>
            </a:fld>
            <a:endParaRPr lang="en-US"/>
          </a:p>
        </p:txBody>
      </p:sp>
    </p:spTree>
    <p:extLst>
      <p:ext uri="{BB962C8B-B14F-4D97-AF65-F5344CB8AC3E}">
        <p14:creationId xmlns:p14="http://schemas.microsoft.com/office/powerpoint/2010/main" val="14773934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7A5DCF06-F24C-994E-9BEC-4325F534396F}"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EB9EFC4-0C07-55BB-43CB-CF359DD0F884}"/>
              </a:ext>
            </a:extLst>
          </p:cNvPr>
          <p:cNvSpPr/>
          <p:nvPr userDrawn="1"/>
        </p:nvSpPr>
        <p:spPr>
          <a:xfrm>
            <a:off x="8602226" y="7193577"/>
            <a:ext cx="457200" cy="307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 name="Rectangle 27">
            <a:extLst>
              <a:ext uri="{FF2B5EF4-FFF2-40B4-BE49-F238E27FC236}">
                <a16:creationId xmlns:a16="http://schemas.microsoft.com/office/drawing/2014/main" id="{7B3DB00D-5816-CFD1-0B93-DB59CDCC6830}"/>
              </a:ext>
            </a:extLst>
          </p:cNvPr>
          <p:cNvSpPr/>
          <p:nvPr userDrawn="1"/>
        </p:nvSpPr>
        <p:spPr>
          <a:xfrm>
            <a:off x="9228741" y="7193577"/>
            <a:ext cx="457200" cy="30777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 name="Rectangle 28">
            <a:extLst>
              <a:ext uri="{FF2B5EF4-FFF2-40B4-BE49-F238E27FC236}">
                <a16:creationId xmlns:a16="http://schemas.microsoft.com/office/drawing/2014/main" id="{3F8C20EA-A0DE-590F-ED0A-9B58D0AA0727}"/>
              </a:ext>
            </a:extLst>
          </p:cNvPr>
          <p:cNvSpPr/>
          <p:nvPr userDrawn="1"/>
        </p:nvSpPr>
        <p:spPr>
          <a:xfrm>
            <a:off x="9855256" y="7193577"/>
            <a:ext cx="457200" cy="307778"/>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BF1CC28F-AE8F-3BCB-CD51-F835D2636E53}"/>
              </a:ext>
            </a:extLst>
          </p:cNvPr>
          <p:cNvSpPr/>
          <p:nvPr userDrawn="1"/>
        </p:nvSpPr>
        <p:spPr>
          <a:xfrm>
            <a:off x="10481771" y="7193577"/>
            <a:ext cx="457200" cy="307778"/>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Rectangle 30">
            <a:extLst>
              <a:ext uri="{FF2B5EF4-FFF2-40B4-BE49-F238E27FC236}">
                <a16:creationId xmlns:a16="http://schemas.microsoft.com/office/drawing/2014/main" id="{9D1263EC-582E-BD6D-287A-896C979249CB}"/>
              </a:ext>
            </a:extLst>
          </p:cNvPr>
          <p:cNvSpPr/>
          <p:nvPr userDrawn="1"/>
        </p:nvSpPr>
        <p:spPr>
          <a:xfrm>
            <a:off x="11108286" y="7193577"/>
            <a:ext cx="457200" cy="307778"/>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 name="Rectangle 31">
            <a:extLst>
              <a:ext uri="{FF2B5EF4-FFF2-40B4-BE49-F238E27FC236}">
                <a16:creationId xmlns:a16="http://schemas.microsoft.com/office/drawing/2014/main" id="{94CAE5B0-0532-2F09-B2A6-CFCE719D0E79}"/>
              </a:ext>
            </a:extLst>
          </p:cNvPr>
          <p:cNvSpPr/>
          <p:nvPr userDrawn="1"/>
        </p:nvSpPr>
        <p:spPr>
          <a:xfrm>
            <a:off x="11734800" y="7193577"/>
            <a:ext cx="457200" cy="3077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 name="Rectangle 32">
            <a:extLst>
              <a:ext uri="{FF2B5EF4-FFF2-40B4-BE49-F238E27FC236}">
                <a16:creationId xmlns:a16="http://schemas.microsoft.com/office/drawing/2014/main" id="{3DF609A0-6466-159F-722F-7772420CE816}"/>
              </a:ext>
            </a:extLst>
          </p:cNvPr>
          <p:cNvSpPr/>
          <p:nvPr userDrawn="1"/>
        </p:nvSpPr>
        <p:spPr>
          <a:xfrm>
            <a:off x="3218091" y="7193577"/>
            <a:ext cx="457200" cy="307778"/>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 name="Rectangle 33">
            <a:extLst>
              <a:ext uri="{FF2B5EF4-FFF2-40B4-BE49-F238E27FC236}">
                <a16:creationId xmlns:a16="http://schemas.microsoft.com/office/drawing/2014/main" id="{388A5942-0429-943A-EDB2-9216E3B66685}"/>
              </a:ext>
            </a:extLst>
          </p:cNvPr>
          <p:cNvSpPr/>
          <p:nvPr userDrawn="1"/>
        </p:nvSpPr>
        <p:spPr>
          <a:xfrm>
            <a:off x="3838830" y="7193577"/>
            <a:ext cx="457200" cy="307778"/>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 name="Rectangle 34">
            <a:extLst>
              <a:ext uri="{FF2B5EF4-FFF2-40B4-BE49-F238E27FC236}">
                <a16:creationId xmlns:a16="http://schemas.microsoft.com/office/drawing/2014/main" id="{159F8D8F-926E-44FF-B1C6-4B3AD85CB2EB}"/>
              </a:ext>
            </a:extLst>
          </p:cNvPr>
          <p:cNvSpPr/>
          <p:nvPr userDrawn="1"/>
        </p:nvSpPr>
        <p:spPr>
          <a:xfrm>
            <a:off x="4460475" y="7193577"/>
            <a:ext cx="457200" cy="307778"/>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 name="Rectangle 35">
            <a:extLst>
              <a:ext uri="{FF2B5EF4-FFF2-40B4-BE49-F238E27FC236}">
                <a16:creationId xmlns:a16="http://schemas.microsoft.com/office/drawing/2014/main" id="{3DC833EA-BA73-A76C-28B5-A7EC4E1EB56B}"/>
              </a:ext>
            </a:extLst>
          </p:cNvPr>
          <p:cNvSpPr/>
          <p:nvPr userDrawn="1"/>
        </p:nvSpPr>
        <p:spPr>
          <a:xfrm>
            <a:off x="5062152" y="7193577"/>
            <a:ext cx="457200" cy="307778"/>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 name="Rectangle 36">
            <a:extLst>
              <a:ext uri="{FF2B5EF4-FFF2-40B4-BE49-F238E27FC236}">
                <a16:creationId xmlns:a16="http://schemas.microsoft.com/office/drawing/2014/main" id="{28AEA155-1A64-2F59-16E0-F5213228F556}"/>
              </a:ext>
            </a:extLst>
          </p:cNvPr>
          <p:cNvSpPr/>
          <p:nvPr userDrawn="1"/>
        </p:nvSpPr>
        <p:spPr>
          <a:xfrm>
            <a:off x="5688910" y="7193577"/>
            <a:ext cx="457200" cy="307778"/>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Rectangle 37">
            <a:extLst>
              <a:ext uri="{FF2B5EF4-FFF2-40B4-BE49-F238E27FC236}">
                <a16:creationId xmlns:a16="http://schemas.microsoft.com/office/drawing/2014/main" id="{5D0BAB26-8A8A-324A-55BE-722CB3EB2D21}"/>
              </a:ext>
            </a:extLst>
          </p:cNvPr>
          <p:cNvSpPr/>
          <p:nvPr userDrawn="1"/>
        </p:nvSpPr>
        <p:spPr>
          <a:xfrm>
            <a:off x="6309649" y="7193577"/>
            <a:ext cx="457200" cy="307778"/>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 name="Rectangle 38">
            <a:extLst>
              <a:ext uri="{FF2B5EF4-FFF2-40B4-BE49-F238E27FC236}">
                <a16:creationId xmlns:a16="http://schemas.microsoft.com/office/drawing/2014/main" id="{A0097D47-C13A-B30B-A1CF-AB9FD34E9D73}"/>
              </a:ext>
            </a:extLst>
          </p:cNvPr>
          <p:cNvSpPr/>
          <p:nvPr userDrawn="1"/>
        </p:nvSpPr>
        <p:spPr>
          <a:xfrm>
            <a:off x="713498" y="7193577"/>
            <a:ext cx="457200" cy="3077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4153EDC8-5D9B-B284-2476-4EA57A468431}"/>
              </a:ext>
            </a:extLst>
          </p:cNvPr>
          <p:cNvSpPr/>
          <p:nvPr userDrawn="1"/>
        </p:nvSpPr>
        <p:spPr>
          <a:xfrm>
            <a:off x="1298456" y="7193577"/>
            <a:ext cx="457200" cy="3077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TextBox 40">
            <a:extLst>
              <a:ext uri="{FF2B5EF4-FFF2-40B4-BE49-F238E27FC236}">
                <a16:creationId xmlns:a16="http://schemas.microsoft.com/office/drawing/2014/main" id="{367B03DA-9367-DAD0-F282-7378EDBF9F34}"/>
              </a:ext>
            </a:extLst>
          </p:cNvPr>
          <p:cNvSpPr txBox="1"/>
          <p:nvPr userDrawn="1"/>
        </p:nvSpPr>
        <p:spPr>
          <a:xfrm>
            <a:off x="-31888" y="7162800"/>
            <a:ext cx="718688" cy="369332"/>
          </a:xfrm>
          <a:prstGeom prst="rect">
            <a:avLst/>
          </a:prstGeom>
          <a:noFill/>
        </p:spPr>
        <p:txBody>
          <a:bodyPr wrap="square" rtlCol="0">
            <a:spAutoFit/>
          </a:bodyPr>
          <a:lstStyle/>
          <a:p>
            <a:pPr algn="l"/>
            <a:r>
              <a:rPr lang="en-US" sz="900" b="1"/>
              <a:t>BRAND</a:t>
            </a:r>
            <a:br>
              <a:rPr lang="en-US" sz="900" b="1"/>
            </a:br>
            <a:r>
              <a:rPr lang="en-US" sz="900" b="1"/>
              <a:t>COLORS</a:t>
            </a:r>
          </a:p>
        </p:txBody>
      </p:sp>
      <p:sp>
        <p:nvSpPr>
          <p:cNvPr id="42" name="Rectangle 41">
            <a:extLst>
              <a:ext uri="{FF2B5EF4-FFF2-40B4-BE49-F238E27FC236}">
                <a16:creationId xmlns:a16="http://schemas.microsoft.com/office/drawing/2014/main" id="{B235FEAB-2B0C-D216-54C3-E5A79367A052}"/>
              </a:ext>
            </a:extLst>
          </p:cNvPr>
          <p:cNvSpPr/>
          <p:nvPr userDrawn="1"/>
        </p:nvSpPr>
        <p:spPr>
          <a:xfrm>
            <a:off x="2231608" y="7193577"/>
            <a:ext cx="457200" cy="3077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 name="TextBox 42">
            <a:extLst>
              <a:ext uri="{FF2B5EF4-FFF2-40B4-BE49-F238E27FC236}">
                <a16:creationId xmlns:a16="http://schemas.microsoft.com/office/drawing/2014/main" id="{9E936904-F50F-66D0-E43B-C55A578E8885}"/>
              </a:ext>
            </a:extLst>
          </p:cNvPr>
          <p:cNvSpPr txBox="1"/>
          <p:nvPr userDrawn="1"/>
        </p:nvSpPr>
        <p:spPr>
          <a:xfrm>
            <a:off x="7847405" y="7162800"/>
            <a:ext cx="718688" cy="369332"/>
          </a:xfrm>
          <a:prstGeom prst="rect">
            <a:avLst/>
          </a:prstGeom>
          <a:noFill/>
        </p:spPr>
        <p:txBody>
          <a:bodyPr wrap="square" rtlCol="0">
            <a:spAutoFit/>
          </a:bodyPr>
          <a:lstStyle/>
          <a:p>
            <a:pPr algn="l"/>
            <a:r>
              <a:rPr lang="en-US" sz="900" b="1"/>
              <a:t>CODE</a:t>
            </a:r>
            <a:br>
              <a:rPr lang="en-US" sz="900" b="1"/>
            </a:br>
            <a:r>
              <a:rPr lang="en-US" sz="900" b="1"/>
              <a:t>COLORS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lang="en-US"/>
              <a:t>MBD Establishment Workshop</a:t>
            </a:r>
          </a:p>
        </p:txBody>
      </p:sp>
      <p:sp>
        <p:nvSpPr>
          <p:cNvPr id="3" name="Subtitle 2"/>
          <p:cNvSpPr>
            <a:spLocks noGrp="1"/>
          </p:cNvSpPr>
          <p:nvPr>
            <p:ph type="subTitle" idx="1"/>
          </p:nvPr>
        </p:nvSpPr>
        <p:spPr>
          <a:xfrm>
            <a:off x="941717" y="3200400"/>
            <a:ext cx="10363200" cy="987425"/>
          </a:xfrm>
        </p:spPr>
        <p:txBody>
          <a:bodyPr wrap="square"/>
          <a:lstStyle/>
          <a:p>
            <a:r>
              <a:rPr lang="en-US"/>
              <a:t>A reusable workshop story for moving from hand code to model-based design</a:t>
            </a:r>
          </a:p>
        </p:txBody>
      </p:sp>
      <p:sp>
        <p:nvSpPr>
          <p:cNvPr id="4" name="Li_CoverAuthor_4" descr="LiPattern:CoverAuthor">
            <a:extLst>
              <a:ext uri="{FF2B5EF4-FFF2-40B4-BE49-F238E27FC236}">
                <a16:creationId xmlns:a16="http://schemas.microsoft.com/office/drawing/2014/main" id="{403E8B30-F41E-D53B-7085-07513BFE92B3}"/>
              </a:ext>
            </a:extLst>
          </p:cNvPr>
          <p:cNvSpPr txBox="1"/>
          <p:nvPr/>
        </p:nvSpPr>
        <p:spPr>
          <a:xfrm>
            <a:off x="914400" y="3810000"/>
            <a:ext cx="6604000" cy="223138"/>
          </a:xfrm>
          <a:prstGeom prst="rect">
            <a:avLst/>
          </a:prstGeom>
          <a:noFill/>
        </p:spPr>
        <p:txBody>
          <a:bodyPr vert="horz" wrap="square" lIns="0" tIns="0" rIns="0" bIns="0" rtlCol="0">
            <a:spAutoFit/>
          </a:bodyPr>
          <a:lstStyle/>
          <a:p>
            <a:r>
              <a:rPr lang="en-US" sz="1450">
                <a:solidFill>
                  <a:srgbClr val="1F1F1F"/>
                </a:solidFill>
                <a:latin typeface="Arial" panose="020B0604020202020204" pitchFamily="34" charset="0"/>
                <a:cs typeface="Arial" pitchFamily="34" charset="0"/>
              </a:rPr>
              <a:t>MathWorks Consulting</a:t>
            </a:r>
            <a:endParaRPr lang="en-US" sz="1450" dirty="0">
              <a:solidFill>
                <a:srgbClr val="1F1F1F"/>
              </a:solidFill>
              <a:latin typeface="Arial" panose="020B0604020202020204" pitchFamily="34" charset="0"/>
              <a:cs typeface="Arial" pitchFamily="34" charset="0"/>
            </a:endParaRPr>
          </a:p>
        </p:txBody>
      </p:sp>
      <p:sp>
        <p:nvSpPr>
          <p:cNvPr id="5" name="Li_CoverDate_5" descr="LiPattern:CoverDate">
            <a:extLst>
              <a:ext uri="{FF2B5EF4-FFF2-40B4-BE49-F238E27FC236}">
                <a16:creationId xmlns:a16="http://schemas.microsoft.com/office/drawing/2014/main" id="{3D698941-331D-41ED-E536-3DA5090EAA20}"/>
              </a:ext>
            </a:extLst>
          </p:cNvPr>
          <p:cNvSpPr txBox="1"/>
          <p:nvPr/>
        </p:nvSpPr>
        <p:spPr>
          <a:xfrm>
            <a:off x="914400" y="4102100"/>
            <a:ext cx="6604000" cy="176972"/>
          </a:xfrm>
          <a:prstGeom prst="rect">
            <a:avLst/>
          </a:prstGeom>
          <a:noFill/>
        </p:spPr>
        <p:txBody>
          <a:bodyPr vert="horz" wrap="square" lIns="0" tIns="0" rIns="0" bIns="0" rtlCol="0">
            <a:spAutoFit/>
          </a:bodyPr>
          <a:lstStyle/>
          <a:p>
            <a:r>
              <a:rPr lang="en-US" sz="1150">
                <a:solidFill>
                  <a:srgbClr val="636569"/>
                </a:solidFill>
                <a:latin typeface="Arial" panose="020B0604020202020204" pitchFamily="34" charset="0"/>
                <a:cs typeface="Arial" pitchFamily="34" charset="0"/>
              </a:rPr>
              <a:t>Story-first test output</a:t>
            </a:r>
            <a:endParaRPr lang="en-US" sz="1150" dirty="0">
              <a:solidFill>
                <a:srgbClr val="636569"/>
              </a:solidFill>
              <a:latin typeface="Arial" panose="020B0604020202020204"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44F9-60D7-BC7E-DB3D-53C6E1B6CF74}"/>
              </a:ext>
            </a:extLst>
          </p:cNvPr>
          <p:cNvSpPr>
            <a:spLocks noGrp="1"/>
          </p:cNvSpPr>
          <p:nvPr>
            <p:ph type="title"/>
          </p:nvPr>
        </p:nvSpPr>
        <p:spPr/>
        <p:txBody>
          <a:bodyPr wrap="square"/>
          <a:lstStyle/>
          <a:p>
            <a:r>
              <a:rPr lang="en-US"/>
              <a:t>The workshop has one through-line: turn code evidence into model decisions</a:t>
            </a:r>
          </a:p>
        </p:txBody>
      </p:sp>
      <p:sp>
        <p:nvSpPr>
          <p:cNvPr id="3" name="Content Placeholder 2">
            <a:extLst>
              <a:ext uri="{FF2B5EF4-FFF2-40B4-BE49-F238E27FC236}">
                <a16:creationId xmlns:a16="http://schemas.microsoft.com/office/drawing/2014/main" id="{61B82B18-D5F4-3A87-DEB2-DD688E3CF7E7}"/>
              </a:ext>
            </a:extLst>
          </p:cNvPr>
          <p:cNvSpPr>
            <a:spLocks noGrp="1"/>
          </p:cNvSpPr>
          <p:nvPr>
            <p:ph idx="1"/>
          </p:nvPr>
        </p:nvSpPr>
        <p:spPr/>
        <p:txBody>
          <a:bodyPr/>
          <a:lstStyle/>
          <a:p>
            <a:pPr marL="0" indent="0">
              <a:buNone/>
            </a:pPr>
            <a:r>
              <a:rPr lang="en-US" sz="1600">
                <a:solidFill>
                  <a:srgbClr val="636569"/>
                </a:solidFill>
              </a:rPr>
              <a:t>The conversion logic is visible before the presenter adds detail.</a:t>
            </a:r>
          </a:p>
          <a:p>
            <a:r>
              <a:rPr lang="en-US" sz="1800">
                <a:solidFill>
                  <a:srgbClr val="1F1F1F"/>
                </a:solidFill>
              </a:rPr>
              <a:t>Why generic MBD conversion steps are not enough</a:t>
            </a:r>
          </a:p>
          <a:p>
            <a:r>
              <a:rPr lang="en-US" sz="1800">
                <a:solidFill>
                  <a:srgbClr val="1F1F1F"/>
                </a:solidFill>
              </a:rPr>
              <a:t>How the workshop reads existing code and workflow evidence</a:t>
            </a:r>
          </a:p>
          <a:p>
            <a:r>
              <a:rPr lang="en-US" sz="1800">
                <a:solidFill>
                  <a:srgbClr val="1F1F1F"/>
                </a:solidFill>
              </a:rPr>
              <a:t>How System Composer and Simulink artifacts become the target design</a:t>
            </a:r>
          </a:p>
          <a:p>
            <a:r>
              <a:rPr lang="en-US" sz="1800">
                <a:solidFill>
                  <a:srgbClr val="1F1F1F"/>
                </a:solidFill>
              </a:rPr>
              <a:t>How testing and next steps make the workflow repeatable</a:t>
            </a:r>
          </a:p>
        </p:txBody>
      </p:sp>
    </p:spTree>
    <p:extLst>
      <p:ext uri="{BB962C8B-B14F-4D97-AF65-F5344CB8AC3E}">
        <p14:creationId xmlns:p14="http://schemas.microsoft.com/office/powerpoint/2010/main" val="18124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296-ECF5-13F3-A314-BA3295DF3FCB}"/>
              </a:ext>
            </a:extLst>
          </p:cNvPr>
          <p:cNvSpPr>
            <a:spLocks noGrp="1"/>
          </p:cNvSpPr>
          <p:nvPr>
            <p:ph type="title"/>
          </p:nvPr>
        </p:nvSpPr>
        <p:spPr/>
        <p:txBody>
          <a:bodyPr wrap="square"/>
          <a:lstStyle/>
          <a:p>
            <a:r>
              <a:rPr lang="en-US"/>
              <a:t>Workshop setup: every concept is tied to a concrete artifact</a:t>
            </a:r>
          </a:p>
        </p:txBody>
      </p:sp>
      <p:sp>
        <p:nvSpPr>
          <p:cNvPr id="4" name="Li_WhatToExpect_4" descr="LiPattern:WhatToExpect">
            <a:extLst>
              <a:ext uri="{FF2B5EF4-FFF2-40B4-BE49-F238E27FC236}">
                <a16:creationId xmlns:a16="http://schemas.microsoft.com/office/drawing/2014/main" id="{6E971977-F4F1-7D8A-3FB8-B0FE2DE79CEA}"/>
              </a:ext>
            </a:extLst>
          </p:cNvPr>
          <p:cNvSpPr/>
          <p:nvPr/>
        </p:nvSpPr>
        <p:spPr>
          <a:xfrm>
            <a:off x="685800" y="1524000"/>
            <a:ext cx="10795000" cy="4953000"/>
          </a:xfrm>
          <a:prstGeom prst="roundRect">
            <a:avLst/>
          </a:prstGeom>
          <a:solidFill>
            <a:srgbClr val="FFFFFF">
              <a:alpha val="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5" name="Li_WhatToExpect_5" descr="LiPattern:WhatToExpect">
            <a:extLst>
              <a:ext uri="{FF2B5EF4-FFF2-40B4-BE49-F238E27FC236}">
                <a16:creationId xmlns:a16="http://schemas.microsoft.com/office/drawing/2014/main" id="{5E529E8B-AF77-31C4-6648-D8DD85E2C1A1}"/>
              </a:ext>
            </a:extLst>
          </p:cNvPr>
          <p:cNvSpPr txBox="1"/>
          <p:nvPr/>
        </p:nvSpPr>
        <p:spPr>
          <a:xfrm>
            <a:off x="990600" y="1803400"/>
            <a:ext cx="10033000" cy="246221"/>
          </a:xfrm>
          <a:prstGeom prst="rect">
            <a:avLst/>
          </a:prstGeom>
          <a:noFill/>
        </p:spPr>
        <p:txBody>
          <a:bodyPr vert="horz" wrap="square" lIns="0" tIns="0" rIns="0" bIns="0" rtlCol="0">
            <a:spAutoFit/>
          </a:bodyPr>
          <a:lstStyle/>
          <a:p>
            <a:r>
              <a:rPr lang="en-US" sz="1600">
                <a:solidFill>
                  <a:srgbClr val="1F1F1F"/>
                </a:solidFill>
                <a:latin typeface="Arial" panose="020B0604020202020204" pitchFamily="34" charset="0"/>
                <a:cs typeface="Arial" pitchFamily="34" charset="0"/>
              </a:rPr>
              <a:t>The workshop alternates between method, evidence, and practice so the audience can reuse the workflow.</a:t>
            </a:r>
            <a:endParaRPr lang="en-US" sz="1600" dirty="0">
              <a:solidFill>
                <a:srgbClr val="1F1F1F"/>
              </a:solidFill>
              <a:latin typeface="Arial" panose="020B0604020202020204" pitchFamily="34" charset="0"/>
              <a:cs typeface="Arial" pitchFamily="34" charset="0"/>
            </a:endParaRPr>
          </a:p>
        </p:txBody>
      </p:sp>
      <p:grpSp>
        <p:nvGrpSpPr>
          <p:cNvPr id="10" name="Li_WhatToExpectBands" descr="LiPattern:WhatToExpect">
            <a:extLst>
              <a:ext uri="{FF2B5EF4-FFF2-40B4-BE49-F238E27FC236}">
                <a16:creationId xmlns:a16="http://schemas.microsoft.com/office/drawing/2014/main" id="{B0F678AB-0BA5-56C8-3906-BFF379B7C077}"/>
              </a:ext>
            </a:extLst>
          </p:cNvPr>
          <p:cNvGrpSpPr/>
          <p:nvPr/>
        </p:nvGrpSpPr>
        <p:grpSpPr>
          <a:xfrm>
            <a:off x="990600" y="2603500"/>
            <a:ext cx="8255000" cy="2717800"/>
            <a:chOff x="990600" y="2603500"/>
            <a:chExt cx="8255000" cy="2717800"/>
          </a:xfrm>
        </p:grpSpPr>
        <p:sp>
          <p:nvSpPr>
            <p:cNvPr id="6" name="Rectangle: Rounded Corners 5">
              <a:extLst>
                <a:ext uri="{FF2B5EF4-FFF2-40B4-BE49-F238E27FC236}">
                  <a16:creationId xmlns:a16="http://schemas.microsoft.com/office/drawing/2014/main" id="{9FC279CD-B63C-B60D-5C8D-E3442D3C81AB}"/>
                </a:ext>
              </a:extLst>
            </p:cNvPr>
            <p:cNvSpPr/>
            <p:nvPr/>
          </p:nvSpPr>
          <p:spPr>
            <a:xfrm>
              <a:off x="990600" y="2603500"/>
              <a:ext cx="8255000" cy="584200"/>
            </a:xfrm>
            <a:prstGeom prst="roundRect">
              <a:avLst/>
            </a:prstGeom>
            <a:solidFill>
              <a:srgbClr val="ECF5F8">
                <a:alpha val="98000"/>
              </a:srgbClr>
            </a:solidFill>
            <a:ln w="11430" cap="flat" cmpd="sng" algn="ctr">
              <a:noFill/>
              <a:prstDash val="solid"/>
            </a:ln>
            <a:effectLst/>
            <a:extLst>
              <a:ext uri="{91240B29-F687-4F45-9708-019B960494DF}">
                <a14:hiddenLine xmlns:a14="http://schemas.microsoft.com/office/drawing/2010/main" w="1143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1250" b="1">
                  <a:solidFill>
                    <a:srgbClr val="1F1F1F"/>
                  </a:solidFill>
                  <a:latin typeface="Arial" pitchFamily="34" charset="0"/>
                  <a:cs typeface="Arial" pitchFamily="34" charset="0"/>
                </a:rPr>
                <a:t>Method</a:t>
              </a:r>
            </a:p>
            <a:p>
              <a:pPr algn="ctr"/>
              <a:r>
                <a:rPr lang="en-US" sz="1050">
                  <a:solidFill>
                    <a:srgbClr val="1F1F1F"/>
                  </a:solidFill>
                  <a:latin typeface="Arial" pitchFamily="34" charset="0"/>
                  <a:cs typeface="Arial" pitchFamily="34" charset="0"/>
                </a:rPr>
                <a:t>A repeatable path for conversion decisions.</a:t>
              </a:r>
              <a:endParaRPr lang="en-US" sz="1050" dirty="0">
                <a:solidFill>
                  <a:srgbClr val="1F1F1F"/>
                </a:solidFill>
                <a:latin typeface="Arial" panose="020B0604020202020204" pitchFamily="34" charset="0"/>
                <a:cs typeface="Arial" pitchFamily="34" charset="0"/>
              </a:endParaRPr>
            </a:p>
          </p:txBody>
        </p:sp>
        <p:sp>
          <p:nvSpPr>
            <p:cNvPr id="7" name="Rectangle: Rounded Corners 6">
              <a:extLst>
                <a:ext uri="{FF2B5EF4-FFF2-40B4-BE49-F238E27FC236}">
                  <a16:creationId xmlns:a16="http://schemas.microsoft.com/office/drawing/2014/main" id="{5D38F592-719D-3769-820F-5EB6771DA057}"/>
                </a:ext>
              </a:extLst>
            </p:cNvPr>
            <p:cNvSpPr/>
            <p:nvPr/>
          </p:nvSpPr>
          <p:spPr>
            <a:xfrm>
              <a:off x="990600" y="3314700"/>
              <a:ext cx="8255000" cy="584200"/>
            </a:xfrm>
            <a:prstGeom prst="roundRect">
              <a:avLst/>
            </a:prstGeom>
            <a:solidFill>
              <a:srgbClr val="FFF6DA">
                <a:alpha val="98000"/>
              </a:srgbClr>
            </a:solidFill>
            <a:ln w="11430" cap="flat" cmpd="sng" algn="ctr">
              <a:noFill/>
              <a:prstDash val="solid"/>
            </a:ln>
            <a:effectLst/>
            <a:extLst>
              <a:ext uri="{91240B29-F687-4F45-9708-019B960494DF}">
                <a14:hiddenLine xmlns:a14="http://schemas.microsoft.com/office/drawing/2010/main" w="1143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1250" b="1">
                  <a:solidFill>
                    <a:srgbClr val="1F1F1F"/>
                  </a:solidFill>
                  <a:latin typeface="Arial" pitchFamily="34" charset="0"/>
                  <a:cs typeface="Arial" pitchFamily="34" charset="0"/>
                </a:rPr>
                <a:t>Evidence</a:t>
              </a:r>
            </a:p>
            <a:p>
              <a:pPr algn="ctr"/>
              <a:r>
                <a:rPr lang="en-US" sz="1050">
                  <a:solidFill>
                    <a:srgbClr val="1F1F1F"/>
                  </a:solidFill>
                  <a:latin typeface="Arial" pitchFamily="34" charset="0"/>
                  <a:cs typeface="Arial" pitchFamily="34" charset="0"/>
                </a:rPr>
                <a:t>Code, data structures, architecture, and workflow artifacts.</a:t>
              </a:r>
              <a:endParaRPr lang="en-US" sz="1050" dirty="0">
                <a:solidFill>
                  <a:srgbClr val="1F1F1F"/>
                </a:solidFill>
                <a:latin typeface="Arial" panose="020B0604020202020204" pitchFamily="34" charset="0"/>
                <a:cs typeface="Arial" pitchFamily="34" charset="0"/>
              </a:endParaRPr>
            </a:p>
          </p:txBody>
        </p:sp>
        <p:sp>
          <p:nvSpPr>
            <p:cNvPr id="8" name="Rectangle: Rounded Corners 7">
              <a:extLst>
                <a:ext uri="{FF2B5EF4-FFF2-40B4-BE49-F238E27FC236}">
                  <a16:creationId xmlns:a16="http://schemas.microsoft.com/office/drawing/2014/main" id="{DBC24110-14B7-7BA5-B1A7-90B78C342F56}"/>
                </a:ext>
              </a:extLst>
            </p:cNvPr>
            <p:cNvSpPr/>
            <p:nvPr/>
          </p:nvSpPr>
          <p:spPr>
            <a:xfrm>
              <a:off x="990600" y="4025900"/>
              <a:ext cx="8255000" cy="584200"/>
            </a:xfrm>
            <a:prstGeom prst="roundRect">
              <a:avLst/>
            </a:prstGeom>
            <a:solidFill>
              <a:srgbClr val="EDF7EB">
                <a:alpha val="98000"/>
              </a:srgbClr>
            </a:solidFill>
            <a:ln w="11430" cap="flat" cmpd="sng" algn="ctr">
              <a:noFill/>
              <a:prstDash val="solid"/>
            </a:ln>
            <a:effectLst/>
            <a:extLst>
              <a:ext uri="{91240B29-F687-4F45-9708-019B960494DF}">
                <a14:hiddenLine xmlns:a14="http://schemas.microsoft.com/office/drawing/2010/main" w="1143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1250" b="1">
                  <a:solidFill>
                    <a:srgbClr val="1F1F1F"/>
                  </a:solidFill>
                  <a:latin typeface="Arial" pitchFamily="34" charset="0"/>
                  <a:cs typeface="Arial" pitchFamily="34" charset="0"/>
                </a:rPr>
                <a:t>Modeling action</a:t>
              </a:r>
            </a:p>
            <a:p>
              <a:pPr algn="ctr"/>
              <a:r>
                <a:rPr lang="en-US" sz="1050">
                  <a:solidFill>
                    <a:srgbClr val="1F1F1F"/>
                  </a:solidFill>
                  <a:latin typeface="Arial" pitchFamily="34" charset="0"/>
                  <a:cs typeface="Arial" pitchFamily="34" charset="0"/>
                </a:rPr>
                <a:t>System Composer, Simulink, requirements, and tests.</a:t>
              </a:r>
              <a:endParaRPr lang="en-US" sz="1050" dirty="0">
                <a:solidFill>
                  <a:srgbClr val="1F1F1F"/>
                </a:solidFill>
                <a:latin typeface="Arial" panose="020B0604020202020204" pitchFamily="34" charset="0"/>
                <a:cs typeface="Arial" pitchFamily="34" charset="0"/>
              </a:endParaRPr>
            </a:p>
          </p:txBody>
        </p:sp>
        <p:sp>
          <p:nvSpPr>
            <p:cNvPr id="9" name="Rectangle: Rounded Corners 8">
              <a:extLst>
                <a:ext uri="{FF2B5EF4-FFF2-40B4-BE49-F238E27FC236}">
                  <a16:creationId xmlns:a16="http://schemas.microsoft.com/office/drawing/2014/main" id="{B3A3383E-5ED6-2F31-66AA-0002FCED9387}"/>
                </a:ext>
              </a:extLst>
            </p:cNvPr>
            <p:cNvSpPr/>
            <p:nvPr/>
          </p:nvSpPr>
          <p:spPr>
            <a:xfrm>
              <a:off x="990600" y="4737100"/>
              <a:ext cx="8255000" cy="584200"/>
            </a:xfrm>
            <a:prstGeom prst="roundRect">
              <a:avLst/>
            </a:prstGeom>
            <a:solidFill>
              <a:srgbClr val="E8F7FB">
                <a:alpha val="98000"/>
              </a:srgbClr>
            </a:solidFill>
            <a:ln w="11430" cap="flat" cmpd="sng" algn="ctr">
              <a:noFill/>
              <a:prstDash val="solid"/>
            </a:ln>
            <a:effectLst/>
            <a:extLst>
              <a:ext uri="{91240B29-F687-4F45-9708-019B960494DF}">
                <a14:hiddenLine xmlns:a14="http://schemas.microsoft.com/office/drawing/2010/main" w="11430" cap="flat" cmpd="sng" algn="ctr">
                  <a:solidFill>
                    <a:schemeClr val="tx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1250" b="1">
                  <a:solidFill>
                    <a:srgbClr val="1F1F1F"/>
                  </a:solidFill>
                  <a:latin typeface="Arial" pitchFamily="34" charset="0"/>
                  <a:cs typeface="Arial" pitchFamily="34" charset="0"/>
                </a:rPr>
                <a:t>Practice</a:t>
              </a:r>
            </a:p>
            <a:p>
              <a:pPr algn="ctr"/>
              <a:r>
                <a:rPr lang="en-US" sz="1050">
                  <a:solidFill>
                    <a:srgbClr val="1F1F1F"/>
                  </a:solidFill>
                  <a:latin typeface="Arial" pitchFamily="34" charset="0"/>
                  <a:cs typeface="Arial" pitchFamily="34" charset="0"/>
                </a:rPr>
                <a:t>Apply the pattern to one representative component.</a:t>
              </a:r>
              <a:endParaRPr lang="en-US" sz="1050" dirty="0">
                <a:solidFill>
                  <a:srgbClr val="1F1F1F"/>
                </a:solidFill>
                <a:latin typeface="Arial" panose="020B0604020202020204" pitchFamily="34" charset="0"/>
                <a:cs typeface="Arial" pitchFamily="34" charset="0"/>
              </a:endParaRPr>
            </a:p>
          </p:txBody>
        </p:sp>
      </p:grpSp>
    </p:spTree>
    <p:extLst>
      <p:ext uri="{BB962C8B-B14F-4D97-AF65-F5344CB8AC3E}">
        <p14:creationId xmlns:p14="http://schemas.microsoft.com/office/powerpoint/2010/main" val="100667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69248-9899-1EA4-B4F2-3EBF74D28D45}"/>
              </a:ext>
            </a:extLst>
          </p:cNvPr>
          <p:cNvSpPr>
            <a:spLocks noGrp="1"/>
          </p:cNvSpPr>
          <p:nvPr>
            <p:ph type="title"/>
          </p:nvPr>
        </p:nvSpPr>
        <p:spPr/>
        <p:txBody>
          <a:bodyPr wrap="square"/>
          <a:lstStyle/>
          <a:p>
            <a:r>
              <a:rPr lang="en-US"/>
              <a:t>The target workflow links decisions, tools, and verification</a:t>
            </a:r>
          </a:p>
        </p:txBody>
      </p:sp>
      <p:sp>
        <p:nvSpPr>
          <p:cNvPr id="3" name="Li_VModelToolMap_3" descr="LiPattern:VModelToolMap">
            <a:extLst>
              <a:ext uri="{FF2B5EF4-FFF2-40B4-BE49-F238E27FC236}">
                <a16:creationId xmlns:a16="http://schemas.microsoft.com/office/drawing/2014/main" id="{1764B475-8819-F647-CA09-84BD5CC2F615}"/>
              </a:ext>
            </a:extLst>
          </p:cNvPr>
          <p:cNvSpPr>
            <a:spLocks noGrp="1"/>
          </p:cNvSpPr>
          <p:nvPr>
            <p:ph idx="1"/>
          </p:nvPr>
        </p:nvSpPr>
        <p:spPr/>
        <p:txBody>
          <a:bodyPr wrap="square"/>
          <a:lstStyle/>
          <a:p>
            <a:pPr marL="0" indent="0">
              <a:buNone/>
            </a:pPr>
            <a:r>
              <a:rPr lang="en-US" sz="1500">
                <a:solidFill>
                  <a:srgbClr val="636569"/>
                </a:solidFill>
              </a:rPr>
              <a:t>MBD establishment is a path through artifacts, not a one-step model translation.</a:t>
            </a:r>
          </a:p>
        </p:txBody>
      </p:sp>
      <p:sp>
        <p:nvSpPr>
          <p:cNvPr id="4" name="Li_VModelToolMap_4" descr="LiPattern:VModelToolMap">
            <a:extLst>
              <a:ext uri="{FF2B5EF4-FFF2-40B4-BE49-F238E27FC236}">
                <a16:creationId xmlns:a16="http://schemas.microsoft.com/office/drawing/2014/main" id="{0ED0A08A-22A4-A907-49E6-5A5AD18F9E28}"/>
              </a:ext>
            </a:extLst>
          </p:cNvPr>
          <p:cNvSpPr/>
          <p:nvPr/>
        </p:nvSpPr>
        <p:spPr>
          <a:xfrm>
            <a:off x="990600" y="23495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Scope</a:t>
            </a:r>
            <a:endParaRPr lang="en-US" sz="1350" b="1" dirty="0">
              <a:solidFill>
                <a:srgbClr val="1F1F1F"/>
              </a:solidFill>
              <a:latin typeface="Arial" pitchFamily="34" charset="0"/>
              <a:cs typeface="Arial" pitchFamily="34" charset="0"/>
            </a:endParaRPr>
          </a:p>
        </p:txBody>
      </p:sp>
      <p:sp>
        <p:nvSpPr>
          <p:cNvPr id="5" name="Li_VModelToolMap_5" descr="LiPattern:VModelToolMap">
            <a:extLst>
              <a:ext uri="{FF2B5EF4-FFF2-40B4-BE49-F238E27FC236}">
                <a16:creationId xmlns:a16="http://schemas.microsoft.com/office/drawing/2014/main" id="{756418F1-3C5D-5502-07A3-0D8DB4592068}"/>
              </a:ext>
            </a:extLst>
          </p:cNvPr>
          <p:cNvSpPr/>
          <p:nvPr/>
        </p:nvSpPr>
        <p:spPr>
          <a:xfrm>
            <a:off x="1143000" y="31369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Project</a:t>
            </a:r>
            <a:endParaRPr lang="en-US" sz="950" b="1" dirty="0">
              <a:solidFill>
                <a:srgbClr val="1F1F1F"/>
              </a:solidFill>
              <a:latin typeface="Arial" pitchFamily="34" charset="0"/>
              <a:cs typeface="Arial" pitchFamily="34" charset="0"/>
            </a:endParaRPr>
          </a:p>
        </p:txBody>
      </p:sp>
      <p:sp>
        <p:nvSpPr>
          <p:cNvPr id="6" name="Li_VModelToolMap_6" descr="LiPattern:VModelToolMap">
            <a:extLst>
              <a:ext uri="{FF2B5EF4-FFF2-40B4-BE49-F238E27FC236}">
                <a16:creationId xmlns:a16="http://schemas.microsoft.com/office/drawing/2014/main" id="{8F46953C-34C7-1EBB-28D3-C521DBA6CFFB}"/>
              </a:ext>
            </a:extLst>
          </p:cNvPr>
          <p:cNvSpPr/>
          <p:nvPr/>
        </p:nvSpPr>
        <p:spPr>
          <a:xfrm>
            <a:off x="3022600" y="35052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Architecture</a:t>
            </a:r>
            <a:endParaRPr lang="en-US" sz="1350" b="1" dirty="0">
              <a:solidFill>
                <a:srgbClr val="1F1F1F"/>
              </a:solidFill>
              <a:latin typeface="Arial" pitchFamily="34" charset="0"/>
              <a:cs typeface="Arial" pitchFamily="34" charset="0"/>
            </a:endParaRPr>
          </a:p>
        </p:txBody>
      </p:sp>
      <p:sp>
        <p:nvSpPr>
          <p:cNvPr id="7" name="Li_VModelToolMap_7" descr="LiPattern:VModelToolMap">
            <a:extLst>
              <a:ext uri="{FF2B5EF4-FFF2-40B4-BE49-F238E27FC236}">
                <a16:creationId xmlns:a16="http://schemas.microsoft.com/office/drawing/2014/main" id="{ED91765F-8A2C-85B1-AF8E-A0E71C7EF4A0}"/>
              </a:ext>
            </a:extLst>
          </p:cNvPr>
          <p:cNvSpPr/>
          <p:nvPr/>
        </p:nvSpPr>
        <p:spPr>
          <a:xfrm>
            <a:off x="3175000" y="42926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System Composer</a:t>
            </a:r>
            <a:endParaRPr lang="en-US" sz="950" b="1" dirty="0">
              <a:solidFill>
                <a:srgbClr val="1F1F1F"/>
              </a:solidFill>
              <a:latin typeface="Arial" pitchFamily="34" charset="0"/>
              <a:cs typeface="Arial" pitchFamily="34" charset="0"/>
            </a:endParaRPr>
          </a:p>
        </p:txBody>
      </p:sp>
      <p:sp>
        <p:nvSpPr>
          <p:cNvPr id="8" name="Li_VModelToolMap_8" descr="LiPattern:VModelToolMap">
            <a:extLst>
              <a:ext uri="{FF2B5EF4-FFF2-40B4-BE49-F238E27FC236}">
                <a16:creationId xmlns:a16="http://schemas.microsoft.com/office/drawing/2014/main" id="{4F30DEF3-D698-1615-51AB-553C29FDE5E3}"/>
              </a:ext>
            </a:extLst>
          </p:cNvPr>
          <p:cNvSpPr/>
          <p:nvPr/>
        </p:nvSpPr>
        <p:spPr>
          <a:xfrm>
            <a:off x="5207000" y="44958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Behavior</a:t>
            </a:r>
            <a:endParaRPr lang="en-US" sz="1350" b="1" dirty="0">
              <a:solidFill>
                <a:srgbClr val="1F1F1F"/>
              </a:solidFill>
              <a:latin typeface="Arial" pitchFamily="34" charset="0"/>
              <a:cs typeface="Arial" pitchFamily="34" charset="0"/>
            </a:endParaRPr>
          </a:p>
        </p:txBody>
      </p:sp>
      <p:sp>
        <p:nvSpPr>
          <p:cNvPr id="9" name="Li_VModelToolMap_9" descr="LiPattern:VModelToolMap">
            <a:extLst>
              <a:ext uri="{FF2B5EF4-FFF2-40B4-BE49-F238E27FC236}">
                <a16:creationId xmlns:a16="http://schemas.microsoft.com/office/drawing/2014/main" id="{F8C1729C-DEE1-CA34-1173-0A49158B35C3}"/>
              </a:ext>
            </a:extLst>
          </p:cNvPr>
          <p:cNvSpPr/>
          <p:nvPr/>
        </p:nvSpPr>
        <p:spPr>
          <a:xfrm>
            <a:off x="5359400" y="52832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Simulink</a:t>
            </a:r>
            <a:endParaRPr lang="en-US" sz="950" b="1" dirty="0">
              <a:solidFill>
                <a:srgbClr val="1F1F1F"/>
              </a:solidFill>
              <a:latin typeface="Arial" pitchFamily="34" charset="0"/>
              <a:cs typeface="Arial" pitchFamily="34" charset="0"/>
            </a:endParaRPr>
          </a:p>
        </p:txBody>
      </p:sp>
      <p:sp>
        <p:nvSpPr>
          <p:cNvPr id="10" name="Li_VModelToolMap_10" descr="LiPattern:VModelToolMap">
            <a:extLst>
              <a:ext uri="{FF2B5EF4-FFF2-40B4-BE49-F238E27FC236}">
                <a16:creationId xmlns:a16="http://schemas.microsoft.com/office/drawing/2014/main" id="{71AA576C-FC53-6B3E-8073-4CE441C71FAF}"/>
              </a:ext>
            </a:extLst>
          </p:cNvPr>
          <p:cNvSpPr/>
          <p:nvPr/>
        </p:nvSpPr>
        <p:spPr>
          <a:xfrm>
            <a:off x="7391400" y="35052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Requirements</a:t>
            </a:r>
            <a:endParaRPr lang="en-US" sz="1350" b="1" dirty="0">
              <a:solidFill>
                <a:srgbClr val="1F1F1F"/>
              </a:solidFill>
              <a:latin typeface="Arial" pitchFamily="34" charset="0"/>
              <a:cs typeface="Arial" pitchFamily="34" charset="0"/>
            </a:endParaRPr>
          </a:p>
        </p:txBody>
      </p:sp>
      <p:sp>
        <p:nvSpPr>
          <p:cNvPr id="11" name="Li_VModelToolMap_11" descr="LiPattern:VModelToolMap">
            <a:extLst>
              <a:ext uri="{FF2B5EF4-FFF2-40B4-BE49-F238E27FC236}">
                <a16:creationId xmlns:a16="http://schemas.microsoft.com/office/drawing/2014/main" id="{8FC4CB3B-29C7-E7F3-5A6A-C65301C4650F}"/>
              </a:ext>
            </a:extLst>
          </p:cNvPr>
          <p:cNvSpPr/>
          <p:nvPr/>
        </p:nvSpPr>
        <p:spPr>
          <a:xfrm>
            <a:off x="7543800" y="42926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Requirements</a:t>
            </a:r>
            <a:endParaRPr lang="en-US" sz="950" b="1" dirty="0">
              <a:solidFill>
                <a:srgbClr val="1F1F1F"/>
              </a:solidFill>
              <a:latin typeface="Arial" pitchFamily="34" charset="0"/>
              <a:cs typeface="Arial" pitchFamily="34" charset="0"/>
            </a:endParaRPr>
          </a:p>
        </p:txBody>
      </p:sp>
      <p:sp>
        <p:nvSpPr>
          <p:cNvPr id="12" name="Li_VModelToolMap_12" descr="LiPattern:VModelToolMap">
            <a:extLst>
              <a:ext uri="{FF2B5EF4-FFF2-40B4-BE49-F238E27FC236}">
                <a16:creationId xmlns:a16="http://schemas.microsoft.com/office/drawing/2014/main" id="{E7099C05-3EFB-023B-2B3A-40628566F689}"/>
              </a:ext>
            </a:extLst>
          </p:cNvPr>
          <p:cNvSpPr/>
          <p:nvPr/>
        </p:nvSpPr>
        <p:spPr>
          <a:xfrm>
            <a:off x="9423400" y="23495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Tests</a:t>
            </a:r>
            <a:endParaRPr lang="en-US" sz="1350" b="1" dirty="0">
              <a:solidFill>
                <a:srgbClr val="1F1F1F"/>
              </a:solidFill>
              <a:latin typeface="Arial" pitchFamily="34" charset="0"/>
              <a:cs typeface="Arial" pitchFamily="34" charset="0"/>
            </a:endParaRPr>
          </a:p>
        </p:txBody>
      </p:sp>
      <p:sp>
        <p:nvSpPr>
          <p:cNvPr id="13" name="Li_VModelToolMap_13" descr="LiPattern:VModelToolMap">
            <a:extLst>
              <a:ext uri="{FF2B5EF4-FFF2-40B4-BE49-F238E27FC236}">
                <a16:creationId xmlns:a16="http://schemas.microsoft.com/office/drawing/2014/main" id="{795A0C7F-3C51-A81A-2E38-922A8DE33805}"/>
              </a:ext>
            </a:extLst>
          </p:cNvPr>
          <p:cNvSpPr/>
          <p:nvPr/>
        </p:nvSpPr>
        <p:spPr>
          <a:xfrm>
            <a:off x="9575800" y="31369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Test</a:t>
            </a:r>
            <a:endParaRPr lang="en-US" sz="950" b="1" dirty="0">
              <a:solidFill>
                <a:srgbClr val="1F1F1F"/>
              </a:solidFill>
              <a:latin typeface="Arial" pitchFamily="34" charset="0"/>
              <a:cs typeface="Arial" pitchFamily="34" charset="0"/>
            </a:endParaRPr>
          </a:p>
        </p:txBody>
      </p:sp>
      <p:cxnSp>
        <p:nvCxnSpPr>
          <p:cNvPr id="14" name="Li_VModelToolMap_14" descr="LiPattern:VModelToolMap">
            <a:extLst>
              <a:ext uri="{FF2B5EF4-FFF2-40B4-BE49-F238E27FC236}">
                <a16:creationId xmlns:a16="http://schemas.microsoft.com/office/drawing/2014/main" id="{B1C89B23-5AAA-86F4-1FCB-82FE2ABB52E0}"/>
              </a:ext>
            </a:extLst>
          </p:cNvPr>
          <p:cNvCxnSpPr/>
          <p:nvPr/>
        </p:nvCxnSpPr>
        <p:spPr>
          <a:xfrm>
            <a:off x="2717800" y="2692400"/>
            <a:ext cx="304800" cy="11557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5" name="Li_VModelToolMap_15" descr="LiPattern:VModelToolMap">
            <a:extLst>
              <a:ext uri="{FF2B5EF4-FFF2-40B4-BE49-F238E27FC236}">
                <a16:creationId xmlns:a16="http://schemas.microsoft.com/office/drawing/2014/main" id="{8C55D827-BA2B-9BC6-235A-8C2911DB0086}"/>
              </a:ext>
            </a:extLst>
          </p:cNvPr>
          <p:cNvCxnSpPr/>
          <p:nvPr/>
        </p:nvCxnSpPr>
        <p:spPr>
          <a:xfrm>
            <a:off x="4749800" y="3848100"/>
            <a:ext cx="457200" cy="9906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6" name="Li_VModelToolMap_16" descr="LiPattern:VModelToolMap">
            <a:extLst>
              <a:ext uri="{FF2B5EF4-FFF2-40B4-BE49-F238E27FC236}">
                <a16:creationId xmlns:a16="http://schemas.microsoft.com/office/drawing/2014/main" id="{95F1AD5E-06D3-12AA-8D36-B5B1AC70EC83}"/>
              </a:ext>
            </a:extLst>
          </p:cNvPr>
          <p:cNvCxnSpPr/>
          <p:nvPr/>
        </p:nvCxnSpPr>
        <p:spPr>
          <a:xfrm flipV="1">
            <a:off x="6934200" y="3848100"/>
            <a:ext cx="457200" cy="9906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7" name="Li_VModelToolMap_17" descr="LiPattern:VModelToolMap">
            <a:extLst>
              <a:ext uri="{FF2B5EF4-FFF2-40B4-BE49-F238E27FC236}">
                <a16:creationId xmlns:a16="http://schemas.microsoft.com/office/drawing/2014/main" id="{050BE4A7-8C8A-1C12-39AF-E73352F55DC2}"/>
              </a:ext>
            </a:extLst>
          </p:cNvPr>
          <p:cNvCxnSpPr/>
          <p:nvPr/>
        </p:nvCxnSpPr>
        <p:spPr>
          <a:xfrm flipV="1">
            <a:off x="9118600" y="2692400"/>
            <a:ext cx="304800" cy="11557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sp>
        <p:nvSpPr>
          <p:cNvPr id="18" name="Li_VModelToolMap_18" descr="LiPattern:VModelToolMap">
            <a:extLst>
              <a:ext uri="{FF2B5EF4-FFF2-40B4-BE49-F238E27FC236}">
                <a16:creationId xmlns:a16="http://schemas.microsoft.com/office/drawing/2014/main" id="{651B419C-8B1E-CF5A-3F65-E6FEF63F2905}"/>
              </a:ext>
            </a:extLst>
          </p:cNvPr>
          <p:cNvSpPr/>
          <p:nvPr/>
        </p:nvSpPr>
        <p:spPr>
          <a:xfrm>
            <a:off x="1397000" y="5562600"/>
            <a:ext cx="8890000" cy="3556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Every phase leaves a reviewable artifact.</a:t>
            </a:r>
            <a:endParaRPr lang="en-US" sz="1150" b="1" dirty="0">
              <a:solidFill>
                <a:srgbClr val="1F1F1F"/>
              </a:solidFill>
              <a:latin typeface="Arial" pitchFamily="34" charset="0"/>
              <a:cs typeface="Arial" pitchFamily="34" charset="0"/>
            </a:endParaRPr>
          </a:p>
        </p:txBody>
      </p:sp>
      <p:sp>
        <p:nvSpPr>
          <p:cNvPr id="19" name="Li_VModelToolMap_19" descr="LiPattern:VModelToolMap">
            <a:extLst>
              <a:ext uri="{FF2B5EF4-FFF2-40B4-BE49-F238E27FC236}">
                <a16:creationId xmlns:a16="http://schemas.microsoft.com/office/drawing/2014/main" id="{BCB5B5E7-A8EE-B5DA-75E0-B833AFBA57AF}"/>
              </a:ext>
            </a:extLst>
          </p:cNvPr>
          <p:cNvSpPr/>
          <p:nvPr/>
        </p:nvSpPr>
        <p:spPr>
          <a:xfrm>
            <a:off x="1397000" y="6007100"/>
            <a:ext cx="8890000" cy="3556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The conversion path is teachable and repeatable.</a:t>
            </a:r>
            <a:endParaRPr lang="en-US" sz="115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244184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0651-2080-C8FA-312E-53F1E32FC1E0}"/>
              </a:ext>
            </a:extLst>
          </p:cNvPr>
          <p:cNvSpPr>
            <a:spLocks noGrp="1"/>
          </p:cNvSpPr>
          <p:nvPr>
            <p:ph type="title"/>
          </p:nvPr>
        </p:nvSpPr>
        <p:spPr/>
        <p:txBody>
          <a:bodyPr wrap="square"/>
          <a:lstStyle/>
          <a:p>
            <a:r>
              <a:rPr lang="en-US"/>
              <a:t>Generic conversion steps fail when project inputs are missing</a:t>
            </a:r>
          </a:p>
        </p:txBody>
      </p:sp>
      <p:sp>
        <p:nvSpPr>
          <p:cNvPr id="3" name="Li_ProcessStateDiagram_3" descr="LiPattern:ProcessStateDiagram">
            <a:extLst>
              <a:ext uri="{FF2B5EF4-FFF2-40B4-BE49-F238E27FC236}">
                <a16:creationId xmlns:a16="http://schemas.microsoft.com/office/drawing/2014/main" id="{005B2A67-BDE4-0E45-381F-C21921A30836}"/>
              </a:ext>
            </a:extLst>
          </p:cNvPr>
          <p:cNvSpPr>
            <a:spLocks noGrp="1"/>
          </p:cNvSpPr>
          <p:nvPr>
            <p:ph idx="1"/>
          </p:nvPr>
        </p:nvSpPr>
        <p:spPr/>
        <p:txBody>
          <a:bodyPr wrap="square"/>
          <a:lstStyle/>
          <a:p>
            <a:pPr marL="0" indent="0">
              <a:buNone/>
            </a:pPr>
            <a:r>
              <a:rPr lang="en-US" sz="1500">
                <a:solidFill>
                  <a:srgbClr val="636569"/>
                </a:solidFill>
              </a:rPr>
              <a:t>The original workshop asks: do we have enough input to execute these steps?</a:t>
            </a:r>
          </a:p>
        </p:txBody>
      </p:sp>
      <p:sp>
        <p:nvSpPr>
          <p:cNvPr id="4" name="Li_ProcessStateDiagram_4" descr="LiPattern:ProcessStateDiagram">
            <a:extLst>
              <a:ext uri="{FF2B5EF4-FFF2-40B4-BE49-F238E27FC236}">
                <a16:creationId xmlns:a16="http://schemas.microsoft.com/office/drawing/2014/main" id="{78B6D5FD-3B6F-B448-BF65-188C45ABCB07}"/>
              </a:ext>
            </a:extLst>
          </p:cNvPr>
          <p:cNvSpPr/>
          <p:nvPr/>
        </p:nvSpPr>
        <p:spPr>
          <a:xfrm>
            <a:off x="914400" y="2921000"/>
            <a:ext cx="1905000" cy="11684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Understand existing system</a:t>
            </a:r>
          </a:p>
          <a:p>
            <a:pPr algn="ctr"/>
            <a:r>
              <a:rPr lang="en-US" sz="1300" b="1">
                <a:solidFill>
                  <a:srgbClr val="1F1F1F"/>
                </a:solidFill>
                <a:latin typeface="Arial" pitchFamily="34" charset="0"/>
                <a:cs typeface="Arial" pitchFamily="34" charset="0"/>
              </a:rPr>
              <a:t>Need code, workflow, and architecture evidence.</a:t>
            </a:r>
            <a:endParaRPr lang="en-US" sz="1300" b="1" dirty="0">
              <a:solidFill>
                <a:srgbClr val="1F1F1F"/>
              </a:solidFill>
              <a:latin typeface="Arial" pitchFamily="34" charset="0"/>
              <a:cs typeface="Arial" pitchFamily="34" charset="0"/>
            </a:endParaRPr>
          </a:p>
        </p:txBody>
      </p:sp>
      <p:sp>
        <p:nvSpPr>
          <p:cNvPr id="5" name="Li_ProcessStateDiagram_5" descr="LiPattern:ProcessStateDiagram">
            <a:extLst>
              <a:ext uri="{FF2B5EF4-FFF2-40B4-BE49-F238E27FC236}">
                <a16:creationId xmlns:a16="http://schemas.microsoft.com/office/drawing/2014/main" id="{8CCBD53E-44B1-6A0D-BB7A-C301C6D5BF87}"/>
              </a:ext>
            </a:extLst>
          </p:cNvPr>
          <p:cNvSpPr/>
          <p:nvPr/>
        </p:nvSpPr>
        <p:spPr>
          <a:xfrm>
            <a:off x="1041400" y="2514600"/>
            <a:ext cx="812800" cy="304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Open</a:t>
            </a:r>
            <a:endParaRPr lang="en-US" sz="950" b="1" dirty="0">
              <a:solidFill>
                <a:srgbClr val="1F1F1F"/>
              </a:solidFill>
              <a:latin typeface="Arial" pitchFamily="34" charset="0"/>
              <a:cs typeface="Arial" pitchFamily="34" charset="0"/>
            </a:endParaRPr>
          </a:p>
        </p:txBody>
      </p:sp>
      <p:sp>
        <p:nvSpPr>
          <p:cNvPr id="6" name="Li_ProcessStateDiagram_6" descr="LiPattern:ProcessStateDiagram">
            <a:extLst>
              <a:ext uri="{FF2B5EF4-FFF2-40B4-BE49-F238E27FC236}">
                <a16:creationId xmlns:a16="http://schemas.microsoft.com/office/drawing/2014/main" id="{DECB4138-D3D6-6984-9ADD-2D9EDBBD9026}"/>
              </a:ext>
            </a:extLst>
          </p:cNvPr>
          <p:cNvSpPr/>
          <p:nvPr/>
        </p:nvSpPr>
        <p:spPr>
          <a:xfrm>
            <a:off x="28575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7" name="Li_ProcessStateDiagram_7" descr="LiPattern:ProcessStateDiagram">
            <a:extLst>
              <a:ext uri="{FF2B5EF4-FFF2-40B4-BE49-F238E27FC236}">
                <a16:creationId xmlns:a16="http://schemas.microsoft.com/office/drawing/2014/main" id="{F100B88C-3786-494D-9AB0-CB7B6DB71017}"/>
              </a:ext>
            </a:extLst>
          </p:cNvPr>
          <p:cNvSpPr/>
          <p:nvPr/>
        </p:nvSpPr>
        <p:spPr>
          <a:xfrm>
            <a:off x="3048000" y="2921000"/>
            <a:ext cx="1905000" cy="1168400"/>
          </a:xfrm>
          <a:prstGeom prst="roundRect">
            <a:avLst/>
          </a:prstGeom>
          <a:solidFill>
            <a:srgbClr val="FFF6DA">
              <a:alpha val="92000"/>
            </a:srgbClr>
          </a:solidFill>
          <a:ln w="11430">
            <a:solidFill>
              <a:srgbClr val="F2A900"/>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Define requirements</a:t>
            </a:r>
          </a:p>
          <a:p>
            <a:pPr algn="ctr"/>
            <a:r>
              <a:rPr lang="en-US" sz="1300" b="1">
                <a:solidFill>
                  <a:srgbClr val="1F1F1F"/>
                </a:solidFill>
                <a:latin typeface="Arial" pitchFamily="34" charset="0"/>
                <a:cs typeface="Arial" pitchFamily="34" charset="0"/>
              </a:rPr>
              <a:t>Need behavior and acceptance criteria.</a:t>
            </a:r>
            <a:endParaRPr lang="en-US" sz="1300" b="1" dirty="0">
              <a:solidFill>
                <a:srgbClr val="1F1F1F"/>
              </a:solidFill>
              <a:latin typeface="Arial" pitchFamily="34" charset="0"/>
              <a:cs typeface="Arial" pitchFamily="34" charset="0"/>
            </a:endParaRPr>
          </a:p>
        </p:txBody>
      </p:sp>
      <p:sp>
        <p:nvSpPr>
          <p:cNvPr id="8" name="Li_ProcessStateDiagram_8" descr="LiPattern:ProcessStateDiagram">
            <a:extLst>
              <a:ext uri="{FF2B5EF4-FFF2-40B4-BE49-F238E27FC236}">
                <a16:creationId xmlns:a16="http://schemas.microsoft.com/office/drawing/2014/main" id="{54C37B1A-A3B8-D8DF-76A6-E893E8EB1A72}"/>
              </a:ext>
            </a:extLst>
          </p:cNvPr>
          <p:cNvSpPr/>
          <p:nvPr/>
        </p:nvSpPr>
        <p:spPr>
          <a:xfrm>
            <a:off x="3175000" y="2514600"/>
            <a:ext cx="812800" cy="304800"/>
          </a:xfrm>
          <a:prstGeom prst="roundRect">
            <a:avLst/>
          </a:prstGeom>
          <a:solidFill>
            <a:srgbClr val="FFF6DA">
              <a:alpha val="92000"/>
            </a:srgbClr>
          </a:solidFill>
          <a:ln w="11430">
            <a:solidFill>
              <a:srgbClr val="F2A900"/>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Review</a:t>
            </a:r>
            <a:endParaRPr lang="en-US" sz="950" b="1" dirty="0">
              <a:solidFill>
                <a:srgbClr val="1F1F1F"/>
              </a:solidFill>
              <a:latin typeface="Arial" pitchFamily="34" charset="0"/>
              <a:cs typeface="Arial" pitchFamily="34" charset="0"/>
            </a:endParaRPr>
          </a:p>
        </p:txBody>
      </p:sp>
      <p:sp>
        <p:nvSpPr>
          <p:cNvPr id="9" name="Li_ProcessStateDiagram_9" descr="LiPattern:ProcessStateDiagram">
            <a:extLst>
              <a:ext uri="{FF2B5EF4-FFF2-40B4-BE49-F238E27FC236}">
                <a16:creationId xmlns:a16="http://schemas.microsoft.com/office/drawing/2014/main" id="{2A896F9B-81C9-5E92-7F1B-EB25611584D0}"/>
              </a:ext>
            </a:extLst>
          </p:cNvPr>
          <p:cNvSpPr/>
          <p:nvPr/>
        </p:nvSpPr>
        <p:spPr>
          <a:xfrm>
            <a:off x="49911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0" name="Li_ProcessStateDiagram_10" descr="LiPattern:ProcessStateDiagram">
            <a:extLst>
              <a:ext uri="{FF2B5EF4-FFF2-40B4-BE49-F238E27FC236}">
                <a16:creationId xmlns:a16="http://schemas.microsoft.com/office/drawing/2014/main" id="{82AB1D24-8386-1875-796F-156E2CE65376}"/>
              </a:ext>
            </a:extLst>
          </p:cNvPr>
          <p:cNvSpPr/>
          <p:nvPr/>
        </p:nvSpPr>
        <p:spPr>
          <a:xfrm>
            <a:off x="5181600" y="2921000"/>
            <a:ext cx="1905000" cy="1168400"/>
          </a:xfrm>
          <a:prstGeom prst="roundRect">
            <a:avLst/>
          </a:prstGeom>
          <a:solidFill>
            <a:srgbClr val="FAEAE9">
              <a:alpha val="92000"/>
            </a:srgbClr>
          </a:solidFill>
          <a:ln w="11430">
            <a:solidFill>
              <a:srgbClr val="B7302C"/>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Create model</a:t>
            </a:r>
          </a:p>
          <a:p>
            <a:pPr algn="ctr"/>
            <a:r>
              <a:rPr lang="en-US" sz="1300" b="1">
                <a:solidFill>
                  <a:srgbClr val="1F1F1F"/>
                </a:solidFill>
                <a:latin typeface="Arial" pitchFamily="34" charset="0"/>
                <a:cs typeface="Arial" pitchFamily="34" charset="0"/>
              </a:rPr>
              <a:t>Wrong abstraction if boundaries are unclear.</a:t>
            </a:r>
            <a:endParaRPr lang="en-US" sz="1300" b="1" dirty="0">
              <a:solidFill>
                <a:srgbClr val="1F1F1F"/>
              </a:solidFill>
              <a:latin typeface="Arial" pitchFamily="34" charset="0"/>
              <a:cs typeface="Arial" pitchFamily="34" charset="0"/>
            </a:endParaRPr>
          </a:p>
        </p:txBody>
      </p:sp>
      <p:sp>
        <p:nvSpPr>
          <p:cNvPr id="11" name="Li_ProcessStateDiagram_11" descr="LiPattern:ProcessStateDiagram">
            <a:extLst>
              <a:ext uri="{FF2B5EF4-FFF2-40B4-BE49-F238E27FC236}">
                <a16:creationId xmlns:a16="http://schemas.microsoft.com/office/drawing/2014/main" id="{CA742890-DED8-9FCE-3C30-98633EFBEC6B}"/>
              </a:ext>
            </a:extLst>
          </p:cNvPr>
          <p:cNvSpPr/>
          <p:nvPr/>
        </p:nvSpPr>
        <p:spPr>
          <a:xfrm>
            <a:off x="5308600" y="2514600"/>
            <a:ext cx="812800" cy="304800"/>
          </a:xfrm>
          <a:prstGeom prst="roundRect">
            <a:avLst/>
          </a:prstGeom>
          <a:solidFill>
            <a:srgbClr val="FAEAE9">
              <a:alpha val="92000"/>
            </a:srgbClr>
          </a:solidFill>
          <a:ln w="11430">
            <a:solidFill>
              <a:srgbClr val="B7302C"/>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Blocked</a:t>
            </a:r>
            <a:endParaRPr lang="en-US" sz="950" b="1" dirty="0">
              <a:solidFill>
                <a:srgbClr val="1F1F1F"/>
              </a:solidFill>
              <a:latin typeface="Arial" pitchFamily="34" charset="0"/>
              <a:cs typeface="Arial" pitchFamily="34" charset="0"/>
            </a:endParaRPr>
          </a:p>
        </p:txBody>
      </p:sp>
      <p:sp>
        <p:nvSpPr>
          <p:cNvPr id="12" name="Li_ProcessStateDiagram_12" descr="LiPattern:ProcessStateDiagram">
            <a:extLst>
              <a:ext uri="{FF2B5EF4-FFF2-40B4-BE49-F238E27FC236}">
                <a16:creationId xmlns:a16="http://schemas.microsoft.com/office/drawing/2014/main" id="{816DF765-1F0C-1DB8-99DE-858ECCBF30DD}"/>
              </a:ext>
            </a:extLst>
          </p:cNvPr>
          <p:cNvSpPr/>
          <p:nvPr/>
        </p:nvSpPr>
        <p:spPr>
          <a:xfrm>
            <a:off x="71247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3" name="Li_ProcessStateDiagram_13" descr="LiPattern:ProcessStateDiagram">
            <a:extLst>
              <a:ext uri="{FF2B5EF4-FFF2-40B4-BE49-F238E27FC236}">
                <a16:creationId xmlns:a16="http://schemas.microsoft.com/office/drawing/2014/main" id="{B7587DA5-84AB-60E9-D98F-A64A6F02E8DB}"/>
              </a:ext>
            </a:extLst>
          </p:cNvPr>
          <p:cNvSpPr/>
          <p:nvPr/>
        </p:nvSpPr>
        <p:spPr>
          <a:xfrm>
            <a:off x="7315200" y="2921000"/>
            <a:ext cx="1905000" cy="1168400"/>
          </a:xfrm>
          <a:prstGeom prst="roundRect">
            <a:avLst/>
          </a:prstGeom>
          <a:solidFill>
            <a:srgbClr val="FFF6DA">
              <a:alpha val="92000"/>
            </a:srgbClr>
          </a:solidFill>
          <a:ln w="11430">
            <a:solidFill>
              <a:srgbClr val="F2A900"/>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Test model</a:t>
            </a:r>
          </a:p>
          <a:p>
            <a:pPr algn="ctr"/>
            <a:r>
              <a:rPr lang="en-US" sz="1300" b="1">
                <a:solidFill>
                  <a:srgbClr val="1F1F1F"/>
                </a:solidFill>
                <a:latin typeface="Arial" pitchFamily="34" charset="0"/>
                <a:cs typeface="Arial" pitchFamily="34" charset="0"/>
              </a:rPr>
              <a:t>Tests need traceable source expectations.</a:t>
            </a:r>
            <a:endParaRPr lang="en-US" sz="1300" b="1" dirty="0">
              <a:solidFill>
                <a:srgbClr val="1F1F1F"/>
              </a:solidFill>
              <a:latin typeface="Arial" pitchFamily="34" charset="0"/>
              <a:cs typeface="Arial" pitchFamily="34" charset="0"/>
            </a:endParaRPr>
          </a:p>
        </p:txBody>
      </p:sp>
      <p:sp>
        <p:nvSpPr>
          <p:cNvPr id="14" name="Li_ProcessStateDiagram_14" descr="LiPattern:ProcessStateDiagram">
            <a:extLst>
              <a:ext uri="{FF2B5EF4-FFF2-40B4-BE49-F238E27FC236}">
                <a16:creationId xmlns:a16="http://schemas.microsoft.com/office/drawing/2014/main" id="{DB281399-AF46-9A5E-C1DA-DD00D40E0FF2}"/>
              </a:ext>
            </a:extLst>
          </p:cNvPr>
          <p:cNvSpPr/>
          <p:nvPr/>
        </p:nvSpPr>
        <p:spPr>
          <a:xfrm>
            <a:off x="7442200" y="2514600"/>
            <a:ext cx="812800" cy="304800"/>
          </a:xfrm>
          <a:prstGeom prst="roundRect">
            <a:avLst/>
          </a:prstGeom>
          <a:solidFill>
            <a:srgbClr val="FFF6DA">
              <a:alpha val="92000"/>
            </a:srgbClr>
          </a:solidFill>
          <a:ln w="11430">
            <a:solidFill>
              <a:srgbClr val="F2A900"/>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Pending</a:t>
            </a:r>
            <a:endParaRPr lang="en-US" sz="95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40220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E7705-DF38-4D72-0675-23386E475652}"/>
              </a:ext>
            </a:extLst>
          </p:cNvPr>
          <p:cNvSpPr>
            <a:spLocks noGrp="1"/>
          </p:cNvSpPr>
          <p:nvPr>
            <p:ph type="title"/>
          </p:nvPr>
        </p:nvSpPr>
        <p:spPr/>
        <p:txBody>
          <a:bodyPr wrap="square"/>
          <a:lstStyle/>
          <a:p>
            <a:r>
              <a:rPr lang="en-US"/>
              <a:t>The workshop path resolves the missing-input problem</a:t>
            </a:r>
          </a:p>
        </p:txBody>
      </p:sp>
      <p:sp>
        <p:nvSpPr>
          <p:cNvPr id="3" name="Li_ProcessStateDiagram_3" descr="LiPattern:ProcessStateDiagram">
            <a:extLst>
              <a:ext uri="{FF2B5EF4-FFF2-40B4-BE49-F238E27FC236}">
                <a16:creationId xmlns:a16="http://schemas.microsoft.com/office/drawing/2014/main" id="{D913C9B7-ABCB-9064-0866-9BA6DCD6FC22}"/>
              </a:ext>
            </a:extLst>
          </p:cNvPr>
          <p:cNvSpPr>
            <a:spLocks noGrp="1"/>
          </p:cNvSpPr>
          <p:nvPr>
            <p:ph idx="1"/>
          </p:nvPr>
        </p:nvSpPr>
        <p:spPr/>
        <p:txBody>
          <a:bodyPr wrap="square"/>
          <a:lstStyle/>
          <a:p>
            <a:pPr marL="0" indent="0">
              <a:buNone/>
            </a:pPr>
            <a:r>
              <a:rPr lang="en-US" sz="1500">
                <a:solidFill>
                  <a:srgbClr val="636569"/>
                </a:solidFill>
              </a:rPr>
              <a:t>Instead of starting with modeling, the workshop creates evidence first.</a:t>
            </a:r>
          </a:p>
        </p:txBody>
      </p:sp>
      <p:sp>
        <p:nvSpPr>
          <p:cNvPr id="4" name="Li_ProcessStateDiagram_4" descr="LiPattern:ProcessStateDiagram">
            <a:extLst>
              <a:ext uri="{FF2B5EF4-FFF2-40B4-BE49-F238E27FC236}">
                <a16:creationId xmlns:a16="http://schemas.microsoft.com/office/drawing/2014/main" id="{DAA3D666-881C-AD18-F99D-B225D4D4BBEE}"/>
              </a:ext>
            </a:extLst>
          </p:cNvPr>
          <p:cNvSpPr/>
          <p:nvPr/>
        </p:nvSpPr>
        <p:spPr>
          <a:xfrm>
            <a:off x="914400" y="2921000"/>
            <a:ext cx="1879600" cy="11684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Define scope</a:t>
            </a:r>
          </a:p>
          <a:p>
            <a:pPr algn="ctr"/>
            <a:r>
              <a:rPr lang="en-US" sz="1300" b="1">
                <a:solidFill>
                  <a:srgbClr val="1F1F1F"/>
                </a:solidFill>
                <a:latin typeface="Arial" pitchFamily="34" charset="0"/>
                <a:cs typeface="Arial" pitchFamily="34" charset="0"/>
              </a:rPr>
              <a:t>Choose representative conversion target.</a:t>
            </a:r>
            <a:endParaRPr lang="en-US" sz="1300" b="1" dirty="0">
              <a:solidFill>
                <a:srgbClr val="1F1F1F"/>
              </a:solidFill>
              <a:latin typeface="Arial" pitchFamily="34" charset="0"/>
              <a:cs typeface="Arial" pitchFamily="34" charset="0"/>
            </a:endParaRPr>
          </a:p>
        </p:txBody>
      </p:sp>
      <p:sp>
        <p:nvSpPr>
          <p:cNvPr id="5" name="Li_ProcessStateDiagram_5" descr="LiPattern:ProcessStateDiagram">
            <a:extLst>
              <a:ext uri="{FF2B5EF4-FFF2-40B4-BE49-F238E27FC236}">
                <a16:creationId xmlns:a16="http://schemas.microsoft.com/office/drawing/2014/main" id="{C22F6A3D-312C-F7CA-C4E5-5E69AAB6444F}"/>
              </a:ext>
            </a:extLst>
          </p:cNvPr>
          <p:cNvSpPr/>
          <p:nvPr/>
        </p:nvSpPr>
        <p:spPr>
          <a:xfrm>
            <a:off x="1041400" y="2514600"/>
            <a:ext cx="812800" cy="304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Ready</a:t>
            </a:r>
            <a:endParaRPr lang="en-US" sz="950" b="1" dirty="0">
              <a:solidFill>
                <a:srgbClr val="1F1F1F"/>
              </a:solidFill>
              <a:latin typeface="Arial" pitchFamily="34" charset="0"/>
              <a:cs typeface="Arial" pitchFamily="34" charset="0"/>
            </a:endParaRPr>
          </a:p>
        </p:txBody>
      </p:sp>
      <p:sp>
        <p:nvSpPr>
          <p:cNvPr id="6" name="Li_ProcessStateDiagram_6" descr="LiPattern:ProcessStateDiagram">
            <a:extLst>
              <a:ext uri="{FF2B5EF4-FFF2-40B4-BE49-F238E27FC236}">
                <a16:creationId xmlns:a16="http://schemas.microsoft.com/office/drawing/2014/main" id="{714FE034-EA0D-BDD6-6EAA-63C61FED20D0}"/>
              </a:ext>
            </a:extLst>
          </p:cNvPr>
          <p:cNvSpPr/>
          <p:nvPr/>
        </p:nvSpPr>
        <p:spPr>
          <a:xfrm>
            <a:off x="28321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7" name="Li_ProcessStateDiagram_7" descr="LiPattern:ProcessStateDiagram">
            <a:extLst>
              <a:ext uri="{FF2B5EF4-FFF2-40B4-BE49-F238E27FC236}">
                <a16:creationId xmlns:a16="http://schemas.microsoft.com/office/drawing/2014/main" id="{5767CBFA-5C0F-DADD-257D-4DC20534562A}"/>
              </a:ext>
            </a:extLst>
          </p:cNvPr>
          <p:cNvSpPr/>
          <p:nvPr/>
        </p:nvSpPr>
        <p:spPr>
          <a:xfrm>
            <a:off x="3022600" y="2921000"/>
            <a:ext cx="1879600" cy="11684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Analyze workflow</a:t>
            </a:r>
          </a:p>
          <a:p>
            <a:pPr algn="ctr"/>
            <a:r>
              <a:rPr lang="en-US" sz="1300" b="1">
                <a:solidFill>
                  <a:srgbClr val="1F1F1F"/>
                </a:solidFill>
                <a:latin typeface="Arial" pitchFamily="34" charset="0"/>
                <a:cs typeface="Arial" pitchFamily="34" charset="0"/>
              </a:rPr>
              <a:t>Locate runtime and ownership boundaries.</a:t>
            </a:r>
            <a:endParaRPr lang="en-US" sz="1300" b="1" dirty="0">
              <a:solidFill>
                <a:srgbClr val="1F1F1F"/>
              </a:solidFill>
              <a:latin typeface="Arial" pitchFamily="34" charset="0"/>
              <a:cs typeface="Arial" pitchFamily="34" charset="0"/>
            </a:endParaRPr>
          </a:p>
        </p:txBody>
      </p:sp>
      <p:sp>
        <p:nvSpPr>
          <p:cNvPr id="8" name="Li_ProcessStateDiagram_8" descr="LiPattern:ProcessStateDiagram">
            <a:extLst>
              <a:ext uri="{FF2B5EF4-FFF2-40B4-BE49-F238E27FC236}">
                <a16:creationId xmlns:a16="http://schemas.microsoft.com/office/drawing/2014/main" id="{649D99AD-8DD8-9C3A-B26B-92A2FED423C0}"/>
              </a:ext>
            </a:extLst>
          </p:cNvPr>
          <p:cNvSpPr/>
          <p:nvPr/>
        </p:nvSpPr>
        <p:spPr>
          <a:xfrm>
            <a:off x="3149600" y="2514600"/>
            <a:ext cx="8128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Ready</a:t>
            </a:r>
            <a:endParaRPr lang="en-US" sz="950" b="1" dirty="0">
              <a:solidFill>
                <a:srgbClr val="1F1F1F"/>
              </a:solidFill>
              <a:latin typeface="Arial" pitchFamily="34" charset="0"/>
              <a:cs typeface="Arial" pitchFamily="34" charset="0"/>
            </a:endParaRPr>
          </a:p>
        </p:txBody>
      </p:sp>
      <p:sp>
        <p:nvSpPr>
          <p:cNvPr id="9" name="Li_ProcessStateDiagram_9" descr="LiPattern:ProcessStateDiagram">
            <a:extLst>
              <a:ext uri="{FF2B5EF4-FFF2-40B4-BE49-F238E27FC236}">
                <a16:creationId xmlns:a16="http://schemas.microsoft.com/office/drawing/2014/main" id="{0DB9858C-2464-06F4-656C-E70BA290A693}"/>
              </a:ext>
            </a:extLst>
          </p:cNvPr>
          <p:cNvSpPr/>
          <p:nvPr/>
        </p:nvSpPr>
        <p:spPr>
          <a:xfrm>
            <a:off x="49403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0" name="Li_ProcessStateDiagram_10" descr="LiPattern:ProcessStateDiagram">
            <a:extLst>
              <a:ext uri="{FF2B5EF4-FFF2-40B4-BE49-F238E27FC236}">
                <a16:creationId xmlns:a16="http://schemas.microsoft.com/office/drawing/2014/main" id="{540AD726-355C-9EEC-4F8B-18FFD354070D}"/>
              </a:ext>
            </a:extLst>
          </p:cNvPr>
          <p:cNvSpPr/>
          <p:nvPr/>
        </p:nvSpPr>
        <p:spPr>
          <a:xfrm>
            <a:off x="5130800" y="2921000"/>
            <a:ext cx="1879600" cy="11684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Review code artifacts</a:t>
            </a:r>
          </a:p>
          <a:p>
            <a:pPr algn="ctr"/>
            <a:r>
              <a:rPr lang="en-US" sz="1300" b="1">
                <a:solidFill>
                  <a:srgbClr val="1F1F1F"/>
                </a:solidFill>
                <a:latin typeface="Arial" pitchFamily="34" charset="0"/>
                <a:cs typeface="Arial" pitchFamily="34" charset="0"/>
              </a:rPr>
              <a:t>Find data, types, and control behavior.</a:t>
            </a:r>
            <a:endParaRPr lang="en-US" sz="1300" b="1" dirty="0">
              <a:solidFill>
                <a:srgbClr val="1F1F1F"/>
              </a:solidFill>
              <a:latin typeface="Arial" pitchFamily="34" charset="0"/>
              <a:cs typeface="Arial" pitchFamily="34" charset="0"/>
            </a:endParaRPr>
          </a:p>
        </p:txBody>
      </p:sp>
      <p:sp>
        <p:nvSpPr>
          <p:cNvPr id="11" name="Li_ProcessStateDiagram_11" descr="LiPattern:ProcessStateDiagram">
            <a:extLst>
              <a:ext uri="{FF2B5EF4-FFF2-40B4-BE49-F238E27FC236}">
                <a16:creationId xmlns:a16="http://schemas.microsoft.com/office/drawing/2014/main" id="{FDE54E9C-32AC-2010-B8F8-D01F914AC677}"/>
              </a:ext>
            </a:extLst>
          </p:cNvPr>
          <p:cNvSpPr/>
          <p:nvPr/>
        </p:nvSpPr>
        <p:spPr>
          <a:xfrm>
            <a:off x="5257800" y="2514600"/>
            <a:ext cx="812800" cy="3048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Ready</a:t>
            </a:r>
            <a:endParaRPr lang="en-US" sz="950" b="1" dirty="0">
              <a:solidFill>
                <a:srgbClr val="1F1F1F"/>
              </a:solidFill>
              <a:latin typeface="Arial" pitchFamily="34" charset="0"/>
              <a:cs typeface="Arial" pitchFamily="34" charset="0"/>
            </a:endParaRPr>
          </a:p>
        </p:txBody>
      </p:sp>
      <p:sp>
        <p:nvSpPr>
          <p:cNvPr id="12" name="Li_ProcessStateDiagram_12" descr="LiPattern:ProcessStateDiagram">
            <a:extLst>
              <a:ext uri="{FF2B5EF4-FFF2-40B4-BE49-F238E27FC236}">
                <a16:creationId xmlns:a16="http://schemas.microsoft.com/office/drawing/2014/main" id="{373F103F-3EA0-A45D-3036-683BB6851EE7}"/>
              </a:ext>
            </a:extLst>
          </p:cNvPr>
          <p:cNvSpPr/>
          <p:nvPr/>
        </p:nvSpPr>
        <p:spPr>
          <a:xfrm>
            <a:off x="70485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3" name="Li_ProcessStateDiagram_13" descr="LiPattern:ProcessStateDiagram">
            <a:extLst>
              <a:ext uri="{FF2B5EF4-FFF2-40B4-BE49-F238E27FC236}">
                <a16:creationId xmlns:a16="http://schemas.microsoft.com/office/drawing/2014/main" id="{AF1AEB9D-7C2D-F6F9-7085-CE47AD31C003}"/>
              </a:ext>
            </a:extLst>
          </p:cNvPr>
          <p:cNvSpPr/>
          <p:nvPr/>
        </p:nvSpPr>
        <p:spPr>
          <a:xfrm>
            <a:off x="7239000" y="2921000"/>
            <a:ext cx="1879600" cy="11684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Convert architecture</a:t>
            </a:r>
          </a:p>
          <a:p>
            <a:pPr algn="ctr"/>
            <a:r>
              <a:rPr lang="en-US" sz="1300" b="1">
                <a:solidFill>
                  <a:srgbClr val="1F1F1F"/>
                </a:solidFill>
                <a:latin typeface="Arial" pitchFamily="34" charset="0"/>
                <a:cs typeface="Arial" pitchFamily="34" charset="0"/>
              </a:rPr>
              <a:t>Map interfaces and components.</a:t>
            </a:r>
            <a:endParaRPr lang="en-US" sz="1300" b="1" dirty="0">
              <a:solidFill>
                <a:srgbClr val="1F1F1F"/>
              </a:solidFill>
              <a:latin typeface="Arial" pitchFamily="34" charset="0"/>
              <a:cs typeface="Arial" pitchFamily="34" charset="0"/>
            </a:endParaRPr>
          </a:p>
        </p:txBody>
      </p:sp>
      <p:sp>
        <p:nvSpPr>
          <p:cNvPr id="14" name="Li_ProcessStateDiagram_14" descr="LiPattern:ProcessStateDiagram">
            <a:extLst>
              <a:ext uri="{FF2B5EF4-FFF2-40B4-BE49-F238E27FC236}">
                <a16:creationId xmlns:a16="http://schemas.microsoft.com/office/drawing/2014/main" id="{2469E5B0-51BB-37F9-BA94-F7223B77189E}"/>
              </a:ext>
            </a:extLst>
          </p:cNvPr>
          <p:cNvSpPr/>
          <p:nvPr/>
        </p:nvSpPr>
        <p:spPr>
          <a:xfrm>
            <a:off x="7366000" y="2514600"/>
            <a:ext cx="8128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Next</a:t>
            </a:r>
            <a:endParaRPr lang="en-US" sz="950" b="1" dirty="0">
              <a:solidFill>
                <a:srgbClr val="1F1F1F"/>
              </a:solidFill>
              <a:latin typeface="Arial" pitchFamily="34" charset="0"/>
              <a:cs typeface="Arial" pitchFamily="34" charset="0"/>
            </a:endParaRPr>
          </a:p>
        </p:txBody>
      </p:sp>
      <p:sp>
        <p:nvSpPr>
          <p:cNvPr id="15" name="Li_ProcessStateDiagram_15" descr="LiPattern:ProcessStateDiagram">
            <a:extLst>
              <a:ext uri="{FF2B5EF4-FFF2-40B4-BE49-F238E27FC236}">
                <a16:creationId xmlns:a16="http://schemas.microsoft.com/office/drawing/2014/main" id="{DE03E31A-8AC2-75A8-E779-1E086DF27CB4}"/>
              </a:ext>
            </a:extLst>
          </p:cNvPr>
          <p:cNvSpPr/>
          <p:nvPr/>
        </p:nvSpPr>
        <p:spPr>
          <a:xfrm>
            <a:off x="9156700" y="3352800"/>
            <a:ext cx="254000" cy="228600"/>
          </a:xfrm>
          <a:prstGeom prst="rightArrow">
            <a:avLst/>
          </a:prstGeom>
          <a:solidFill>
            <a:srgbClr val="D78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rial" pitchFamily="34" charset="0"/>
              <a:cs typeface="Arial" pitchFamily="34" charset="0"/>
            </a:endParaRPr>
          </a:p>
        </p:txBody>
      </p:sp>
      <p:sp>
        <p:nvSpPr>
          <p:cNvPr id="16" name="Li_ProcessStateDiagram_16" descr="LiPattern:ProcessStateDiagram">
            <a:extLst>
              <a:ext uri="{FF2B5EF4-FFF2-40B4-BE49-F238E27FC236}">
                <a16:creationId xmlns:a16="http://schemas.microsoft.com/office/drawing/2014/main" id="{5A75DFDE-2268-CCED-5166-E21880311398}"/>
              </a:ext>
            </a:extLst>
          </p:cNvPr>
          <p:cNvSpPr/>
          <p:nvPr/>
        </p:nvSpPr>
        <p:spPr>
          <a:xfrm>
            <a:off x="9347200" y="2921000"/>
            <a:ext cx="1879600" cy="11684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Test and plan</a:t>
            </a:r>
          </a:p>
          <a:p>
            <a:pPr algn="ctr"/>
            <a:r>
              <a:rPr lang="en-US" sz="1300" b="1">
                <a:solidFill>
                  <a:srgbClr val="1F1F1F"/>
                </a:solidFill>
                <a:latin typeface="Arial" pitchFamily="34" charset="0"/>
                <a:cs typeface="Arial" pitchFamily="34" charset="0"/>
              </a:rPr>
              <a:t>Turn findings into repeatable workflow.</a:t>
            </a:r>
            <a:endParaRPr lang="en-US" sz="1300" b="1" dirty="0">
              <a:solidFill>
                <a:srgbClr val="1F1F1F"/>
              </a:solidFill>
              <a:latin typeface="Arial" pitchFamily="34" charset="0"/>
              <a:cs typeface="Arial" pitchFamily="34" charset="0"/>
            </a:endParaRPr>
          </a:p>
        </p:txBody>
      </p:sp>
      <p:sp>
        <p:nvSpPr>
          <p:cNvPr id="17" name="Li_ProcessStateDiagram_17" descr="LiPattern:ProcessStateDiagram">
            <a:extLst>
              <a:ext uri="{FF2B5EF4-FFF2-40B4-BE49-F238E27FC236}">
                <a16:creationId xmlns:a16="http://schemas.microsoft.com/office/drawing/2014/main" id="{F6058F7F-5372-B17E-56F9-C138DCA5B7BA}"/>
              </a:ext>
            </a:extLst>
          </p:cNvPr>
          <p:cNvSpPr/>
          <p:nvPr/>
        </p:nvSpPr>
        <p:spPr>
          <a:xfrm>
            <a:off x="9474200" y="2514600"/>
            <a:ext cx="8128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Next</a:t>
            </a:r>
            <a:endParaRPr lang="en-US" sz="95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382020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B1F9-9001-1A26-8EBC-6B680EBE12FE}"/>
              </a:ext>
            </a:extLst>
          </p:cNvPr>
          <p:cNvSpPr>
            <a:spLocks noGrp="1"/>
          </p:cNvSpPr>
          <p:nvPr>
            <p:ph type="title"/>
          </p:nvPr>
        </p:nvSpPr>
        <p:spPr/>
        <p:txBody>
          <a:bodyPr wrap="square"/>
          <a:lstStyle/>
          <a:p>
            <a:r>
              <a:rPr lang="en-US"/>
              <a:t>Source code is not just implementation; it exposes modeling decisions</a:t>
            </a:r>
          </a:p>
        </p:txBody>
      </p:sp>
      <p:sp>
        <p:nvSpPr>
          <p:cNvPr id="3" name="Content Placeholder 2">
            <a:extLst>
              <a:ext uri="{FF2B5EF4-FFF2-40B4-BE49-F238E27FC236}">
                <a16:creationId xmlns:a16="http://schemas.microsoft.com/office/drawing/2014/main" id="{123D61DC-042D-3DE6-D251-2FF7EE0F1A50}"/>
              </a:ext>
            </a:extLst>
          </p:cNvPr>
          <p:cNvSpPr>
            <a:spLocks noGrp="1"/>
          </p:cNvSpPr>
          <p:nvPr>
            <p:ph idx="1"/>
          </p:nvPr>
        </p:nvSpPr>
        <p:spPr/>
        <p:txBody>
          <a:bodyPr wrap="square"/>
          <a:lstStyle/>
          <a:p>
            <a:pPr marL="0" indent="0">
              <a:buNone/>
            </a:pPr>
            <a:r>
              <a:rPr lang="en-US" sz="1500">
                <a:solidFill>
                  <a:srgbClr val="636569"/>
                </a:solidFill>
              </a:rPr>
              <a:t>The source deck used code excerpts to identify boundaries, states, and data dependencies.</a:t>
            </a:r>
          </a:p>
        </p:txBody>
      </p:sp>
      <p:sp>
        <p:nvSpPr>
          <p:cNvPr id="4" name="Rectangle: Rounded Corners 3">
            <a:extLst>
              <a:ext uri="{FF2B5EF4-FFF2-40B4-BE49-F238E27FC236}">
                <a16:creationId xmlns:a16="http://schemas.microsoft.com/office/drawing/2014/main" id="{CAD51A97-C050-64B7-328C-1EC21C1ED703}"/>
              </a:ext>
            </a:extLst>
          </p:cNvPr>
          <p:cNvSpPr/>
          <p:nvPr/>
        </p:nvSpPr>
        <p:spPr>
          <a:xfrm>
            <a:off x="736600" y="2286000"/>
            <a:ext cx="6477000" cy="2921000"/>
          </a:xfrm>
          <a:prstGeom prst="roundRect">
            <a:avLst/>
          </a:prstGeom>
          <a:solidFill>
            <a:srgbClr val="F2F4F5">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52400" tIns="101600" rtlCol="0" anchor="ctr"/>
          <a:lstStyle/>
          <a:p>
            <a:pPr algn="ctr"/>
            <a:r>
              <a:rPr lang="en-US" sz="1200" b="1">
                <a:solidFill>
                  <a:srgbClr val="1F1F1F"/>
                </a:solidFill>
                <a:latin typeface="Consolas" panose="020B0609020204030204" pitchFamily="49" charset="0"/>
                <a:cs typeface="Arial" pitchFamily="34" charset="0"/>
              </a:rPr>
              <a:t>void VFNormalControl(void)
{
    RegeneratingEnergyControl(...);
    OutPutFreqCompute();
    VFCurveFreqPu = RTDB.StartReferSource.flINToutFreqPu;
    if (fabs(...) &lt;= cAt_Reference_point) {
        status_reg_st...AT_REFERENCE_BIT = RunStatus_Reached;
    }
    VFCurveFreqPu = RangeLimit(...);
}</a:t>
            </a:r>
            <a:endParaRPr lang="en-US" sz="1200" b="1" dirty="0">
              <a:solidFill>
                <a:srgbClr val="1F1F1F"/>
              </a:solidFill>
              <a:latin typeface="Consolas" panose="020B0609020204030204" pitchFamily="49" charset="0"/>
              <a:cs typeface="Arial" pitchFamily="34" charset="0"/>
            </a:endParaRPr>
          </a:p>
        </p:txBody>
      </p:sp>
      <p:sp>
        <p:nvSpPr>
          <p:cNvPr id="5" name="Rectangle: Rounded Corners 4">
            <a:extLst>
              <a:ext uri="{FF2B5EF4-FFF2-40B4-BE49-F238E27FC236}">
                <a16:creationId xmlns:a16="http://schemas.microsoft.com/office/drawing/2014/main" id="{1BFF72F8-57D4-DEE0-4163-52C93738F98D}"/>
              </a:ext>
            </a:extLst>
          </p:cNvPr>
          <p:cNvSpPr/>
          <p:nvPr/>
        </p:nvSpPr>
        <p:spPr>
          <a:xfrm>
            <a:off x="7620000" y="2286000"/>
            <a:ext cx="3048000" cy="736600"/>
          </a:xfrm>
          <a:prstGeom prst="roundRect">
            <a:avLst/>
          </a:prstGeom>
          <a:solidFill>
            <a:srgbClr val="ECF5F8">
              <a:alpha val="92000"/>
            </a:srgbClr>
          </a:solidFill>
          <a:ln w="1143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Control sequence suggests subsystem behavior.</a:t>
            </a:r>
            <a:endParaRPr lang="en-US" sz="1300" b="1" dirty="0">
              <a:solidFill>
                <a:srgbClr val="1F1F1F"/>
              </a:solidFill>
              <a:latin typeface="Arial" pitchFamily="34" charset="0"/>
              <a:cs typeface="Arial" pitchFamily="34" charset="0"/>
            </a:endParaRPr>
          </a:p>
        </p:txBody>
      </p:sp>
      <p:sp>
        <p:nvSpPr>
          <p:cNvPr id="6" name="Rectangle: Rounded Corners 5">
            <a:extLst>
              <a:ext uri="{FF2B5EF4-FFF2-40B4-BE49-F238E27FC236}">
                <a16:creationId xmlns:a16="http://schemas.microsoft.com/office/drawing/2014/main" id="{AEC8E9A3-5A32-2EFE-CDB6-0AABCB086875}"/>
              </a:ext>
            </a:extLst>
          </p:cNvPr>
          <p:cNvSpPr/>
          <p:nvPr/>
        </p:nvSpPr>
        <p:spPr>
          <a:xfrm>
            <a:off x="7620000" y="3251200"/>
            <a:ext cx="3048000" cy="736600"/>
          </a:xfrm>
          <a:prstGeom prst="roundRect">
            <a:avLst/>
          </a:prstGeom>
          <a:solidFill>
            <a:srgbClr val="FFF6DA">
              <a:alpha val="92000"/>
            </a:srgbClr>
          </a:solidFill>
          <a:ln w="1143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RTDB access reveals data ownership and interfaces.</a:t>
            </a:r>
            <a:endParaRPr lang="en-US" sz="1300" b="1" dirty="0">
              <a:solidFill>
                <a:srgbClr val="1F1F1F"/>
              </a:solidFill>
              <a:latin typeface="Arial" pitchFamily="34" charset="0"/>
              <a:cs typeface="Arial" pitchFamily="34" charset="0"/>
            </a:endParaRPr>
          </a:p>
        </p:txBody>
      </p:sp>
      <p:sp>
        <p:nvSpPr>
          <p:cNvPr id="7" name="Rectangle: Rounded Corners 6">
            <a:extLst>
              <a:ext uri="{FF2B5EF4-FFF2-40B4-BE49-F238E27FC236}">
                <a16:creationId xmlns:a16="http://schemas.microsoft.com/office/drawing/2014/main" id="{15C6BF13-D799-CE17-1DAF-637FC627C0B1}"/>
              </a:ext>
            </a:extLst>
          </p:cNvPr>
          <p:cNvSpPr/>
          <p:nvPr/>
        </p:nvSpPr>
        <p:spPr>
          <a:xfrm>
            <a:off x="7620000" y="4216400"/>
            <a:ext cx="3048000" cy="736600"/>
          </a:xfrm>
          <a:prstGeom prst="roundRect">
            <a:avLst/>
          </a:prstGeom>
          <a:solidFill>
            <a:srgbClr val="EDF7EB">
              <a:alpha val="92000"/>
            </a:srgbClr>
          </a:solidFill>
          <a:ln w="1143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00" b="1">
                <a:solidFill>
                  <a:srgbClr val="1F1F1F"/>
                </a:solidFill>
                <a:latin typeface="Arial" pitchFamily="34" charset="0"/>
                <a:cs typeface="Arial" pitchFamily="34" charset="0"/>
              </a:rPr>
              <a:t>Status bits become requirements and test observations.</a:t>
            </a:r>
            <a:endParaRPr lang="en-US" sz="130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7242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F60F1-9D23-C4F9-5654-2C4B5BA4B746}"/>
              </a:ext>
            </a:extLst>
          </p:cNvPr>
          <p:cNvSpPr>
            <a:spLocks noGrp="1"/>
          </p:cNvSpPr>
          <p:nvPr>
            <p:ph type="title"/>
          </p:nvPr>
        </p:nvSpPr>
        <p:spPr/>
        <p:txBody>
          <a:bodyPr wrap="square"/>
          <a:lstStyle/>
          <a:p>
            <a:r>
              <a:rPr lang="en-US"/>
              <a:t>Data definitions become the interface contract</a:t>
            </a:r>
          </a:p>
        </p:txBody>
      </p:sp>
      <p:sp>
        <p:nvSpPr>
          <p:cNvPr id="3" name="Li_ConceptArtifact_3" descr="LiPattern:ConceptArtifact">
            <a:extLst>
              <a:ext uri="{FF2B5EF4-FFF2-40B4-BE49-F238E27FC236}">
                <a16:creationId xmlns:a16="http://schemas.microsoft.com/office/drawing/2014/main" id="{9924C873-8D98-FFC1-1BA4-3F001BABCAB0}"/>
              </a:ext>
            </a:extLst>
          </p:cNvPr>
          <p:cNvSpPr>
            <a:spLocks noGrp="1"/>
          </p:cNvSpPr>
          <p:nvPr>
            <p:ph idx="1"/>
          </p:nvPr>
        </p:nvSpPr>
        <p:spPr/>
        <p:txBody>
          <a:bodyPr wrap="square"/>
          <a:lstStyle/>
          <a:p>
            <a:pPr marL="0" indent="0">
              <a:buNone/>
            </a:pPr>
            <a:r>
              <a:rPr lang="en-US" sz="1500">
                <a:solidFill>
                  <a:srgbClr val="636569"/>
                </a:solidFill>
              </a:rPr>
              <a:t>The workshop used data structures and typedefs to decide what the model must own, expose, or test.</a:t>
            </a:r>
          </a:p>
        </p:txBody>
      </p:sp>
      <p:grpSp>
        <p:nvGrpSpPr>
          <p:cNvPr id="11" name="Li_ConceptArtifact" descr="LiPattern:ConceptArtifact">
            <a:extLst>
              <a:ext uri="{FF2B5EF4-FFF2-40B4-BE49-F238E27FC236}">
                <a16:creationId xmlns:a16="http://schemas.microsoft.com/office/drawing/2014/main" id="{052BA0AD-B638-7A91-B7C9-0C27420A7DD9}"/>
              </a:ext>
            </a:extLst>
          </p:cNvPr>
          <p:cNvGrpSpPr/>
          <p:nvPr/>
        </p:nvGrpSpPr>
        <p:grpSpPr>
          <a:xfrm>
            <a:off x="863600" y="2006600"/>
            <a:ext cx="9880600" cy="4292600"/>
            <a:chOff x="863600" y="2006600"/>
            <a:chExt cx="9880600" cy="4292600"/>
          </a:xfrm>
        </p:grpSpPr>
        <p:sp>
          <p:nvSpPr>
            <p:cNvPr id="4" name="Li_ConceptArtifact_4" descr="LiPattern:ConceptArtifact">
              <a:extLst>
                <a:ext uri="{FF2B5EF4-FFF2-40B4-BE49-F238E27FC236}">
                  <a16:creationId xmlns:a16="http://schemas.microsoft.com/office/drawing/2014/main" id="{326FC169-6A4D-6959-D595-96F58E621B83}"/>
                </a:ext>
              </a:extLst>
            </p:cNvPr>
            <p:cNvSpPr/>
            <p:nvPr/>
          </p:nvSpPr>
          <p:spPr>
            <a:xfrm>
              <a:off x="863600" y="2133600"/>
              <a:ext cx="4572000" cy="711200"/>
            </a:xfrm>
            <a:prstGeom prst="roundRect">
              <a:avLst/>
            </a:prstGeom>
            <a:solidFill>
              <a:srgbClr val="ECF5F8">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0076A8"/>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500" b="1">
                  <a:solidFill>
                    <a:srgbClr val="1F1F1F"/>
                  </a:solidFill>
                  <a:latin typeface="Arial" pitchFamily="34" charset="0"/>
                  <a:cs typeface="Arial" pitchFamily="34" charset="0"/>
                </a:rPr>
                <a:t>Types define stable contracts</a:t>
              </a:r>
            </a:p>
            <a:p>
              <a:pPr algn="ctr"/>
              <a:r>
                <a:rPr lang="en-US" sz="1150">
                  <a:solidFill>
                    <a:srgbClr val="636569"/>
                  </a:solidFill>
                  <a:latin typeface="Arial" pitchFamily="34" charset="0"/>
                  <a:cs typeface="Arial" pitchFamily="34" charset="0"/>
                </a:rPr>
                <a:t>Structures and enums show expected data shape.</a:t>
              </a:r>
              <a:endParaRPr lang="en-US" sz="1150" dirty="0">
                <a:solidFill>
                  <a:srgbClr val="636569"/>
                </a:solidFill>
                <a:latin typeface="Arial" pitchFamily="34" charset="0"/>
                <a:cs typeface="Arial" pitchFamily="34" charset="0"/>
              </a:endParaRPr>
            </a:p>
          </p:txBody>
        </p:sp>
        <p:sp>
          <p:nvSpPr>
            <p:cNvPr id="5" name="Li_ConceptArtifact_5" descr="LiPattern:ConceptArtifact">
              <a:extLst>
                <a:ext uri="{FF2B5EF4-FFF2-40B4-BE49-F238E27FC236}">
                  <a16:creationId xmlns:a16="http://schemas.microsoft.com/office/drawing/2014/main" id="{A15BE30D-F5D4-599A-B2F7-491A2B44373A}"/>
                </a:ext>
              </a:extLst>
            </p:cNvPr>
            <p:cNvSpPr/>
            <p:nvPr/>
          </p:nvSpPr>
          <p:spPr>
            <a:xfrm>
              <a:off x="863600" y="3048000"/>
              <a:ext cx="4572000" cy="711200"/>
            </a:xfrm>
            <a:prstGeom prst="roundRect">
              <a:avLst/>
            </a:prstGeom>
            <a:solidFill>
              <a:srgbClr val="FAEAE9">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B7302C"/>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500" b="1">
                  <a:solidFill>
                    <a:srgbClr val="1F1F1F"/>
                  </a:solidFill>
                  <a:latin typeface="Arial" pitchFamily="34" charset="0"/>
                  <a:cs typeface="Arial" pitchFamily="34" charset="0"/>
                </a:rPr>
                <a:t>Globals reveal coupling</a:t>
              </a:r>
            </a:p>
            <a:p>
              <a:pPr algn="ctr"/>
              <a:r>
                <a:rPr lang="en-US" sz="1150">
                  <a:solidFill>
                    <a:srgbClr val="636569"/>
                  </a:solidFill>
                  <a:latin typeface="Arial" pitchFamily="34" charset="0"/>
                  <a:cs typeface="Arial" pitchFamily="34" charset="0"/>
                </a:rPr>
                <a:t>Shared RTDB fields become interface review targets.</a:t>
              </a:r>
              <a:endParaRPr lang="en-US" sz="1150" dirty="0">
                <a:solidFill>
                  <a:srgbClr val="636569"/>
                </a:solidFill>
                <a:latin typeface="Arial" pitchFamily="34" charset="0"/>
                <a:cs typeface="Arial" pitchFamily="34" charset="0"/>
              </a:endParaRPr>
            </a:p>
          </p:txBody>
        </p:sp>
        <p:sp>
          <p:nvSpPr>
            <p:cNvPr id="6" name="Li_ConceptArtifact_6" descr="LiPattern:ConceptArtifact">
              <a:extLst>
                <a:ext uri="{FF2B5EF4-FFF2-40B4-BE49-F238E27FC236}">
                  <a16:creationId xmlns:a16="http://schemas.microsoft.com/office/drawing/2014/main" id="{9405CF8A-5380-1EAD-465A-EF1485A98E1D}"/>
                </a:ext>
              </a:extLst>
            </p:cNvPr>
            <p:cNvSpPr/>
            <p:nvPr/>
          </p:nvSpPr>
          <p:spPr>
            <a:xfrm>
              <a:off x="863600" y="3962400"/>
              <a:ext cx="4572000" cy="711200"/>
            </a:xfrm>
            <a:prstGeom prst="roundRect">
              <a:avLst/>
            </a:prstGeom>
            <a:solidFill>
              <a:srgbClr val="EDF7EB">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48A23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500" b="1">
                  <a:solidFill>
                    <a:srgbClr val="1F1F1F"/>
                  </a:solidFill>
                  <a:latin typeface="Arial" pitchFamily="34" charset="0"/>
                  <a:cs typeface="Arial" pitchFamily="34" charset="0"/>
                </a:rPr>
                <a:t>Status fields become observable outcomes</a:t>
              </a:r>
            </a:p>
            <a:p>
              <a:pPr algn="ctr"/>
              <a:r>
                <a:rPr lang="en-US" sz="1150">
                  <a:solidFill>
                    <a:srgbClr val="636569"/>
                  </a:solidFill>
                  <a:latin typeface="Arial" pitchFamily="34" charset="0"/>
                  <a:cs typeface="Arial" pitchFamily="34" charset="0"/>
                </a:rPr>
                <a:t>They help define requirements and tests.</a:t>
              </a:r>
              <a:endParaRPr lang="en-US" sz="1150" dirty="0">
                <a:solidFill>
                  <a:srgbClr val="636569"/>
                </a:solidFill>
                <a:latin typeface="Arial" pitchFamily="34" charset="0"/>
                <a:cs typeface="Arial" pitchFamily="34" charset="0"/>
              </a:endParaRPr>
            </a:p>
          </p:txBody>
        </p:sp>
        <p:sp>
          <p:nvSpPr>
            <p:cNvPr id="7" name="Li_ConceptArtifact_7" descr="LiPattern:ConceptArtifact">
              <a:extLst>
                <a:ext uri="{FF2B5EF4-FFF2-40B4-BE49-F238E27FC236}">
                  <a16:creationId xmlns:a16="http://schemas.microsoft.com/office/drawing/2014/main" id="{1FAFDB8A-4E58-8632-DAA9-310B9F1EB326}"/>
                </a:ext>
              </a:extLst>
            </p:cNvPr>
            <p:cNvSpPr/>
            <p:nvPr/>
          </p:nvSpPr>
          <p:spPr>
            <a:xfrm>
              <a:off x="6172200" y="2006600"/>
              <a:ext cx="4572000" cy="2946400"/>
            </a:xfrm>
            <a:prstGeom prst="roundRect">
              <a:avLst/>
            </a:prstGeom>
            <a:solidFill>
              <a:srgbClr val="F2F4F5">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636569"/>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700" b="1">
                  <a:solidFill>
                    <a:srgbClr val="1F1F1F"/>
                  </a:solidFill>
                  <a:latin typeface="Arial" pitchFamily="34" charset="0"/>
                  <a:cs typeface="Arial" pitchFamily="34" charset="0"/>
                </a:rPr>
                <a:t>Placeholder</a:t>
              </a:r>
            </a:p>
            <a:p>
              <a:pPr algn="ctr"/>
              <a:r>
                <a:rPr lang="en-US" sz="1700" b="1">
                  <a:solidFill>
                    <a:srgbClr val="1F1F1F"/>
                  </a:solidFill>
                  <a:latin typeface="Arial" pitchFamily="34" charset="0"/>
                  <a:cs typeface="Arial" pitchFamily="34" charset="0"/>
                </a:rPr>
                <a:t>Add project-safe DataBase.h or data dictionary screenshot</a:t>
              </a:r>
              <a:endParaRPr lang="en-US" sz="1700" b="1" dirty="0">
                <a:solidFill>
                  <a:srgbClr val="1F1F1F"/>
                </a:solidFill>
                <a:latin typeface="Arial" pitchFamily="34" charset="0"/>
                <a:cs typeface="Arial" pitchFamily="34" charset="0"/>
              </a:endParaRPr>
            </a:p>
          </p:txBody>
        </p:sp>
        <p:sp>
          <p:nvSpPr>
            <p:cNvPr id="8" name="Li_ConceptArtifact_8" descr="LiPattern:ConceptArtifact">
              <a:extLst>
                <a:ext uri="{FF2B5EF4-FFF2-40B4-BE49-F238E27FC236}">
                  <a16:creationId xmlns:a16="http://schemas.microsoft.com/office/drawing/2014/main" id="{69F7782E-8601-F6ED-167B-DD62DBC265D1}"/>
                </a:ext>
              </a:extLst>
            </p:cNvPr>
            <p:cNvSpPr/>
            <p:nvPr/>
          </p:nvSpPr>
          <p:spPr>
            <a:xfrm>
              <a:off x="6172200" y="5207000"/>
              <a:ext cx="2159000" cy="482600"/>
            </a:xfrm>
            <a:prstGeom prst="roundRect">
              <a:avLst/>
            </a:prstGeom>
            <a:solidFill>
              <a:srgbClr val="ECF5F8">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0076A8"/>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Own</a:t>
              </a:r>
              <a:endParaRPr lang="en-US" sz="1150" b="1" dirty="0">
                <a:solidFill>
                  <a:srgbClr val="1F1F1F"/>
                </a:solidFill>
                <a:latin typeface="Arial" pitchFamily="34" charset="0"/>
                <a:cs typeface="Arial" pitchFamily="34" charset="0"/>
              </a:endParaRPr>
            </a:p>
          </p:txBody>
        </p:sp>
        <p:sp>
          <p:nvSpPr>
            <p:cNvPr id="9" name="Li_ConceptArtifact_9" descr="LiPattern:ConceptArtifact">
              <a:extLst>
                <a:ext uri="{FF2B5EF4-FFF2-40B4-BE49-F238E27FC236}">
                  <a16:creationId xmlns:a16="http://schemas.microsoft.com/office/drawing/2014/main" id="{C7AD985C-25F6-6758-0D5E-85BB8CB2F974}"/>
                </a:ext>
              </a:extLst>
            </p:cNvPr>
            <p:cNvSpPr/>
            <p:nvPr/>
          </p:nvSpPr>
          <p:spPr>
            <a:xfrm>
              <a:off x="8509000" y="5207000"/>
              <a:ext cx="2159000" cy="482600"/>
            </a:xfrm>
            <a:prstGeom prst="roundRect">
              <a:avLst/>
            </a:prstGeom>
            <a:solidFill>
              <a:srgbClr val="ECF5F8">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0076A8"/>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Expose</a:t>
              </a:r>
              <a:endParaRPr lang="en-US" sz="1150" b="1" dirty="0">
                <a:solidFill>
                  <a:srgbClr val="1F1F1F"/>
                </a:solidFill>
                <a:latin typeface="Arial" pitchFamily="34" charset="0"/>
                <a:cs typeface="Arial" pitchFamily="34" charset="0"/>
              </a:endParaRPr>
            </a:p>
          </p:txBody>
        </p:sp>
        <p:sp>
          <p:nvSpPr>
            <p:cNvPr id="10" name="Li_ConceptArtifact_10" descr="LiPattern:ConceptArtifact">
              <a:extLst>
                <a:ext uri="{FF2B5EF4-FFF2-40B4-BE49-F238E27FC236}">
                  <a16:creationId xmlns:a16="http://schemas.microsoft.com/office/drawing/2014/main" id="{3F0D9B9B-3175-C419-AB6B-17CCCAD23879}"/>
                </a:ext>
              </a:extLst>
            </p:cNvPr>
            <p:cNvSpPr/>
            <p:nvPr/>
          </p:nvSpPr>
          <p:spPr>
            <a:xfrm>
              <a:off x="6172200" y="5816600"/>
              <a:ext cx="2159000" cy="482600"/>
            </a:xfrm>
            <a:prstGeom prst="roundRect">
              <a:avLst/>
            </a:prstGeom>
            <a:solidFill>
              <a:srgbClr val="EDF7EB">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48A23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Verify</a:t>
              </a:r>
              <a:endParaRPr lang="en-US" sz="1150" b="1" dirty="0">
                <a:solidFill>
                  <a:srgbClr val="1F1F1F"/>
                </a:solidFill>
                <a:latin typeface="Arial" pitchFamily="34" charset="0"/>
                <a:cs typeface="Arial" pitchFamily="34" charset="0"/>
              </a:endParaRPr>
            </a:p>
          </p:txBody>
        </p:sp>
      </p:grpSp>
    </p:spTree>
    <p:extLst>
      <p:ext uri="{BB962C8B-B14F-4D97-AF65-F5344CB8AC3E}">
        <p14:creationId xmlns:p14="http://schemas.microsoft.com/office/powerpoint/2010/main" val="91987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58F4A-4EFC-6CB9-0C9E-B9F3676E6ADD}"/>
              </a:ext>
            </a:extLst>
          </p:cNvPr>
          <p:cNvSpPr>
            <a:spLocks noGrp="1"/>
          </p:cNvSpPr>
          <p:nvPr>
            <p:ph type="title"/>
          </p:nvPr>
        </p:nvSpPr>
        <p:spPr/>
        <p:txBody>
          <a:bodyPr wrap="square"/>
          <a:lstStyle/>
          <a:p>
            <a:r>
              <a:rPr lang="en-US"/>
              <a:t>A useful conversion review connects artifacts to decisions</a:t>
            </a:r>
          </a:p>
        </p:txBody>
      </p:sp>
      <p:sp>
        <p:nvSpPr>
          <p:cNvPr id="3" name="Content Placeholder 2">
            <a:extLst>
              <a:ext uri="{FF2B5EF4-FFF2-40B4-BE49-F238E27FC236}">
                <a16:creationId xmlns:a16="http://schemas.microsoft.com/office/drawing/2014/main" id="{D3075AE4-73F7-5731-82E0-555276E91525}"/>
              </a:ext>
            </a:extLst>
          </p:cNvPr>
          <p:cNvSpPr>
            <a:spLocks noGrp="1"/>
          </p:cNvSpPr>
          <p:nvPr>
            <p:ph idx="1"/>
          </p:nvPr>
        </p:nvSpPr>
        <p:spPr/>
        <p:txBody>
          <a:bodyPr wrap="square"/>
          <a:lstStyle/>
          <a:p>
            <a:pPr marL="0" indent="0">
              <a:buNone/>
            </a:pPr>
            <a:r>
              <a:rPr lang="en-US" sz="1500">
                <a:solidFill>
                  <a:srgbClr val="636569"/>
                </a:solidFill>
              </a:rPr>
              <a:t>This is the reusable review map behind the workshop.</a:t>
            </a:r>
          </a:p>
        </p:txBody>
      </p:sp>
      <p:grpSp>
        <p:nvGrpSpPr>
          <p:cNvPr id="6" name="Li_Artifact_1" descr="LiPattern:ArtifactMap">
            <a:extLst>
              <a:ext uri="{FF2B5EF4-FFF2-40B4-BE49-F238E27FC236}">
                <a16:creationId xmlns:a16="http://schemas.microsoft.com/office/drawing/2014/main" id="{4A204BCB-2181-5853-3BEA-5D71245ECA8D}"/>
              </a:ext>
            </a:extLst>
          </p:cNvPr>
          <p:cNvGrpSpPr/>
          <p:nvPr/>
        </p:nvGrpSpPr>
        <p:grpSpPr>
          <a:xfrm>
            <a:off x="762000" y="2349500"/>
            <a:ext cx="3022600" cy="1041400"/>
            <a:chOff x="762000" y="2349500"/>
            <a:chExt cx="3022600" cy="1041400"/>
          </a:xfrm>
        </p:grpSpPr>
        <p:sp>
          <p:nvSpPr>
            <p:cNvPr id="4" name="Li_ArtifactMap_4" descr="LiPattern:ArtifactMap">
              <a:extLst>
                <a:ext uri="{FF2B5EF4-FFF2-40B4-BE49-F238E27FC236}">
                  <a16:creationId xmlns:a16="http://schemas.microsoft.com/office/drawing/2014/main" id="{3D1ED94D-6561-D5C3-3262-303FA2F5E56A}"/>
                </a:ext>
              </a:extLst>
            </p:cNvPr>
            <p:cNvSpPr/>
            <p:nvPr/>
          </p:nvSpPr>
          <p:spPr>
            <a:xfrm>
              <a:off x="762000" y="2349500"/>
              <a:ext cx="3022600" cy="1041400"/>
            </a:xfrm>
            <a:prstGeom prst="roundRect">
              <a:avLst/>
            </a:prstGeom>
            <a:solidFill>
              <a:srgbClr val="F2F4F5">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636569"/>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Scope</a:t>
              </a:r>
            </a:p>
            <a:p>
              <a:pPr algn="ctr"/>
              <a:r>
                <a:rPr lang="en-US" sz="1150">
                  <a:solidFill>
                    <a:srgbClr val="636569"/>
                  </a:solidFill>
                  <a:latin typeface="Arial" pitchFamily="34" charset="0"/>
                  <a:cs typeface="Arial" pitchFamily="34" charset="0"/>
                </a:rPr>
                <a:t>Which component or workflow is the representative target?</a:t>
              </a:r>
              <a:endParaRPr lang="en-US" sz="1150" dirty="0">
                <a:solidFill>
                  <a:srgbClr val="636569"/>
                </a:solidFill>
                <a:latin typeface="Arial" pitchFamily="34" charset="0"/>
                <a:cs typeface="Arial" pitchFamily="34" charset="0"/>
              </a:endParaRPr>
            </a:p>
          </p:txBody>
        </p:sp>
        <p:sp>
          <p:nvSpPr>
            <p:cNvPr id="5" name="Li_ArtifactMap_5" descr="LiPattern:ArtifactMap">
              <a:extLst>
                <a:ext uri="{FF2B5EF4-FFF2-40B4-BE49-F238E27FC236}">
                  <a16:creationId xmlns:a16="http://schemas.microsoft.com/office/drawing/2014/main" id="{65B69D31-3F11-0FE9-81A6-6B2576124889}"/>
                </a:ext>
              </a:extLst>
            </p:cNvPr>
            <p:cNvSpPr/>
            <p:nvPr/>
          </p:nvSpPr>
          <p:spPr>
            <a:xfrm>
              <a:off x="939800" y="3048000"/>
              <a:ext cx="1574800" cy="228600"/>
            </a:xfrm>
            <a:prstGeom prst="roundRect">
              <a:avLst/>
            </a:prstGeom>
            <a:solidFill>
              <a:srgbClr val="636569">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current</a:t>
              </a:r>
              <a:endParaRPr lang="en-US" sz="850" b="1" dirty="0">
                <a:solidFill>
                  <a:srgbClr val="FFFFFF"/>
                </a:solidFill>
                <a:latin typeface="Arial" panose="020B0604020202020204" pitchFamily="34" charset="0"/>
                <a:cs typeface="Arial" pitchFamily="34" charset="0"/>
              </a:endParaRPr>
            </a:p>
          </p:txBody>
        </p:sp>
      </p:grpSp>
      <p:grpSp>
        <p:nvGrpSpPr>
          <p:cNvPr id="9" name="Li_Artifact_2" descr="LiPattern:ArtifactMap">
            <a:extLst>
              <a:ext uri="{FF2B5EF4-FFF2-40B4-BE49-F238E27FC236}">
                <a16:creationId xmlns:a16="http://schemas.microsoft.com/office/drawing/2014/main" id="{6F800F0E-4229-4FBE-F61F-F3CCA1F442AB}"/>
              </a:ext>
            </a:extLst>
          </p:cNvPr>
          <p:cNvGrpSpPr/>
          <p:nvPr/>
        </p:nvGrpSpPr>
        <p:grpSpPr>
          <a:xfrm>
            <a:off x="4318000" y="2349500"/>
            <a:ext cx="3022600" cy="1041400"/>
            <a:chOff x="4318000" y="2349500"/>
            <a:chExt cx="3022600" cy="1041400"/>
          </a:xfrm>
        </p:grpSpPr>
        <p:sp>
          <p:nvSpPr>
            <p:cNvPr id="7" name="Li_ArtifactMap_7" descr="LiPattern:ArtifactMap">
              <a:extLst>
                <a:ext uri="{FF2B5EF4-FFF2-40B4-BE49-F238E27FC236}">
                  <a16:creationId xmlns:a16="http://schemas.microsoft.com/office/drawing/2014/main" id="{21514108-75AB-494B-DB93-2BA76217DBF9}"/>
                </a:ext>
              </a:extLst>
            </p:cNvPr>
            <p:cNvSpPr/>
            <p:nvPr/>
          </p:nvSpPr>
          <p:spPr>
            <a:xfrm>
              <a:off x="4318000" y="2349500"/>
              <a:ext cx="3022600" cy="1041400"/>
            </a:xfrm>
            <a:prstGeom prst="roundRect">
              <a:avLst/>
            </a:prstGeom>
            <a:solidFill>
              <a:srgbClr val="ECF5F8">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0076A8"/>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Workflow</a:t>
              </a:r>
            </a:p>
            <a:p>
              <a:pPr algn="ctr"/>
              <a:r>
                <a:rPr lang="en-US" sz="1150">
                  <a:solidFill>
                    <a:srgbClr val="636569"/>
                  </a:solidFill>
                  <a:latin typeface="Arial" pitchFamily="34" charset="0"/>
                  <a:cs typeface="Arial" pitchFamily="34" charset="0"/>
                </a:rPr>
                <a:t>What executes, in what order, and under what mode?</a:t>
              </a:r>
              <a:endParaRPr lang="en-US" sz="1150" dirty="0">
                <a:solidFill>
                  <a:srgbClr val="636569"/>
                </a:solidFill>
                <a:latin typeface="Arial" pitchFamily="34" charset="0"/>
                <a:cs typeface="Arial" pitchFamily="34" charset="0"/>
              </a:endParaRPr>
            </a:p>
          </p:txBody>
        </p:sp>
        <p:sp>
          <p:nvSpPr>
            <p:cNvPr id="8" name="Li_ArtifactMap_8" descr="LiPattern:ArtifactMap">
              <a:extLst>
                <a:ext uri="{FF2B5EF4-FFF2-40B4-BE49-F238E27FC236}">
                  <a16:creationId xmlns:a16="http://schemas.microsoft.com/office/drawing/2014/main" id="{FEC168B7-8E1C-E52B-EE20-27E9A8E7DD13}"/>
                </a:ext>
              </a:extLst>
            </p:cNvPr>
            <p:cNvSpPr/>
            <p:nvPr/>
          </p:nvSpPr>
          <p:spPr>
            <a:xfrm>
              <a:off x="4495800" y="3048000"/>
              <a:ext cx="1574800" cy="228600"/>
            </a:xfrm>
            <a:prstGeom prst="roundRect">
              <a:avLst/>
            </a:prstGeom>
            <a:solidFill>
              <a:srgbClr val="0076A8">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model</a:t>
              </a:r>
              <a:endParaRPr lang="en-US" sz="850" b="1" dirty="0">
                <a:solidFill>
                  <a:srgbClr val="FFFFFF"/>
                </a:solidFill>
                <a:latin typeface="Arial" panose="020B0604020202020204" pitchFamily="34" charset="0"/>
                <a:cs typeface="Arial" pitchFamily="34" charset="0"/>
              </a:endParaRPr>
            </a:p>
          </p:txBody>
        </p:sp>
      </p:grpSp>
      <p:grpSp>
        <p:nvGrpSpPr>
          <p:cNvPr id="12" name="Li_Artifact_3" descr="LiPattern:ArtifactMap">
            <a:extLst>
              <a:ext uri="{FF2B5EF4-FFF2-40B4-BE49-F238E27FC236}">
                <a16:creationId xmlns:a16="http://schemas.microsoft.com/office/drawing/2014/main" id="{91C1069E-F7C8-A886-FCB6-5DDBB6F52613}"/>
              </a:ext>
            </a:extLst>
          </p:cNvPr>
          <p:cNvGrpSpPr/>
          <p:nvPr/>
        </p:nvGrpSpPr>
        <p:grpSpPr>
          <a:xfrm>
            <a:off x="7874000" y="2349500"/>
            <a:ext cx="3022600" cy="1041400"/>
            <a:chOff x="7874000" y="2349500"/>
            <a:chExt cx="3022600" cy="1041400"/>
          </a:xfrm>
        </p:grpSpPr>
        <p:sp>
          <p:nvSpPr>
            <p:cNvPr id="10" name="Li_ArtifactMap_10" descr="LiPattern:ArtifactMap">
              <a:extLst>
                <a:ext uri="{FF2B5EF4-FFF2-40B4-BE49-F238E27FC236}">
                  <a16:creationId xmlns:a16="http://schemas.microsoft.com/office/drawing/2014/main" id="{C038DE4C-740A-A36D-EBF5-8E78B25EF00F}"/>
                </a:ext>
              </a:extLst>
            </p:cNvPr>
            <p:cNvSpPr/>
            <p:nvPr/>
          </p:nvSpPr>
          <p:spPr>
            <a:xfrm>
              <a:off x="7874000" y="2349500"/>
              <a:ext cx="3022600" cy="1041400"/>
            </a:xfrm>
            <a:prstGeom prst="roundRect">
              <a:avLst/>
            </a:prstGeom>
            <a:solidFill>
              <a:srgbClr val="FFF6DA">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D7882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Code evidence</a:t>
              </a:r>
            </a:p>
            <a:p>
              <a:pPr algn="ctr"/>
              <a:r>
                <a:rPr lang="en-US" sz="1150">
                  <a:solidFill>
                    <a:srgbClr val="636569"/>
                  </a:solidFill>
                  <a:latin typeface="Arial" pitchFamily="34" charset="0"/>
                  <a:cs typeface="Arial" pitchFamily="34" charset="0"/>
                </a:rPr>
                <a:t>Which functions, data, and states drive boundaries?</a:t>
              </a:r>
              <a:endParaRPr lang="en-US" sz="1150" dirty="0">
                <a:solidFill>
                  <a:srgbClr val="636569"/>
                </a:solidFill>
                <a:latin typeface="Arial" pitchFamily="34" charset="0"/>
                <a:cs typeface="Arial" pitchFamily="34" charset="0"/>
              </a:endParaRPr>
            </a:p>
          </p:txBody>
        </p:sp>
        <p:sp>
          <p:nvSpPr>
            <p:cNvPr id="11" name="Li_ArtifactMap_11" descr="LiPattern:ArtifactMap">
              <a:extLst>
                <a:ext uri="{FF2B5EF4-FFF2-40B4-BE49-F238E27FC236}">
                  <a16:creationId xmlns:a16="http://schemas.microsoft.com/office/drawing/2014/main" id="{C0588F02-38E3-F988-E588-5F136C2B8E17}"/>
                </a:ext>
              </a:extLst>
            </p:cNvPr>
            <p:cNvSpPr/>
            <p:nvPr/>
          </p:nvSpPr>
          <p:spPr>
            <a:xfrm>
              <a:off x="8051800" y="3048000"/>
              <a:ext cx="1574800" cy="228600"/>
            </a:xfrm>
            <a:prstGeom prst="roundRect">
              <a:avLst/>
            </a:prstGeom>
            <a:solidFill>
              <a:srgbClr val="D78824">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action</a:t>
              </a:r>
              <a:endParaRPr lang="en-US" sz="850" b="1" dirty="0">
                <a:solidFill>
                  <a:srgbClr val="FFFFFF"/>
                </a:solidFill>
                <a:latin typeface="Arial" panose="020B0604020202020204" pitchFamily="34" charset="0"/>
                <a:cs typeface="Arial" pitchFamily="34" charset="0"/>
              </a:endParaRPr>
            </a:p>
          </p:txBody>
        </p:sp>
      </p:grpSp>
      <p:grpSp>
        <p:nvGrpSpPr>
          <p:cNvPr id="15" name="Li_Artifact_4" descr="LiPattern:ArtifactMap">
            <a:extLst>
              <a:ext uri="{FF2B5EF4-FFF2-40B4-BE49-F238E27FC236}">
                <a16:creationId xmlns:a16="http://schemas.microsoft.com/office/drawing/2014/main" id="{F49531F5-037D-14E5-ADF0-E28D623BE6F1}"/>
              </a:ext>
            </a:extLst>
          </p:cNvPr>
          <p:cNvGrpSpPr/>
          <p:nvPr/>
        </p:nvGrpSpPr>
        <p:grpSpPr>
          <a:xfrm>
            <a:off x="762000" y="3848100"/>
            <a:ext cx="3022600" cy="1041400"/>
            <a:chOff x="762000" y="3848100"/>
            <a:chExt cx="3022600" cy="1041400"/>
          </a:xfrm>
        </p:grpSpPr>
        <p:sp>
          <p:nvSpPr>
            <p:cNvPr id="13" name="Li_ArtifactMap_13" descr="LiPattern:ArtifactMap">
              <a:extLst>
                <a:ext uri="{FF2B5EF4-FFF2-40B4-BE49-F238E27FC236}">
                  <a16:creationId xmlns:a16="http://schemas.microsoft.com/office/drawing/2014/main" id="{9E6AF5C1-1F4D-7BFE-1BDF-6DF034903185}"/>
                </a:ext>
              </a:extLst>
            </p:cNvPr>
            <p:cNvSpPr/>
            <p:nvPr/>
          </p:nvSpPr>
          <p:spPr>
            <a:xfrm>
              <a:off x="762000" y="3848100"/>
              <a:ext cx="3022600" cy="1041400"/>
            </a:xfrm>
            <a:prstGeom prst="roundRect">
              <a:avLst/>
            </a:prstGeom>
            <a:solidFill>
              <a:srgbClr val="ECF5F8">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0076A8"/>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Architecture</a:t>
              </a:r>
            </a:p>
            <a:p>
              <a:pPr algn="ctr"/>
              <a:r>
                <a:rPr lang="en-US" sz="1150">
                  <a:solidFill>
                    <a:srgbClr val="636569"/>
                  </a:solidFill>
                  <a:latin typeface="Arial" pitchFamily="34" charset="0"/>
                  <a:cs typeface="Arial" pitchFamily="34" charset="0"/>
                </a:rPr>
                <a:t>What components and interfaces must exist?</a:t>
              </a:r>
              <a:endParaRPr lang="en-US" sz="1150" dirty="0">
                <a:solidFill>
                  <a:srgbClr val="636569"/>
                </a:solidFill>
                <a:latin typeface="Arial" pitchFamily="34" charset="0"/>
                <a:cs typeface="Arial" pitchFamily="34" charset="0"/>
              </a:endParaRPr>
            </a:p>
          </p:txBody>
        </p:sp>
        <p:sp>
          <p:nvSpPr>
            <p:cNvPr id="14" name="Li_ArtifactMap_14" descr="LiPattern:ArtifactMap">
              <a:extLst>
                <a:ext uri="{FF2B5EF4-FFF2-40B4-BE49-F238E27FC236}">
                  <a16:creationId xmlns:a16="http://schemas.microsoft.com/office/drawing/2014/main" id="{22F4A192-3FE7-ADD1-1B2F-8184BDD11438}"/>
                </a:ext>
              </a:extLst>
            </p:cNvPr>
            <p:cNvSpPr/>
            <p:nvPr/>
          </p:nvSpPr>
          <p:spPr>
            <a:xfrm>
              <a:off x="939800" y="4546600"/>
              <a:ext cx="1574800" cy="228600"/>
            </a:xfrm>
            <a:prstGeom prst="roundRect">
              <a:avLst/>
            </a:prstGeom>
            <a:solidFill>
              <a:srgbClr val="0076A8">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architecture</a:t>
              </a:r>
              <a:endParaRPr lang="en-US" sz="850" b="1" dirty="0">
                <a:solidFill>
                  <a:srgbClr val="FFFFFF"/>
                </a:solidFill>
                <a:latin typeface="Arial" panose="020B0604020202020204" pitchFamily="34" charset="0"/>
                <a:cs typeface="Arial" pitchFamily="34" charset="0"/>
              </a:endParaRPr>
            </a:p>
          </p:txBody>
        </p:sp>
      </p:grpSp>
      <p:grpSp>
        <p:nvGrpSpPr>
          <p:cNvPr id="18" name="Li_Artifact_5" descr="LiPattern:ArtifactMap">
            <a:extLst>
              <a:ext uri="{FF2B5EF4-FFF2-40B4-BE49-F238E27FC236}">
                <a16:creationId xmlns:a16="http://schemas.microsoft.com/office/drawing/2014/main" id="{CA5DC299-2D49-F699-BCF1-B136C4CD5CEA}"/>
              </a:ext>
            </a:extLst>
          </p:cNvPr>
          <p:cNvGrpSpPr/>
          <p:nvPr/>
        </p:nvGrpSpPr>
        <p:grpSpPr>
          <a:xfrm>
            <a:off x="4318000" y="3848100"/>
            <a:ext cx="3022600" cy="1041400"/>
            <a:chOff x="4318000" y="3848100"/>
            <a:chExt cx="3022600" cy="1041400"/>
          </a:xfrm>
        </p:grpSpPr>
        <p:sp>
          <p:nvSpPr>
            <p:cNvPr id="16" name="Li_ArtifactMap_16" descr="LiPattern:ArtifactMap">
              <a:extLst>
                <a:ext uri="{FF2B5EF4-FFF2-40B4-BE49-F238E27FC236}">
                  <a16:creationId xmlns:a16="http://schemas.microsoft.com/office/drawing/2014/main" id="{28500F4A-4EB9-AB7B-8749-3DC867A63624}"/>
                </a:ext>
              </a:extLst>
            </p:cNvPr>
            <p:cNvSpPr/>
            <p:nvPr/>
          </p:nvSpPr>
          <p:spPr>
            <a:xfrm>
              <a:off x="4318000" y="3848100"/>
              <a:ext cx="3022600" cy="1041400"/>
            </a:xfrm>
            <a:prstGeom prst="roundRect">
              <a:avLst/>
            </a:prstGeom>
            <a:solidFill>
              <a:srgbClr val="EDF7EB">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48A23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Test evidence</a:t>
              </a:r>
            </a:p>
            <a:p>
              <a:pPr algn="ctr"/>
              <a:r>
                <a:rPr lang="en-US" sz="1150">
                  <a:solidFill>
                    <a:srgbClr val="636569"/>
                  </a:solidFill>
                  <a:latin typeface="Arial" pitchFamily="34" charset="0"/>
                  <a:cs typeface="Arial" pitchFamily="34" charset="0"/>
                </a:rPr>
                <a:t>Which behavior proves the conversion is acceptable?</a:t>
              </a:r>
              <a:endParaRPr lang="en-US" sz="1150" dirty="0">
                <a:solidFill>
                  <a:srgbClr val="636569"/>
                </a:solidFill>
                <a:latin typeface="Arial" pitchFamily="34" charset="0"/>
                <a:cs typeface="Arial" pitchFamily="34" charset="0"/>
              </a:endParaRPr>
            </a:p>
          </p:txBody>
        </p:sp>
        <p:sp>
          <p:nvSpPr>
            <p:cNvPr id="17" name="Li_ArtifactMap_17" descr="LiPattern:ArtifactMap">
              <a:extLst>
                <a:ext uri="{FF2B5EF4-FFF2-40B4-BE49-F238E27FC236}">
                  <a16:creationId xmlns:a16="http://schemas.microsoft.com/office/drawing/2014/main" id="{966EAF28-F498-7FCC-578C-C5B65E8F908D}"/>
                </a:ext>
              </a:extLst>
            </p:cNvPr>
            <p:cNvSpPr/>
            <p:nvPr/>
          </p:nvSpPr>
          <p:spPr>
            <a:xfrm>
              <a:off x="4495800" y="4546600"/>
              <a:ext cx="1574800" cy="228600"/>
            </a:xfrm>
            <a:prstGeom prst="roundRect">
              <a:avLst/>
            </a:prstGeom>
            <a:solidFill>
              <a:srgbClr val="48A23F">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verification</a:t>
              </a:r>
              <a:endParaRPr lang="en-US" sz="850" b="1" dirty="0">
                <a:solidFill>
                  <a:srgbClr val="FFFFFF"/>
                </a:solidFill>
                <a:latin typeface="Arial" panose="020B0604020202020204" pitchFamily="34" charset="0"/>
                <a:cs typeface="Arial" pitchFamily="34" charset="0"/>
              </a:endParaRPr>
            </a:p>
          </p:txBody>
        </p:sp>
      </p:grpSp>
      <p:grpSp>
        <p:nvGrpSpPr>
          <p:cNvPr id="21" name="Li_Artifact_6" descr="LiPattern:ArtifactMap">
            <a:extLst>
              <a:ext uri="{FF2B5EF4-FFF2-40B4-BE49-F238E27FC236}">
                <a16:creationId xmlns:a16="http://schemas.microsoft.com/office/drawing/2014/main" id="{E3B7AC45-06C6-C040-B55A-6CF81B47DB7E}"/>
              </a:ext>
            </a:extLst>
          </p:cNvPr>
          <p:cNvGrpSpPr/>
          <p:nvPr/>
        </p:nvGrpSpPr>
        <p:grpSpPr>
          <a:xfrm>
            <a:off x="7874000" y="3848100"/>
            <a:ext cx="3022600" cy="1041400"/>
            <a:chOff x="7874000" y="3848100"/>
            <a:chExt cx="3022600" cy="1041400"/>
          </a:xfrm>
        </p:grpSpPr>
        <p:sp>
          <p:nvSpPr>
            <p:cNvPr id="19" name="Li_ArtifactMap_19" descr="LiPattern:ArtifactMap">
              <a:extLst>
                <a:ext uri="{FF2B5EF4-FFF2-40B4-BE49-F238E27FC236}">
                  <a16:creationId xmlns:a16="http://schemas.microsoft.com/office/drawing/2014/main" id="{7D2477C7-0A59-0728-BAE2-6589138DA26B}"/>
                </a:ext>
              </a:extLst>
            </p:cNvPr>
            <p:cNvSpPr/>
            <p:nvPr/>
          </p:nvSpPr>
          <p:spPr>
            <a:xfrm>
              <a:off x="7874000" y="3848100"/>
              <a:ext cx="3022600" cy="1041400"/>
            </a:xfrm>
            <a:prstGeom prst="roundRect">
              <a:avLst/>
            </a:prstGeom>
            <a:solidFill>
              <a:srgbClr val="FAEAE9">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B7302C"/>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Open gaps</a:t>
              </a:r>
            </a:p>
            <a:p>
              <a:pPr algn="ctr"/>
              <a:r>
                <a:rPr lang="en-US" sz="1150">
                  <a:solidFill>
                    <a:srgbClr val="636569"/>
                  </a:solidFill>
                  <a:latin typeface="Arial" pitchFamily="34" charset="0"/>
                  <a:cs typeface="Arial" pitchFamily="34" charset="0"/>
                </a:rPr>
                <a:t>What remains unknown before customer adoption?</a:t>
              </a:r>
              <a:endParaRPr lang="en-US" sz="1150" dirty="0">
                <a:solidFill>
                  <a:srgbClr val="636569"/>
                </a:solidFill>
                <a:latin typeface="Arial" pitchFamily="34" charset="0"/>
                <a:cs typeface="Arial" pitchFamily="34" charset="0"/>
              </a:endParaRPr>
            </a:p>
          </p:txBody>
        </p:sp>
        <p:sp>
          <p:nvSpPr>
            <p:cNvPr id="20" name="Li_ArtifactMap_20" descr="LiPattern:ArtifactMap">
              <a:extLst>
                <a:ext uri="{FF2B5EF4-FFF2-40B4-BE49-F238E27FC236}">
                  <a16:creationId xmlns:a16="http://schemas.microsoft.com/office/drawing/2014/main" id="{75B9D2D1-7437-4D34-F3CE-92AADB79EB84}"/>
                </a:ext>
              </a:extLst>
            </p:cNvPr>
            <p:cNvSpPr/>
            <p:nvPr/>
          </p:nvSpPr>
          <p:spPr>
            <a:xfrm>
              <a:off x="8051800" y="4546600"/>
              <a:ext cx="1574800" cy="228600"/>
            </a:xfrm>
            <a:prstGeom prst="roundRect">
              <a:avLst/>
            </a:prstGeom>
            <a:solidFill>
              <a:srgbClr val="B7302C">
                <a:alpha val="95000"/>
              </a:srgbClr>
            </a:solidFill>
            <a:ln w="25400" cap="flat" cmpd="sng" algn="ctr">
              <a:noFill/>
              <a:prstDash val="solid"/>
            </a:ln>
            <a:effectLst/>
            <a:extLst>
              <a:ext uri="{91240B29-F687-4F45-9708-019B960494DF}">
                <a14:hiddenLine xmlns:a14="http://schemas.microsoft.com/office/drawing/2010/main" w="25400" cap="flat" cmpd="sng" algn="ctr">
                  <a:no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tIns="76200" rIns="127000" bIns="76200" rtlCol="0" anchor="ctr"/>
            <a:lstStyle/>
            <a:p>
              <a:pPr algn="ctr"/>
              <a:r>
                <a:rPr lang="en-US" sz="850" b="1">
                  <a:solidFill>
                    <a:srgbClr val="FFFFFF"/>
                  </a:solidFill>
                  <a:latin typeface="Arial" panose="020B0604020202020204" pitchFamily="34" charset="0"/>
                  <a:cs typeface="Arial" pitchFamily="34" charset="0"/>
                </a:rPr>
                <a:t>risk</a:t>
              </a:r>
              <a:endParaRPr lang="en-US" sz="850" b="1" dirty="0">
                <a:solidFill>
                  <a:srgbClr val="FFFFFF"/>
                </a:solidFill>
                <a:latin typeface="Arial" panose="020B0604020202020204" pitchFamily="34" charset="0"/>
                <a:cs typeface="Arial" pitchFamily="34" charset="0"/>
              </a:endParaRPr>
            </a:p>
          </p:txBody>
        </p:sp>
      </p:grpSp>
    </p:spTree>
    <p:extLst>
      <p:ext uri="{BB962C8B-B14F-4D97-AF65-F5344CB8AC3E}">
        <p14:creationId xmlns:p14="http://schemas.microsoft.com/office/powerpoint/2010/main" val="143771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5817-3ABB-95AE-57E2-9881A96B7B40}"/>
              </a:ext>
            </a:extLst>
          </p:cNvPr>
          <p:cNvSpPr>
            <a:spLocks noGrp="1"/>
          </p:cNvSpPr>
          <p:nvPr>
            <p:ph type="title"/>
          </p:nvPr>
        </p:nvSpPr>
        <p:spPr/>
        <p:txBody>
          <a:bodyPr wrap="square"/>
          <a:lstStyle/>
          <a:p>
            <a:r>
              <a:rPr lang="en-US"/>
              <a:t>System Composer captures architecture after the evidence is understood</a:t>
            </a:r>
          </a:p>
        </p:txBody>
      </p:sp>
      <p:sp>
        <p:nvSpPr>
          <p:cNvPr id="3" name="Li_VModelToolMap_3" descr="LiPattern:VModelToolMap">
            <a:extLst>
              <a:ext uri="{FF2B5EF4-FFF2-40B4-BE49-F238E27FC236}">
                <a16:creationId xmlns:a16="http://schemas.microsoft.com/office/drawing/2014/main" id="{B2BBF627-B32E-1869-9C97-6328D066DDAB}"/>
              </a:ext>
            </a:extLst>
          </p:cNvPr>
          <p:cNvSpPr>
            <a:spLocks noGrp="1"/>
          </p:cNvSpPr>
          <p:nvPr>
            <p:ph idx="1"/>
          </p:nvPr>
        </p:nvSpPr>
        <p:spPr/>
        <p:txBody>
          <a:bodyPr wrap="square"/>
          <a:lstStyle/>
          <a:p>
            <a:pPr marL="0" indent="0">
              <a:buNone/>
            </a:pPr>
            <a:r>
              <a:rPr lang="en-US" sz="1500">
                <a:solidFill>
                  <a:srgbClr val="636569"/>
                </a:solidFill>
              </a:rPr>
              <a:t>The source workshop moved from current workflow analysis into architecture conversion and testing.</a:t>
            </a:r>
          </a:p>
        </p:txBody>
      </p:sp>
      <p:sp>
        <p:nvSpPr>
          <p:cNvPr id="4" name="Li_VModelToolMap_4" descr="LiPattern:VModelToolMap">
            <a:extLst>
              <a:ext uri="{FF2B5EF4-FFF2-40B4-BE49-F238E27FC236}">
                <a16:creationId xmlns:a16="http://schemas.microsoft.com/office/drawing/2014/main" id="{FA4C1A42-F3C9-2981-2C2D-5646C458D899}"/>
              </a:ext>
            </a:extLst>
          </p:cNvPr>
          <p:cNvSpPr/>
          <p:nvPr/>
        </p:nvSpPr>
        <p:spPr>
          <a:xfrm>
            <a:off x="990600" y="23495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Functions</a:t>
            </a:r>
            <a:endParaRPr lang="en-US" sz="1350" b="1" dirty="0">
              <a:solidFill>
                <a:srgbClr val="1F1F1F"/>
              </a:solidFill>
              <a:latin typeface="Arial" pitchFamily="34" charset="0"/>
              <a:cs typeface="Arial" pitchFamily="34" charset="0"/>
            </a:endParaRPr>
          </a:p>
        </p:txBody>
      </p:sp>
      <p:sp>
        <p:nvSpPr>
          <p:cNvPr id="5" name="Li_VModelToolMap_5" descr="LiPattern:VModelToolMap">
            <a:extLst>
              <a:ext uri="{FF2B5EF4-FFF2-40B4-BE49-F238E27FC236}">
                <a16:creationId xmlns:a16="http://schemas.microsoft.com/office/drawing/2014/main" id="{37282DF0-CFB6-60D8-596B-8FD188689B09}"/>
              </a:ext>
            </a:extLst>
          </p:cNvPr>
          <p:cNvSpPr/>
          <p:nvPr/>
        </p:nvSpPr>
        <p:spPr>
          <a:xfrm>
            <a:off x="1143000" y="31369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C source</a:t>
            </a:r>
            <a:endParaRPr lang="en-US" sz="950" b="1" dirty="0">
              <a:solidFill>
                <a:srgbClr val="1F1F1F"/>
              </a:solidFill>
              <a:latin typeface="Arial" pitchFamily="34" charset="0"/>
              <a:cs typeface="Arial" pitchFamily="34" charset="0"/>
            </a:endParaRPr>
          </a:p>
        </p:txBody>
      </p:sp>
      <p:sp>
        <p:nvSpPr>
          <p:cNvPr id="6" name="Li_VModelToolMap_6" descr="LiPattern:VModelToolMap">
            <a:extLst>
              <a:ext uri="{FF2B5EF4-FFF2-40B4-BE49-F238E27FC236}">
                <a16:creationId xmlns:a16="http://schemas.microsoft.com/office/drawing/2014/main" id="{895989D8-D1C2-A8AF-38B5-5E99D9445399}"/>
              </a:ext>
            </a:extLst>
          </p:cNvPr>
          <p:cNvSpPr/>
          <p:nvPr/>
        </p:nvSpPr>
        <p:spPr>
          <a:xfrm>
            <a:off x="3022600" y="35052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Components</a:t>
            </a:r>
            <a:endParaRPr lang="en-US" sz="1350" b="1" dirty="0">
              <a:solidFill>
                <a:srgbClr val="1F1F1F"/>
              </a:solidFill>
              <a:latin typeface="Arial" pitchFamily="34" charset="0"/>
              <a:cs typeface="Arial" pitchFamily="34" charset="0"/>
            </a:endParaRPr>
          </a:p>
        </p:txBody>
      </p:sp>
      <p:sp>
        <p:nvSpPr>
          <p:cNvPr id="7" name="Li_VModelToolMap_7" descr="LiPattern:VModelToolMap">
            <a:extLst>
              <a:ext uri="{FF2B5EF4-FFF2-40B4-BE49-F238E27FC236}">
                <a16:creationId xmlns:a16="http://schemas.microsoft.com/office/drawing/2014/main" id="{089B8A51-1F2A-E643-8A20-A790E4DB0F83}"/>
              </a:ext>
            </a:extLst>
          </p:cNvPr>
          <p:cNvSpPr/>
          <p:nvPr/>
        </p:nvSpPr>
        <p:spPr>
          <a:xfrm>
            <a:off x="3175000" y="42926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System Composer</a:t>
            </a:r>
            <a:endParaRPr lang="en-US" sz="950" b="1" dirty="0">
              <a:solidFill>
                <a:srgbClr val="1F1F1F"/>
              </a:solidFill>
              <a:latin typeface="Arial" pitchFamily="34" charset="0"/>
              <a:cs typeface="Arial" pitchFamily="34" charset="0"/>
            </a:endParaRPr>
          </a:p>
        </p:txBody>
      </p:sp>
      <p:sp>
        <p:nvSpPr>
          <p:cNvPr id="8" name="Li_VModelToolMap_8" descr="LiPattern:VModelToolMap">
            <a:extLst>
              <a:ext uri="{FF2B5EF4-FFF2-40B4-BE49-F238E27FC236}">
                <a16:creationId xmlns:a16="http://schemas.microsoft.com/office/drawing/2014/main" id="{E37FEADF-E228-0317-0F2C-80416CB489EF}"/>
              </a:ext>
            </a:extLst>
          </p:cNvPr>
          <p:cNvSpPr/>
          <p:nvPr/>
        </p:nvSpPr>
        <p:spPr>
          <a:xfrm>
            <a:off x="5207000" y="44958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Interfaces</a:t>
            </a:r>
            <a:endParaRPr lang="en-US" sz="1350" b="1" dirty="0">
              <a:solidFill>
                <a:srgbClr val="1F1F1F"/>
              </a:solidFill>
              <a:latin typeface="Arial" pitchFamily="34" charset="0"/>
              <a:cs typeface="Arial" pitchFamily="34" charset="0"/>
            </a:endParaRPr>
          </a:p>
        </p:txBody>
      </p:sp>
      <p:sp>
        <p:nvSpPr>
          <p:cNvPr id="9" name="Li_VModelToolMap_9" descr="LiPattern:VModelToolMap">
            <a:extLst>
              <a:ext uri="{FF2B5EF4-FFF2-40B4-BE49-F238E27FC236}">
                <a16:creationId xmlns:a16="http://schemas.microsoft.com/office/drawing/2014/main" id="{FA4DD610-16F2-C5DA-CD4D-76DC5F402D35}"/>
              </a:ext>
            </a:extLst>
          </p:cNvPr>
          <p:cNvSpPr/>
          <p:nvPr/>
        </p:nvSpPr>
        <p:spPr>
          <a:xfrm>
            <a:off x="5359400" y="52832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Data Dictionary</a:t>
            </a:r>
            <a:endParaRPr lang="en-US" sz="950" b="1" dirty="0">
              <a:solidFill>
                <a:srgbClr val="1F1F1F"/>
              </a:solidFill>
              <a:latin typeface="Arial" pitchFamily="34" charset="0"/>
              <a:cs typeface="Arial" pitchFamily="34" charset="0"/>
            </a:endParaRPr>
          </a:p>
        </p:txBody>
      </p:sp>
      <p:sp>
        <p:nvSpPr>
          <p:cNvPr id="10" name="Li_VModelToolMap_10" descr="LiPattern:VModelToolMap">
            <a:extLst>
              <a:ext uri="{FF2B5EF4-FFF2-40B4-BE49-F238E27FC236}">
                <a16:creationId xmlns:a16="http://schemas.microsoft.com/office/drawing/2014/main" id="{EBD7A823-EDD8-5503-806F-80FE98802FF9}"/>
              </a:ext>
            </a:extLst>
          </p:cNvPr>
          <p:cNvSpPr/>
          <p:nvPr/>
        </p:nvSpPr>
        <p:spPr>
          <a:xfrm>
            <a:off x="7391400" y="35052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Behavior</a:t>
            </a:r>
            <a:endParaRPr lang="en-US" sz="1350" b="1" dirty="0">
              <a:solidFill>
                <a:srgbClr val="1F1F1F"/>
              </a:solidFill>
              <a:latin typeface="Arial" pitchFamily="34" charset="0"/>
              <a:cs typeface="Arial" pitchFamily="34" charset="0"/>
            </a:endParaRPr>
          </a:p>
        </p:txBody>
      </p:sp>
      <p:sp>
        <p:nvSpPr>
          <p:cNvPr id="11" name="Li_VModelToolMap_11" descr="LiPattern:VModelToolMap">
            <a:extLst>
              <a:ext uri="{FF2B5EF4-FFF2-40B4-BE49-F238E27FC236}">
                <a16:creationId xmlns:a16="http://schemas.microsoft.com/office/drawing/2014/main" id="{46E9695C-D025-5A36-EAA3-FFD8E8EC0DFF}"/>
              </a:ext>
            </a:extLst>
          </p:cNvPr>
          <p:cNvSpPr/>
          <p:nvPr/>
        </p:nvSpPr>
        <p:spPr>
          <a:xfrm>
            <a:off x="7543800" y="42926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Simulink</a:t>
            </a:r>
            <a:endParaRPr lang="en-US" sz="950" b="1" dirty="0">
              <a:solidFill>
                <a:srgbClr val="1F1F1F"/>
              </a:solidFill>
              <a:latin typeface="Arial" pitchFamily="34" charset="0"/>
              <a:cs typeface="Arial" pitchFamily="34" charset="0"/>
            </a:endParaRPr>
          </a:p>
        </p:txBody>
      </p:sp>
      <p:sp>
        <p:nvSpPr>
          <p:cNvPr id="12" name="Li_VModelToolMap_12" descr="LiPattern:VModelToolMap">
            <a:extLst>
              <a:ext uri="{FF2B5EF4-FFF2-40B4-BE49-F238E27FC236}">
                <a16:creationId xmlns:a16="http://schemas.microsoft.com/office/drawing/2014/main" id="{A3F4C3A5-82C3-BB76-17DF-B559B91502D0}"/>
              </a:ext>
            </a:extLst>
          </p:cNvPr>
          <p:cNvSpPr/>
          <p:nvPr/>
        </p:nvSpPr>
        <p:spPr>
          <a:xfrm>
            <a:off x="9423400" y="2349500"/>
            <a:ext cx="1727200" cy="685800"/>
          </a:xfrm>
          <a:prstGeom prst="roundRect">
            <a:avLst/>
          </a:prstGeom>
          <a:solidFill>
            <a:srgbClr val="ECF5F8">
              <a:alpha val="92000"/>
            </a:srgbClr>
          </a:solidFill>
          <a:ln w="1143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350" b="1">
                <a:solidFill>
                  <a:srgbClr val="1F1F1F"/>
                </a:solidFill>
                <a:latin typeface="Arial" pitchFamily="34" charset="0"/>
                <a:cs typeface="Arial" pitchFamily="34" charset="0"/>
              </a:rPr>
              <a:t>Evidence</a:t>
            </a:r>
            <a:endParaRPr lang="en-US" sz="1350" b="1" dirty="0">
              <a:solidFill>
                <a:srgbClr val="1F1F1F"/>
              </a:solidFill>
              <a:latin typeface="Arial" pitchFamily="34" charset="0"/>
              <a:cs typeface="Arial" pitchFamily="34" charset="0"/>
            </a:endParaRPr>
          </a:p>
        </p:txBody>
      </p:sp>
      <p:sp>
        <p:nvSpPr>
          <p:cNvPr id="13" name="Li_VModelToolMap_13" descr="LiPattern:VModelToolMap">
            <a:extLst>
              <a:ext uri="{FF2B5EF4-FFF2-40B4-BE49-F238E27FC236}">
                <a16:creationId xmlns:a16="http://schemas.microsoft.com/office/drawing/2014/main" id="{228F7DA6-11D0-7903-7B46-02C05F34394B}"/>
              </a:ext>
            </a:extLst>
          </p:cNvPr>
          <p:cNvSpPr/>
          <p:nvPr/>
        </p:nvSpPr>
        <p:spPr>
          <a:xfrm>
            <a:off x="9575800" y="3136900"/>
            <a:ext cx="1422400" cy="3048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950" b="1">
                <a:solidFill>
                  <a:srgbClr val="1F1F1F"/>
                </a:solidFill>
                <a:latin typeface="Arial" pitchFamily="34" charset="0"/>
                <a:cs typeface="Arial" pitchFamily="34" charset="0"/>
              </a:rPr>
              <a:t>Test Manager</a:t>
            </a:r>
            <a:endParaRPr lang="en-US" sz="950" b="1" dirty="0">
              <a:solidFill>
                <a:srgbClr val="1F1F1F"/>
              </a:solidFill>
              <a:latin typeface="Arial" pitchFamily="34" charset="0"/>
              <a:cs typeface="Arial" pitchFamily="34" charset="0"/>
            </a:endParaRPr>
          </a:p>
        </p:txBody>
      </p:sp>
      <p:cxnSp>
        <p:nvCxnSpPr>
          <p:cNvPr id="14" name="Li_VModelToolMap_14" descr="LiPattern:VModelToolMap">
            <a:extLst>
              <a:ext uri="{FF2B5EF4-FFF2-40B4-BE49-F238E27FC236}">
                <a16:creationId xmlns:a16="http://schemas.microsoft.com/office/drawing/2014/main" id="{FA82604B-82DE-3699-C533-DF57BFACACC3}"/>
              </a:ext>
            </a:extLst>
          </p:cNvPr>
          <p:cNvCxnSpPr/>
          <p:nvPr/>
        </p:nvCxnSpPr>
        <p:spPr>
          <a:xfrm>
            <a:off x="2717800" y="2692400"/>
            <a:ext cx="304800" cy="11557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5" name="Li_VModelToolMap_15" descr="LiPattern:VModelToolMap">
            <a:extLst>
              <a:ext uri="{FF2B5EF4-FFF2-40B4-BE49-F238E27FC236}">
                <a16:creationId xmlns:a16="http://schemas.microsoft.com/office/drawing/2014/main" id="{EEA0AD1B-7E51-FF3E-45AD-C438EA27509F}"/>
              </a:ext>
            </a:extLst>
          </p:cNvPr>
          <p:cNvCxnSpPr/>
          <p:nvPr/>
        </p:nvCxnSpPr>
        <p:spPr>
          <a:xfrm>
            <a:off x="4749800" y="3848100"/>
            <a:ext cx="457200" cy="9906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6" name="Li_VModelToolMap_16" descr="LiPattern:VModelToolMap">
            <a:extLst>
              <a:ext uri="{FF2B5EF4-FFF2-40B4-BE49-F238E27FC236}">
                <a16:creationId xmlns:a16="http://schemas.microsoft.com/office/drawing/2014/main" id="{4FF4E166-F160-149A-36A5-9ADF16E19655}"/>
              </a:ext>
            </a:extLst>
          </p:cNvPr>
          <p:cNvCxnSpPr/>
          <p:nvPr/>
        </p:nvCxnSpPr>
        <p:spPr>
          <a:xfrm flipV="1">
            <a:off x="6934200" y="3848100"/>
            <a:ext cx="457200" cy="9906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cxnSp>
        <p:nvCxnSpPr>
          <p:cNvPr id="17" name="Li_VModelToolMap_17" descr="LiPattern:VModelToolMap">
            <a:extLst>
              <a:ext uri="{FF2B5EF4-FFF2-40B4-BE49-F238E27FC236}">
                <a16:creationId xmlns:a16="http://schemas.microsoft.com/office/drawing/2014/main" id="{44084B72-D112-6E1D-AA37-53E0BE0B0B54}"/>
              </a:ext>
            </a:extLst>
          </p:cNvPr>
          <p:cNvCxnSpPr/>
          <p:nvPr/>
        </p:nvCxnSpPr>
        <p:spPr>
          <a:xfrm flipV="1">
            <a:off x="9118600" y="2692400"/>
            <a:ext cx="304800" cy="1155700"/>
          </a:xfrm>
          <a:prstGeom prst="straightConnector1">
            <a:avLst/>
          </a:prstGeom>
          <a:ln w="15240">
            <a:solidFill>
              <a:srgbClr val="D78824"/>
            </a:solidFill>
          </a:ln>
        </p:spPr>
        <p:style>
          <a:lnRef idx="1">
            <a:schemeClr val="accent1"/>
          </a:lnRef>
          <a:fillRef idx="0">
            <a:schemeClr val="accent1"/>
          </a:fillRef>
          <a:effectRef idx="0">
            <a:schemeClr val="accent1"/>
          </a:effectRef>
          <a:fontRef idx="minor">
            <a:schemeClr val="tx1"/>
          </a:fontRef>
        </p:style>
      </p:cxnSp>
      <p:sp>
        <p:nvSpPr>
          <p:cNvPr id="18" name="Li_VModelToolMap_18" descr="LiPattern:VModelToolMap">
            <a:extLst>
              <a:ext uri="{FF2B5EF4-FFF2-40B4-BE49-F238E27FC236}">
                <a16:creationId xmlns:a16="http://schemas.microsoft.com/office/drawing/2014/main" id="{ED06ADAC-2CE2-8FAE-3C0C-E6D78FB562B6}"/>
              </a:ext>
            </a:extLst>
          </p:cNvPr>
          <p:cNvSpPr/>
          <p:nvPr/>
        </p:nvSpPr>
        <p:spPr>
          <a:xfrm>
            <a:off x="1397000" y="5562600"/>
            <a:ext cx="8890000" cy="3556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Architecture is a consequence of evidence, not a drawing exercise.</a:t>
            </a:r>
            <a:endParaRPr lang="en-US" sz="1150" b="1" dirty="0">
              <a:solidFill>
                <a:srgbClr val="1F1F1F"/>
              </a:solidFill>
              <a:latin typeface="Arial" pitchFamily="34" charset="0"/>
              <a:cs typeface="Arial" pitchFamily="34" charset="0"/>
            </a:endParaRPr>
          </a:p>
        </p:txBody>
      </p:sp>
      <p:sp>
        <p:nvSpPr>
          <p:cNvPr id="19" name="Li_VModelToolMap_19" descr="LiPattern:VModelToolMap">
            <a:extLst>
              <a:ext uri="{FF2B5EF4-FFF2-40B4-BE49-F238E27FC236}">
                <a16:creationId xmlns:a16="http://schemas.microsoft.com/office/drawing/2014/main" id="{70D99D69-51F6-3D3F-B98A-5A402A8FE02C}"/>
              </a:ext>
            </a:extLst>
          </p:cNvPr>
          <p:cNvSpPr/>
          <p:nvPr/>
        </p:nvSpPr>
        <p:spPr>
          <a:xfrm>
            <a:off x="1397000" y="6007100"/>
            <a:ext cx="8890000" cy="355600"/>
          </a:xfrm>
          <a:prstGeom prst="roundRect">
            <a:avLst/>
          </a:prstGeom>
          <a:solidFill>
            <a:srgbClr val="EDF7EB">
              <a:alpha val="92000"/>
            </a:srgbClr>
          </a:solidFill>
          <a:ln w="11430">
            <a:solidFill>
              <a:srgbClr val="48A23F"/>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150" b="1">
                <a:solidFill>
                  <a:srgbClr val="1F1F1F"/>
                </a:solidFill>
                <a:latin typeface="Arial" pitchFamily="34" charset="0"/>
                <a:cs typeface="Arial" pitchFamily="34" charset="0"/>
              </a:rPr>
              <a:t>Testing closes the loop by checking converted behavior against source intent.</a:t>
            </a:r>
            <a:endParaRPr lang="en-US" sz="115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266955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1409-A4E6-5ED1-A740-71EA4EFF6225}"/>
              </a:ext>
            </a:extLst>
          </p:cNvPr>
          <p:cNvSpPr>
            <a:spLocks noGrp="1"/>
          </p:cNvSpPr>
          <p:nvPr>
            <p:ph type="title"/>
          </p:nvPr>
        </p:nvSpPr>
        <p:spPr/>
        <p:txBody>
          <a:bodyPr wrap="square"/>
          <a:lstStyle/>
          <a:p>
            <a:r>
              <a:rPr lang="en-US"/>
              <a:t>The workshop leaves decisions, not just observations</a:t>
            </a:r>
          </a:p>
        </p:txBody>
      </p:sp>
      <p:graphicFrame>
        <p:nvGraphicFramePr>
          <p:cNvPr id="5" name="Li_ComparisonTable_5" descr="LiPattern:ComparisonTable">
            <a:extLst>
              <a:ext uri="{FF2B5EF4-FFF2-40B4-BE49-F238E27FC236}">
                <a16:creationId xmlns:a16="http://schemas.microsoft.com/office/drawing/2014/main" id="{1A490813-9830-CC7F-9A09-82D9B25675A9}"/>
              </a:ext>
            </a:extLst>
          </p:cNvPr>
          <p:cNvGraphicFramePr>
            <a:graphicFrameLocks noGrp="1"/>
          </p:cNvGraphicFramePr>
          <p:nvPr>
            <p:ph idx="1"/>
            <p:extLst>
              <p:ext uri="{D42A27DB-BD31-4B8C-83A1-F6EECF244321}">
                <p14:modId xmlns:p14="http://schemas.microsoft.com/office/powerpoint/2010/main" val="1796506475"/>
              </p:ext>
            </p:extLst>
          </p:nvPr>
        </p:nvGraphicFramePr>
        <p:xfrm>
          <a:off x="889000" y="2413000"/>
          <a:ext cx="10414000" cy="323850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1878306806"/>
                    </a:ext>
                  </a:extLst>
                </a:gridCol>
                <a:gridCol w="2603500">
                  <a:extLst>
                    <a:ext uri="{9D8B030D-6E8A-4147-A177-3AD203B41FA5}">
                      <a16:colId xmlns:a16="http://schemas.microsoft.com/office/drawing/2014/main" val="724327925"/>
                    </a:ext>
                  </a:extLst>
                </a:gridCol>
                <a:gridCol w="2603500">
                  <a:extLst>
                    <a:ext uri="{9D8B030D-6E8A-4147-A177-3AD203B41FA5}">
                      <a16:colId xmlns:a16="http://schemas.microsoft.com/office/drawing/2014/main" val="3070111052"/>
                    </a:ext>
                  </a:extLst>
                </a:gridCol>
                <a:gridCol w="2603500">
                  <a:extLst>
                    <a:ext uri="{9D8B030D-6E8A-4147-A177-3AD203B41FA5}">
                      <a16:colId xmlns:a16="http://schemas.microsoft.com/office/drawing/2014/main" val="3640816404"/>
                    </a:ext>
                  </a:extLst>
                </a:gridCol>
              </a:tblGrid>
              <a:tr h="647700">
                <a:tc>
                  <a:txBody>
                    <a:bodyPr/>
                    <a:lstStyle/>
                    <a:p>
                      <a:r>
                        <a:rPr lang="en-US" sz="1200" b="1">
                          <a:solidFill>
                            <a:srgbClr val="004B87"/>
                          </a:solidFill>
                        </a:rPr>
                        <a:t>Decision</a:t>
                      </a:r>
                    </a:p>
                  </a:txBody>
                  <a:tcPr>
                    <a:solidFill>
                      <a:srgbClr val="ECF5F8"/>
                    </a:solidFill>
                  </a:tcPr>
                </a:tc>
                <a:tc>
                  <a:txBody>
                    <a:bodyPr/>
                    <a:lstStyle/>
                    <a:p>
                      <a:r>
                        <a:rPr lang="en-US" sz="1200" b="1">
                          <a:solidFill>
                            <a:srgbClr val="004B87"/>
                          </a:solidFill>
                        </a:rPr>
                        <a:t>Evidence</a:t>
                      </a:r>
                    </a:p>
                  </a:txBody>
                  <a:tcPr>
                    <a:solidFill>
                      <a:srgbClr val="ECF5F8"/>
                    </a:solidFill>
                  </a:tcPr>
                </a:tc>
                <a:tc>
                  <a:txBody>
                    <a:bodyPr/>
                    <a:lstStyle/>
                    <a:p>
                      <a:r>
                        <a:rPr lang="en-US" sz="1200" b="1">
                          <a:solidFill>
                            <a:srgbClr val="004B87"/>
                          </a:solidFill>
                        </a:rPr>
                        <a:t>Status</a:t>
                      </a:r>
                    </a:p>
                  </a:txBody>
                  <a:tcPr>
                    <a:solidFill>
                      <a:srgbClr val="ECF5F8"/>
                    </a:solidFill>
                  </a:tcPr>
                </a:tc>
                <a:tc>
                  <a:txBody>
                    <a:bodyPr/>
                    <a:lstStyle/>
                    <a:p>
                      <a:r>
                        <a:rPr lang="en-US" sz="1200" b="1">
                          <a:solidFill>
                            <a:srgbClr val="004B87"/>
                          </a:solidFill>
                        </a:rPr>
                        <a:t>Next action</a:t>
                      </a:r>
                    </a:p>
                  </a:txBody>
                  <a:tcPr>
                    <a:solidFill>
                      <a:srgbClr val="ECF5F8"/>
                    </a:solidFill>
                  </a:tcPr>
                </a:tc>
                <a:extLst>
                  <a:ext uri="{0D108BD9-81ED-4DB2-BD59-A6C34878D82A}">
                    <a16:rowId xmlns:a16="http://schemas.microsoft.com/office/drawing/2014/main" val="1570853487"/>
                  </a:ext>
                </a:extLst>
              </a:tr>
              <a:tr h="647700">
                <a:tc>
                  <a:txBody>
                    <a:bodyPr/>
                    <a:lstStyle/>
                    <a:p>
                      <a:r>
                        <a:rPr lang="en-US" sz="1100">
                          <a:solidFill>
                            <a:srgbClr val="1F1F1F"/>
                          </a:solidFill>
                        </a:rPr>
                        <a:t>Representative component scope</a:t>
                      </a:r>
                    </a:p>
                  </a:txBody>
                  <a:tcPr>
                    <a:solidFill>
                      <a:srgbClr val="FFFFFF"/>
                    </a:solidFill>
                  </a:tcPr>
                </a:tc>
                <a:tc>
                  <a:txBody>
                    <a:bodyPr/>
                    <a:lstStyle/>
                    <a:p>
                      <a:r>
                        <a:rPr lang="en-US" sz="1100">
                          <a:solidFill>
                            <a:srgbClr val="1F1F1F"/>
                          </a:solidFill>
                        </a:rPr>
                        <a:t>Workflow and source file review</a:t>
                      </a:r>
                    </a:p>
                  </a:txBody>
                  <a:tcPr>
                    <a:solidFill>
                      <a:srgbClr val="FFFFFF"/>
                    </a:solidFill>
                  </a:tcPr>
                </a:tc>
                <a:tc>
                  <a:txBody>
                    <a:bodyPr/>
                    <a:lstStyle/>
                    <a:p>
                      <a:r>
                        <a:rPr lang="en-US" sz="1100">
                          <a:solidFill>
                            <a:srgbClr val="1F1F1F"/>
                          </a:solidFill>
                        </a:rPr>
                        <a:t>Validated</a:t>
                      </a:r>
                    </a:p>
                  </a:txBody>
                  <a:tcPr>
                    <a:solidFill>
                      <a:srgbClr val="EDF7EB"/>
                    </a:solidFill>
                  </a:tcPr>
                </a:tc>
                <a:tc>
                  <a:txBody>
                    <a:bodyPr/>
                    <a:lstStyle/>
                    <a:p>
                      <a:r>
                        <a:rPr lang="en-US" sz="1100">
                          <a:solidFill>
                            <a:srgbClr val="1F1F1F"/>
                          </a:solidFill>
                        </a:rPr>
                        <a:t>Use as first conversion target</a:t>
                      </a:r>
                    </a:p>
                  </a:txBody>
                  <a:tcPr>
                    <a:solidFill>
                      <a:srgbClr val="FFFFFF"/>
                    </a:solidFill>
                  </a:tcPr>
                </a:tc>
                <a:extLst>
                  <a:ext uri="{0D108BD9-81ED-4DB2-BD59-A6C34878D82A}">
                    <a16:rowId xmlns:a16="http://schemas.microsoft.com/office/drawing/2014/main" val="4290325864"/>
                  </a:ext>
                </a:extLst>
              </a:tr>
              <a:tr h="647700">
                <a:tc>
                  <a:txBody>
                    <a:bodyPr/>
                    <a:lstStyle/>
                    <a:p>
                      <a:r>
                        <a:rPr lang="en-US" sz="1100">
                          <a:solidFill>
                            <a:srgbClr val="1F1F1F"/>
                          </a:solidFill>
                        </a:rPr>
                        <a:t>Component boundary</a:t>
                      </a:r>
                    </a:p>
                  </a:txBody>
                  <a:tcPr>
                    <a:solidFill>
                      <a:srgbClr val="F2F4F5">
                        <a:alpha val="65000"/>
                      </a:srgbClr>
                    </a:solidFill>
                  </a:tcPr>
                </a:tc>
                <a:tc>
                  <a:txBody>
                    <a:bodyPr/>
                    <a:lstStyle/>
                    <a:p>
                      <a:r>
                        <a:rPr lang="en-US" sz="1100">
                          <a:solidFill>
                            <a:srgbClr val="1F1F1F"/>
                          </a:solidFill>
                        </a:rPr>
                        <a:t>Function calls and data ownership</a:t>
                      </a:r>
                    </a:p>
                  </a:txBody>
                  <a:tcPr>
                    <a:solidFill>
                      <a:srgbClr val="F2F4F5">
                        <a:alpha val="65000"/>
                      </a:srgbClr>
                    </a:solidFill>
                  </a:tcPr>
                </a:tc>
                <a:tc>
                  <a:txBody>
                    <a:bodyPr/>
                    <a:lstStyle/>
                    <a:p>
                      <a:r>
                        <a:rPr lang="en-US" sz="1100">
                          <a:solidFill>
                            <a:srgbClr val="1F1F1F"/>
                          </a:solidFill>
                        </a:rPr>
                        <a:t>Review</a:t>
                      </a:r>
                    </a:p>
                  </a:txBody>
                  <a:tcPr>
                    <a:solidFill>
                      <a:srgbClr val="FFF6DA"/>
                    </a:solidFill>
                  </a:tcPr>
                </a:tc>
                <a:tc>
                  <a:txBody>
                    <a:bodyPr/>
                    <a:lstStyle/>
                    <a:p>
                      <a:r>
                        <a:rPr lang="en-US" sz="1100">
                          <a:solidFill>
                            <a:srgbClr val="1F1F1F"/>
                          </a:solidFill>
                        </a:rPr>
                        <a:t>Confirm with subject matter experts</a:t>
                      </a:r>
                    </a:p>
                  </a:txBody>
                  <a:tcPr>
                    <a:solidFill>
                      <a:srgbClr val="F2F4F5">
                        <a:alpha val="65000"/>
                      </a:srgbClr>
                    </a:solidFill>
                  </a:tcPr>
                </a:tc>
                <a:extLst>
                  <a:ext uri="{0D108BD9-81ED-4DB2-BD59-A6C34878D82A}">
                    <a16:rowId xmlns:a16="http://schemas.microsoft.com/office/drawing/2014/main" val="2029578626"/>
                  </a:ext>
                </a:extLst>
              </a:tr>
              <a:tr h="647700">
                <a:tc>
                  <a:txBody>
                    <a:bodyPr/>
                    <a:lstStyle/>
                    <a:p>
                      <a:r>
                        <a:rPr lang="en-US" sz="1100">
                          <a:solidFill>
                            <a:srgbClr val="1F1F1F"/>
                          </a:solidFill>
                        </a:rPr>
                        <a:t>Interface contract</a:t>
                      </a:r>
                    </a:p>
                  </a:txBody>
                  <a:tcPr>
                    <a:solidFill>
                      <a:srgbClr val="FFFFFF"/>
                    </a:solidFill>
                  </a:tcPr>
                </a:tc>
                <a:tc>
                  <a:txBody>
                    <a:bodyPr/>
                    <a:lstStyle/>
                    <a:p>
                      <a:r>
                        <a:rPr lang="en-US" sz="1100">
                          <a:solidFill>
                            <a:srgbClr val="1F1F1F"/>
                          </a:solidFill>
                        </a:rPr>
                        <a:t>RTDB and type definitions</a:t>
                      </a:r>
                    </a:p>
                  </a:txBody>
                  <a:tcPr>
                    <a:solidFill>
                      <a:srgbClr val="FFFFFF"/>
                    </a:solidFill>
                  </a:tcPr>
                </a:tc>
                <a:tc>
                  <a:txBody>
                    <a:bodyPr/>
                    <a:lstStyle/>
                    <a:p>
                      <a:r>
                        <a:rPr lang="en-US" sz="1100">
                          <a:solidFill>
                            <a:srgbClr val="1F1F1F"/>
                          </a:solidFill>
                        </a:rPr>
                        <a:t>Open gap</a:t>
                      </a:r>
                    </a:p>
                  </a:txBody>
                  <a:tcPr>
                    <a:solidFill>
                      <a:srgbClr val="FAEAE9"/>
                    </a:solidFill>
                  </a:tcPr>
                </a:tc>
                <a:tc>
                  <a:txBody>
                    <a:bodyPr/>
                    <a:lstStyle/>
                    <a:p>
                      <a:r>
                        <a:rPr lang="en-US" sz="1100">
                          <a:solidFill>
                            <a:srgbClr val="1F1F1F"/>
                          </a:solidFill>
                        </a:rPr>
                        <a:t>Add sanitized data dictionary evidence</a:t>
                      </a:r>
                    </a:p>
                  </a:txBody>
                  <a:tcPr>
                    <a:solidFill>
                      <a:srgbClr val="FFFFFF"/>
                    </a:solidFill>
                  </a:tcPr>
                </a:tc>
                <a:extLst>
                  <a:ext uri="{0D108BD9-81ED-4DB2-BD59-A6C34878D82A}">
                    <a16:rowId xmlns:a16="http://schemas.microsoft.com/office/drawing/2014/main" val="2652091683"/>
                  </a:ext>
                </a:extLst>
              </a:tr>
              <a:tr h="647700">
                <a:tc>
                  <a:txBody>
                    <a:bodyPr/>
                    <a:lstStyle/>
                    <a:p>
                      <a:r>
                        <a:rPr lang="en-US" sz="1100">
                          <a:solidFill>
                            <a:srgbClr val="1F1F1F"/>
                          </a:solidFill>
                        </a:rPr>
                        <a:t>Verification evidence</a:t>
                      </a:r>
                    </a:p>
                  </a:txBody>
                  <a:tcPr>
                    <a:solidFill>
                      <a:srgbClr val="F2F4F5">
                        <a:alpha val="65000"/>
                      </a:srgbClr>
                    </a:solidFill>
                  </a:tcPr>
                </a:tc>
                <a:tc>
                  <a:txBody>
                    <a:bodyPr/>
                    <a:lstStyle/>
                    <a:p>
                      <a:r>
                        <a:rPr lang="en-US" sz="1100">
                          <a:solidFill>
                            <a:srgbClr val="1F1F1F"/>
                          </a:solidFill>
                        </a:rPr>
                        <a:t>Status bits and expected behavior</a:t>
                      </a:r>
                    </a:p>
                  </a:txBody>
                  <a:tcPr>
                    <a:solidFill>
                      <a:srgbClr val="F2F4F5">
                        <a:alpha val="65000"/>
                      </a:srgbClr>
                    </a:solidFill>
                  </a:tcPr>
                </a:tc>
                <a:tc>
                  <a:txBody>
                    <a:bodyPr/>
                    <a:lstStyle/>
                    <a:p>
                      <a:r>
                        <a:rPr lang="en-US" sz="1100">
                          <a:solidFill>
                            <a:srgbClr val="1F1F1F"/>
                          </a:solidFill>
                        </a:rPr>
                        <a:t>Pending</a:t>
                      </a:r>
                    </a:p>
                  </a:txBody>
                  <a:tcPr>
                    <a:solidFill>
                      <a:srgbClr val="FFF6DA"/>
                    </a:solidFill>
                  </a:tcPr>
                </a:tc>
                <a:tc>
                  <a:txBody>
                    <a:bodyPr/>
                    <a:lstStyle/>
                    <a:p>
                      <a:r>
                        <a:rPr lang="en-US" sz="1100">
                          <a:solidFill>
                            <a:srgbClr val="1F1F1F"/>
                          </a:solidFill>
                        </a:rPr>
                        <a:t>Create test harness and acceptance checks</a:t>
                      </a:r>
                    </a:p>
                  </a:txBody>
                  <a:tcPr>
                    <a:solidFill>
                      <a:srgbClr val="F2F4F5">
                        <a:alpha val="65000"/>
                      </a:srgbClr>
                    </a:solidFill>
                  </a:tcPr>
                </a:tc>
                <a:extLst>
                  <a:ext uri="{0D108BD9-81ED-4DB2-BD59-A6C34878D82A}">
                    <a16:rowId xmlns:a16="http://schemas.microsoft.com/office/drawing/2014/main" val="1655569563"/>
                  </a:ext>
                </a:extLst>
              </a:tr>
            </a:tbl>
          </a:graphicData>
        </a:graphic>
      </p:graphicFrame>
      <p:sp>
        <p:nvSpPr>
          <p:cNvPr id="4" name="Li_ComparisonTable_4" descr="LiPattern:ComparisonTable">
            <a:extLst>
              <a:ext uri="{FF2B5EF4-FFF2-40B4-BE49-F238E27FC236}">
                <a16:creationId xmlns:a16="http://schemas.microsoft.com/office/drawing/2014/main" id="{A7FA56B8-9636-8769-E440-DA4E51A38901}"/>
              </a:ext>
            </a:extLst>
          </p:cNvPr>
          <p:cNvSpPr txBox="1"/>
          <p:nvPr/>
        </p:nvSpPr>
        <p:spPr>
          <a:xfrm>
            <a:off x="990600" y="1714500"/>
            <a:ext cx="10033000" cy="230832"/>
          </a:xfrm>
          <a:prstGeom prst="rect">
            <a:avLst/>
          </a:prstGeom>
          <a:noFill/>
        </p:spPr>
        <p:txBody>
          <a:bodyPr vert="horz" wrap="square" lIns="0" tIns="0" rIns="0" bIns="0" rtlCol="0">
            <a:spAutoFit/>
          </a:bodyPr>
          <a:lstStyle/>
          <a:p>
            <a:r>
              <a:rPr lang="en-US" sz="1500">
                <a:solidFill>
                  <a:srgbClr val="636569"/>
                </a:solidFill>
                <a:latin typeface="Arial" panose="020B0604020202020204" pitchFamily="34" charset="0"/>
                <a:cs typeface="Arial" pitchFamily="34" charset="0"/>
              </a:rPr>
              <a:t>A review table shows what is known, what is validated, and what still needs action.</a:t>
            </a:r>
            <a:endParaRPr lang="en-US" sz="1500" dirty="0">
              <a:solidFill>
                <a:srgbClr val="636569"/>
              </a:solidFill>
              <a:latin typeface="Arial" panose="020B0604020202020204" pitchFamily="34" charset="0"/>
              <a:cs typeface="Arial" pitchFamily="34" charset="0"/>
            </a:endParaRPr>
          </a:p>
        </p:txBody>
      </p:sp>
      <p:sp>
        <p:nvSpPr>
          <p:cNvPr id="6" name="Li_ComparisonTable_6" descr="LiPattern:ComparisonTable">
            <a:extLst>
              <a:ext uri="{FF2B5EF4-FFF2-40B4-BE49-F238E27FC236}">
                <a16:creationId xmlns:a16="http://schemas.microsoft.com/office/drawing/2014/main" id="{47AE9991-5362-125B-9136-3D15442C3FEE}"/>
              </a:ext>
            </a:extLst>
          </p:cNvPr>
          <p:cNvSpPr/>
          <p:nvPr/>
        </p:nvSpPr>
        <p:spPr>
          <a:xfrm>
            <a:off x="1524000" y="5905500"/>
            <a:ext cx="9144000" cy="4572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400" b="1">
                <a:solidFill>
                  <a:srgbClr val="1F1F1F"/>
                </a:solidFill>
                <a:latin typeface="Arial" pitchFamily="34" charset="0"/>
                <a:cs typeface="Arial" pitchFamily="34" charset="0"/>
              </a:rPr>
              <a:t>A useful table makes status and next action visible before the presenter explains it.</a:t>
            </a:r>
            <a:endParaRPr lang="en-US" sz="140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392927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77E6-2C6D-647E-8DA5-40AD1065A4CE}"/>
              </a:ext>
            </a:extLst>
          </p:cNvPr>
          <p:cNvSpPr>
            <a:spLocks noGrp="1"/>
          </p:cNvSpPr>
          <p:nvPr>
            <p:ph type="title"/>
          </p:nvPr>
        </p:nvSpPr>
        <p:spPr/>
        <p:txBody>
          <a:bodyPr wrap="square"/>
          <a:lstStyle/>
          <a:p>
            <a:r>
              <a:rPr lang="en-US"/>
              <a:t>Exercise: convert one component using the artifact map</a:t>
            </a:r>
          </a:p>
        </p:txBody>
      </p:sp>
      <p:grpSp>
        <p:nvGrpSpPr>
          <p:cNvPr id="7" name="Li_DemoExercise" descr="LiPattern:DemoExercise">
            <a:extLst>
              <a:ext uri="{FF2B5EF4-FFF2-40B4-BE49-F238E27FC236}">
                <a16:creationId xmlns:a16="http://schemas.microsoft.com/office/drawing/2014/main" id="{80777FA7-9D95-D5AC-A63D-AB0D4BC197D4}"/>
              </a:ext>
            </a:extLst>
          </p:cNvPr>
          <p:cNvGrpSpPr/>
          <p:nvPr/>
        </p:nvGrpSpPr>
        <p:grpSpPr>
          <a:xfrm>
            <a:off x="1066800" y="2667000"/>
            <a:ext cx="9842500" cy="1676400"/>
            <a:chOff x="1066800" y="2667000"/>
            <a:chExt cx="9842500" cy="1676400"/>
          </a:xfrm>
        </p:grpSpPr>
        <p:sp>
          <p:nvSpPr>
            <p:cNvPr id="4" name="Li_DemoExercise_4" descr="LiPattern:DemoExercise">
              <a:extLst>
                <a:ext uri="{FF2B5EF4-FFF2-40B4-BE49-F238E27FC236}">
                  <a16:creationId xmlns:a16="http://schemas.microsoft.com/office/drawing/2014/main" id="{557E4F87-DE9B-8C55-6F74-AA54061756CD}"/>
                </a:ext>
              </a:extLst>
            </p:cNvPr>
            <p:cNvSpPr/>
            <p:nvPr/>
          </p:nvSpPr>
          <p:spPr>
            <a:xfrm>
              <a:off x="1066800" y="2667000"/>
              <a:ext cx="2984500" cy="1676400"/>
            </a:xfrm>
            <a:prstGeom prst="roundRect">
              <a:avLst/>
            </a:prstGeom>
            <a:solidFill>
              <a:srgbClr val="F2F4F5">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636569"/>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Start</a:t>
              </a:r>
            </a:p>
            <a:p>
              <a:pPr algn="ctr"/>
              <a:r>
                <a:rPr lang="en-US" sz="1600" b="1">
                  <a:solidFill>
                    <a:srgbClr val="1F1F1F"/>
                  </a:solidFill>
                  <a:latin typeface="Arial" pitchFamily="34" charset="0"/>
                  <a:cs typeface="Arial" pitchFamily="34" charset="0"/>
                </a:rPr>
                <a:t>Pick one source function and its data dependencies.</a:t>
              </a:r>
              <a:endParaRPr lang="en-US" sz="1600" b="1" dirty="0">
                <a:solidFill>
                  <a:srgbClr val="1F1F1F"/>
                </a:solidFill>
                <a:latin typeface="Arial" pitchFamily="34" charset="0"/>
                <a:cs typeface="Arial" pitchFamily="34" charset="0"/>
              </a:endParaRPr>
            </a:p>
          </p:txBody>
        </p:sp>
        <p:sp>
          <p:nvSpPr>
            <p:cNvPr id="5" name="Li_DemoExercise_5" descr="LiPattern:DemoExercise">
              <a:extLst>
                <a:ext uri="{FF2B5EF4-FFF2-40B4-BE49-F238E27FC236}">
                  <a16:creationId xmlns:a16="http://schemas.microsoft.com/office/drawing/2014/main" id="{9A855F93-60E2-88D8-908F-A7574ED676B8}"/>
                </a:ext>
              </a:extLst>
            </p:cNvPr>
            <p:cNvSpPr/>
            <p:nvPr/>
          </p:nvSpPr>
          <p:spPr>
            <a:xfrm>
              <a:off x="4495800" y="2667000"/>
              <a:ext cx="2984500" cy="1676400"/>
            </a:xfrm>
            <a:prstGeom prst="roundRect">
              <a:avLst/>
            </a:prstGeom>
            <a:solidFill>
              <a:srgbClr val="FFF6DA">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D7882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Build</a:t>
              </a:r>
            </a:p>
            <a:p>
              <a:pPr algn="ctr"/>
              <a:r>
                <a:rPr lang="en-US" sz="1600" b="1">
                  <a:solidFill>
                    <a:srgbClr val="1F1F1F"/>
                  </a:solidFill>
                  <a:latin typeface="Arial" pitchFamily="34" charset="0"/>
                  <a:cs typeface="Arial" pitchFamily="34" charset="0"/>
                </a:rPr>
                <a:t>Draft component, interfaces, and behavior boundary.</a:t>
              </a:r>
              <a:endParaRPr lang="en-US" sz="1600" b="1" dirty="0">
                <a:solidFill>
                  <a:srgbClr val="1F1F1F"/>
                </a:solidFill>
                <a:latin typeface="Arial" pitchFamily="34" charset="0"/>
                <a:cs typeface="Arial" pitchFamily="34" charset="0"/>
              </a:endParaRPr>
            </a:p>
          </p:txBody>
        </p:sp>
        <p:sp>
          <p:nvSpPr>
            <p:cNvPr id="6" name="Li_DemoExercise_6" descr="LiPattern:DemoExercise">
              <a:extLst>
                <a:ext uri="{FF2B5EF4-FFF2-40B4-BE49-F238E27FC236}">
                  <a16:creationId xmlns:a16="http://schemas.microsoft.com/office/drawing/2014/main" id="{C7B52FF0-73A8-D4E7-BA96-D34F022442B9}"/>
                </a:ext>
              </a:extLst>
            </p:cNvPr>
            <p:cNvSpPr/>
            <p:nvPr/>
          </p:nvSpPr>
          <p:spPr>
            <a:xfrm>
              <a:off x="7924800" y="2667000"/>
              <a:ext cx="2984500" cy="1676400"/>
            </a:xfrm>
            <a:prstGeom prst="roundRect">
              <a:avLst/>
            </a:prstGeom>
            <a:solidFill>
              <a:srgbClr val="EDF7EB">
                <a:alpha val="92000"/>
              </a:srgbClr>
            </a:solidFill>
            <a:ln w="11430" cap="flat" cmpd="sng" algn="ctr">
              <a:noFill/>
              <a:prstDash val="solid"/>
            </a:ln>
            <a:effectLst/>
            <a:extLst>
              <a:ext uri="{91240B29-F687-4F45-9708-019B960494DF}">
                <a14:hiddenLine xmlns:a14="http://schemas.microsoft.com/office/drawing/2010/main" w="11430" cap="flat" cmpd="sng" algn="ctr">
                  <a:solidFill>
                    <a:srgbClr val="48A23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600" b="1">
                  <a:solidFill>
                    <a:srgbClr val="1F1F1F"/>
                  </a:solidFill>
                  <a:latin typeface="Arial" pitchFamily="34" charset="0"/>
                  <a:cs typeface="Arial" pitchFamily="34" charset="0"/>
                </a:rPr>
                <a:t>Check</a:t>
              </a:r>
            </a:p>
            <a:p>
              <a:pPr algn="ctr"/>
              <a:r>
                <a:rPr lang="en-US" sz="1600" b="1">
                  <a:solidFill>
                    <a:srgbClr val="1F1F1F"/>
                  </a:solidFill>
                  <a:latin typeface="Arial" pitchFamily="34" charset="0"/>
                  <a:cs typeface="Arial" pitchFamily="34" charset="0"/>
                </a:rPr>
                <a:t>Define the requirement and test observation.</a:t>
              </a:r>
              <a:endParaRPr lang="en-US" sz="1600" b="1" dirty="0">
                <a:solidFill>
                  <a:srgbClr val="1F1F1F"/>
                </a:solidFill>
                <a:latin typeface="Arial" pitchFamily="34" charset="0"/>
                <a:cs typeface="Arial" pitchFamily="34" charset="0"/>
              </a:endParaRPr>
            </a:p>
          </p:txBody>
        </p:sp>
      </p:grpSp>
    </p:spTree>
    <p:extLst>
      <p:ext uri="{BB962C8B-B14F-4D97-AF65-F5344CB8AC3E}">
        <p14:creationId xmlns:p14="http://schemas.microsoft.com/office/powerpoint/2010/main" val="319711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8C7C-EDB0-C9D4-5379-A3BB5CDAAAAC}"/>
              </a:ext>
            </a:extLst>
          </p:cNvPr>
          <p:cNvSpPr>
            <a:spLocks noGrp="1"/>
          </p:cNvSpPr>
          <p:nvPr>
            <p:ph type="title"/>
          </p:nvPr>
        </p:nvSpPr>
        <p:spPr/>
        <p:txBody>
          <a:bodyPr wrap="square"/>
          <a:lstStyle/>
          <a:p>
            <a:r>
              <a:rPr lang="en-US"/>
              <a:t>Reusable MBD establishment pattern</a:t>
            </a:r>
          </a:p>
        </p:txBody>
      </p:sp>
      <p:sp>
        <p:nvSpPr>
          <p:cNvPr id="3" name="Li_Recap_3" descr="LiPattern:Recap">
            <a:extLst>
              <a:ext uri="{FF2B5EF4-FFF2-40B4-BE49-F238E27FC236}">
                <a16:creationId xmlns:a16="http://schemas.microsoft.com/office/drawing/2014/main" id="{04829D97-922D-93D1-59BF-52BB0AEBAB9F}"/>
              </a:ext>
            </a:extLst>
          </p:cNvPr>
          <p:cNvSpPr>
            <a:spLocks noGrp="1"/>
          </p:cNvSpPr>
          <p:nvPr>
            <p:ph idx="1"/>
          </p:nvPr>
        </p:nvSpPr>
        <p:spPr/>
        <p:txBody>
          <a:bodyPr/>
          <a:lstStyle/>
          <a:p>
            <a:r>
              <a:rPr lang="en-US" sz="1600">
                <a:solidFill>
                  <a:srgbClr val="1F1F1F"/>
                </a:solidFill>
              </a:rPr>
              <a:t>Start from project evidence, not from a generic conversion checklist.</a:t>
            </a:r>
          </a:p>
          <a:p>
            <a:r>
              <a:rPr lang="en-US" sz="1600">
                <a:solidFill>
                  <a:srgbClr val="1F1F1F"/>
                </a:solidFill>
              </a:rPr>
              <a:t>Use System Composer after boundaries and interfaces are justified by artifacts.</a:t>
            </a:r>
          </a:p>
          <a:p>
            <a:r>
              <a:rPr lang="en-US" sz="1600">
                <a:solidFill>
                  <a:srgbClr val="1F1F1F"/>
                </a:solidFill>
              </a:rPr>
              <a:t>Use Simulink, requirements, and tests to make the conversion reviewable.</a:t>
            </a:r>
          </a:p>
          <a:p>
            <a:r>
              <a:rPr lang="en-US" sz="1600">
                <a:solidFill>
                  <a:srgbClr val="1F1F1F"/>
                </a:solidFill>
              </a:rPr>
              <a:t>Track missing screenshots, data, and assumptions as explicit gaps.</a:t>
            </a:r>
          </a:p>
        </p:txBody>
      </p:sp>
      <p:sp>
        <p:nvSpPr>
          <p:cNvPr id="4" name="Li_Recap_4" descr="LiPattern:Recap">
            <a:extLst>
              <a:ext uri="{FF2B5EF4-FFF2-40B4-BE49-F238E27FC236}">
                <a16:creationId xmlns:a16="http://schemas.microsoft.com/office/drawing/2014/main" id="{35CD2DEF-1014-EF5E-1BAF-D645697BC8A1}"/>
              </a:ext>
            </a:extLst>
          </p:cNvPr>
          <p:cNvSpPr txBox="1"/>
          <p:nvPr/>
        </p:nvSpPr>
        <p:spPr>
          <a:xfrm>
            <a:off x="990600" y="1333500"/>
            <a:ext cx="10033000" cy="292388"/>
          </a:xfrm>
          <a:prstGeom prst="rect">
            <a:avLst/>
          </a:prstGeom>
          <a:noFill/>
        </p:spPr>
        <p:txBody>
          <a:bodyPr vert="horz" wrap="square" lIns="0" tIns="0" rIns="0" bIns="0" rtlCol="0">
            <a:spAutoFit/>
          </a:bodyPr>
          <a:lstStyle/>
          <a:p>
            <a:r>
              <a:rPr lang="en-US" sz="1900">
                <a:solidFill>
                  <a:srgbClr val="0076A8"/>
                </a:solidFill>
                <a:latin typeface="Arial" panose="020B0604020202020204" pitchFamily="34" charset="0"/>
                <a:cs typeface="Arial" pitchFamily="34" charset="0"/>
              </a:rPr>
              <a:t>Takeaways for the audience</a:t>
            </a:r>
            <a:endParaRPr lang="en-US" sz="1900" dirty="0">
              <a:solidFill>
                <a:srgbClr val="0076A8"/>
              </a:solidFill>
              <a:latin typeface="Arial" panose="020B0604020202020204" pitchFamily="34" charset="0"/>
              <a:cs typeface="Arial" pitchFamily="34" charset="0"/>
            </a:endParaRPr>
          </a:p>
        </p:txBody>
      </p:sp>
    </p:spTree>
    <p:extLst>
      <p:ext uri="{BB962C8B-B14F-4D97-AF65-F5344CB8AC3E}">
        <p14:creationId xmlns:p14="http://schemas.microsoft.com/office/powerpoint/2010/main" val="1220644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0074-11C0-B93E-4D6A-719B6C773D4F}"/>
              </a:ext>
            </a:extLst>
          </p:cNvPr>
          <p:cNvSpPr>
            <a:spLocks noGrp="1"/>
          </p:cNvSpPr>
          <p:nvPr>
            <p:ph type="title"/>
          </p:nvPr>
        </p:nvSpPr>
        <p:spPr/>
        <p:txBody>
          <a:bodyPr wrap="square"/>
          <a:lstStyle/>
          <a:p>
            <a:r>
              <a:rPr lang="en-US"/>
              <a:t>Where are we now, and what is next?</a:t>
            </a:r>
          </a:p>
        </p:txBody>
      </p:sp>
      <p:graphicFrame>
        <p:nvGraphicFramePr>
          <p:cNvPr id="5" name="Li_ResultsTable_5" descr="LiPattern:ResultsTable">
            <a:extLst>
              <a:ext uri="{FF2B5EF4-FFF2-40B4-BE49-F238E27FC236}">
                <a16:creationId xmlns:a16="http://schemas.microsoft.com/office/drawing/2014/main" id="{3A99CEBE-E5BF-3C8F-450E-FB289823DAC2}"/>
              </a:ext>
            </a:extLst>
          </p:cNvPr>
          <p:cNvGraphicFramePr>
            <a:graphicFrameLocks noGrp="1"/>
          </p:cNvGraphicFramePr>
          <p:nvPr>
            <p:ph idx="1"/>
            <p:extLst>
              <p:ext uri="{D42A27DB-BD31-4B8C-83A1-F6EECF244321}">
                <p14:modId xmlns:p14="http://schemas.microsoft.com/office/powerpoint/2010/main" val="2651479814"/>
              </p:ext>
            </p:extLst>
          </p:nvPr>
        </p:nvGraphicFramePr>
        <p:xfrm>
          <a:off x="889000" y="2413000"/>
          <a:ext cx="10414000" cy="323850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3900525760"/>
                    </a:ext>
                  </a:extLst>
                </a:gridCol>
                <a:gridCol w="2603500">
                  <a:extLst>
                    <a:ext uri="{9D8B030D-6E8A-4147-A177-3AD203B41FA5}">
                      <a16:colId xmlns:a16="http://schemas.microsoft.com/office/drawing/2014/main" val="1524321837"/>
                    </a:ext>
                  </a:extLst>
                </a:gridCol>
                <a:gridCol w="2603500">
                  <a:extLst>
                    <a:ext uri="{9D8B030D-6E8A-4147-A177-3AD203B41FA5}">
                      <a16:colId xmlns:a16="http://schemas.microsoft.com/office/drawing/2014/main" val="3669112357"/>
                    </a:ext>
                  </a:extLst>
                </a:gridCol>
                <a:gridCol w="2603500">
                  <a:extLst>
                    <a:ext uri="{9D8B030D-6E8A-4147-A177-3AD203B41FA5}">
                      <a16:colId xmlns:a16="http://schemas.microsoft.com/office/drawing/2014/main" val="1223920424"/>
                    </a:ext>
                  </a:extLst>
                </a:gridCol>
              </a:tblGrid>
              <a:tr h="809625">
                <a:tc>
                  <a:txBody>
                    <a:bodyPr/>
                    <a:lstStyle/>
                    <a:p>
                      <a:r>
                        <a:rPr lang="en-US" sz="1200" b="1">
                          <a:solidFill>
                            <a:srgbClr val="004B87"/>
                          </a:solidFill>
                        </a:rPr>
                        <a:t>Owner</a:t>
                      </a:r>
                    </a:p>
                  </a:txBody>
                  <a:tcPr>
                    <a:solidFill>
                      <a:srgbClr val="ECF5F8"/>
                    </a:solidFill>
                  </a:tcPr>
                </a:tc>
                <a:tc>
                  <a:txBody>
                    <a:bodyPr/>
                    <a:lstStyle/>
                    <a:p>
                      <a:r>
                        <a:rPr lang="en-US" sz="1200" b="1">
                          <a:solidFill>
                            <a:srgbClr val="004B87"/>
                          </a:solidFill>
                        </a:rPr>
                        <a:t>Current state</a:t>
                      </a:r>
                    </a:p>
                  </a:txBody>
                  <a:tcPr>
                    <a:solidFill>
                      <a:srgbClr val="ECF5F8"/>
                    </a:solidFill>
                  </a:tcPr>
                </a:tc>
                <a:tc>
                  <a:txBody>
                    <a:bodyPr/>
                    <a:lstStyle/>
                    <a:p>
                      <a:r>
                        <a:rPr lang="en-US" sz="1200" b="1">
                          <a:solidFill>
                            <a:srgbClr val="004B87"/>
                          </a:solidFill>
                        </a:rPr>
                        <a:t>Status</a:t>
                      </a:r>
                    </a:p>
                  </a:txBody>
                  <a:tcPr>
                    <a:solidFill>
                      <a:srgbClr val="ECF5F8"/>
                    </a:solidFill>
                  </a:tcPr>
                </a:tc>
                <a:tc>
                  <a:txBody>
                    <a:bodyPr/>
                    <a:lstStyle/>
                    <a:p>
                      <a:r>
                        <a:rPr lang="en-US" sz="1200" b="1">
                          <a:solidFill>
                            <a:srgbClr val="004B87"/>
                          </a:solidFill>
                        </a:rPr>
                        <a:t>Next step</a:t>
                      </a:r>
                    </a:p>
                  </a:txBody>
                  <a:tcPr>
                    <a:solidFill>
                      <a:srgbClr val="ECF5F8"/>
                    </a:solidFill>
                  </a:tcPr>
                </a:tc>
                <a:extLst>
                  <a:ext uri="{0D108BD9-81ED-4DB2-BD59-A6C34878D82A}">
                    <a16:rowId xmlns:a16="http://schemas.microsoft.com/office/drawing/2014/main" val="3968737550"/>
                  </a:ext>
                </a:extLst>
              </a:tr>
              <a:tr h="809625">
                <a:tc>
                  <a:txBody>
                    <a:bodyPr/>
                    <a:lstStyle/>
                    <a:p>
                      <a:r>
                        <a:rPr lang="en-US" sz="1100">
                          <a:solidFill>
                            <a:srgbClr val="1F1F1F"/>
                          </a:solidFill>
                        </a:rPr>
                        <a:t>MathWorks Consulting</a:t>
                      </a:r>
                    </a:p>
                  </a:txBody>
                  <a:tcPr>
                    <a:solidFill>
                      <a:srgbClr val="FFFFFF"/>
                    </a:solidFill>
                  </a:tcPr>
                </a:tc>
                <a:tc>
                  <a:txBody>
                    <a:bodyPr/>
                    <a:lstStyle/>
                    <a:p>
                      <a:r>
                        <a:rPr lang="en-US" sz="1100">
                          <a:solidFill>
                            <a:srgbClr val="1F1F1F"/>
                          </a:solidFill>
                        </a:rPr>
                        <a:t>Workshop pattern and example conversion path</a:t>
                      </a:r>
                    </a:p>
                  </a:txBody>
                  <a:tcPr>
                    <a:solidFill>
                      <a:srgbClr val="FFFFFF"/>
                    </a:solidFill>
                  </a:tcPr>
                </a:tc>
                <a:tc>
                  <a:txBody>
                    <a:bodyPr/>
                    <a:lstStyle/>
                    <a:p>
                      <a:r>
                        <a:rPr lang="en-US" sz="1100">
                          <a:solidFill>
                            <a:srgbClr val="1F1F1F"/>
                          </a:solidFill>
                        </a:rPr>
                        <a:t>Complete</a:t>
                      </a:r>
                    </a:p>
                  </a:txBody>
                  <a:tcPr>
                    <a:solidFill>
                      <a:srgbClr val="EDF7EB"/>
                    </a:solidFill>
                  </a:tcPr>
                </a:tc>
                <a:tc>
                  <a:txBody>
                    <a:bodyPr/>
                    <a:lstStyle/>
                    <a:p>
                      <a:r>
                        <a:rPr lang="en-US" sz="1100">
                          <a:solidFill>
                            <a:srgbClr val="1F1F1F"/>
                          </a:solidFill>
                        </a:rPr>
                        <a:t>Package reusable material and demo assets</a:t>
                      </a:r>
                    </a:p>
                  </a:txBody>
                  <a:tcPr>
                    <a:solidFill>
                      <a:srgbClr val="FFFFFF"/>
                    </a:solidFill>
                  </a:tcPr>
                </a:tc>
                <a:extLst>
                  <a:ext uri="{0D108BD9-81ED-4DB2-BD59-A6C34878D82A}">
                    <a16:rowId xmlns:a16="http://schemas.microsoft.com/office/drawing/2014/main" val="1855424671"/>
                  </a:ext>
                </a:extLst>
              </a:tr>
              <a:tr h="809625">
                <a:tc>
                  <a:txBody>
                    <a:bodyPr/>
                    <a:lstStyle/>
                    <a:p>
                      <a:r>
                        <a:rPr lang="en-US" sz="1100">
                          <a:solidFill>
                            <a:srgbClr val="1F1F1F"/>
                          </a:solidFill>
                        </a:rPr>
                        <a:t>Customer team</a:t>
                      </a:r>
                    </a:p>
                  </a:txBody>
                  <a:tcPr>
                    <a:solidFill>
                      <a:srgbClr val="F2F4F5">
                        <a:alpha val="65000"/>
                      </a:srgbClr>
                    </a:solidFill>
                  </a:tcPr>
                </a:tc>
                <a:tc>
                  <a:txBody>
                    <a:bodyPr/>
                    <a:lstStyle/>
                    <a:p>
                      <a:r>
                        <a:rPr lang="en-US" sz="1100">
                          <a:solidFill>
                            <a:srgbClr val="1F1F1F"/>
                          </a:solidFill>
                        </a:rPr>
                        <a:t>Project-specific source artifacts and architecture decisions</a:t>
                      </a:r>
                    </a:p>
                  </a:txBody>
                  <a:tcPr>
                    <a:solidFill>
                      <a:srgbClr val="F2F4F5">
                        <a:alpha val="65000"/>
                      </a:srgbClr>
                    </a:solidFill>
                  </a:tcPr>
                </a:tc>
                <a:tc>
                  <a:txBody>
                    <a:bodyPr/>
                    <a:lstStyle/>
                    <a:p>
                      <a:r>
                        <a:rPr lang="en-US" sz="1100">
                          <a:solidFill>
                            <a:srgbClr val="1F1F1F"/>
                          </a:solidFill>
                        </a:rPr>
                        <a:t>Pending</a:t>
                      </a:r>
                    </a:p>
                  </a:txBody>
                  <a:tcPr>
                    <a:solidFill>
                      <a:srgbClr val="FFF6DA"/>
                    </a:solidFill>
                  </a:tcPr>
                </a:tc>
                <a:tc>
                  <a:txBody>
                    <a:bodyPr/>
                    <a:lstStyle/>
                    <a:p>
                      <a:r>
                        <a:rPr lang="en-US" sz="1100">
                          <a:solidFill>
                            <a:srgbClr val="1F1F1F"/>
                          </a:solidFill>
                        </a:rPr>
                        <a:t>Provide sanitized screenshots, data, and constraints</a:t>
                      </a:r>
                    </a:p>
                  </a:txBody>
                  <a:tcPr>
                    <a:solidFill>
                      <a:srgbClr val="F2F4F5">
                        <a:alpha val="65000"/>
                      </a:srgbClr>
                    </a:solidFill>
                  </a:tcPr>
                </a:tc>
                <a:extLst>
                  <a:ext uri="{0D108BD9-81ED-4DB2-BD59-A6C34878D82A}">
                    <a16:rowId xmlns:a16="http://schemas.microsoft.com/office/drawing/2014/main" val="3448585548"/>
                  </a:ext>
                </a:extLst>
              </a:tr>
              <a:tr h="809625">
                <a:tc>
                  <a:txBody>
                    <a:bodyPr/>
                    <a:lstStyle/>
                    <a:p>
                      <a:r>
                        <a:rPr lang="en-US" sz="1100">
                          <a:solidFill>
                            <a:srgbClr val="1F1F1F"/>
                          </a:solidFill>
                        </a:rPr>
                        <a:t>Joint team</a:t>
                      </a:r>
                    </a:p>
                  </a:txBody>
                  <a:tcPr>
                    <a:solidFill>
                      <a:srgbClr val="FFFFFF"/>
                    </a:solidFill>
                  </a:tcPr>
                </a:tc>
                <a:tc>
                  <a:txBody>
                    <a:bodyPr/>
                    <a:lstStyle/>
                    <a:p>
                      <a:r>
                        <a:rPr lang="en-US" sz="1100">
                          <a:solidFill>
                            <a:srgbClr val="1F1F1F"/>
                          </a:solidFill>
                        </a:rPr>
                        <a:t>Repeatable MBD establishment workflow</a:t>
                      </a:r>
                    </a:p>
                  </a:txBody>
                  <a:tcPr>
                    <a:solidFill>
                      <a:srgbClr val="FFFFFF"/>
                    </a:solidFill>
                  </a:tcPr>
                </a:tc>
                <a:tc>
                  <a:txBody>
                    <a:bodyPr/>
                    <a:lstStyle/>
                    <a:p>
                      <a:r>
                        <a:rPr lang="en-US" sz="1100">
                          <a:solidFill>
                            <a:srgbClr val="1F1F1F"/>
                          </a:solidFill>
                        </a:rPr>
                        <a:t>Next</a:t>
                      </a:r>
                    </a:p>
                  </a:txBody>
                  <a:tcPr>
                    <a:solidFill>
                      <a:srgbClr val="FFF6DA"/>
                    </a:solidFill>
                  </a:tcPr>
                </a:tc>
                <a:tc>
                  <a:txBody>
                    <a:bodyPr/>
                    <a:lstStyle/>
                    <a:p>
                      <a:r>
                        <a:rPr lang="en-US" sz="1100">
                          <a:solidFill>
                            <a:srgbClr val="1F1F1F"/>
                          </a:solidFill>
                        </a:rPr>
                        <a:t>Run one component through the full method</a:t>
                      </a:r>
                    </a:p>
                  </a:txBody>
                  <a:tcPr>
                    <a:solidFill>
                      <a:srgbClr val="FFFFFF"/>
                    </a:solidFill>
                  </a:tcPr>
                </a:tc>
                <a:extLst>
                  <a:ext uri="{0D108BD9-81ED-4DB2-BD59-A6C34878D82A}">
                    <a16:rowId xmlns:a16="http://schemas.microsoft.com/office/drawing/2014/main" val="1945989982"/>
                  </a:ext>
                </a:extLst>
              </a:tr>
            </a:tbl>
          </a:graphicData>
        </a:graphic>
      </p:graphicFrame>
      <p:sp>
        <p:nvSpPr>
          <p:cNvPr id="4" name="Li_ResultsTable_4" descr="LiPattern:ResultsTable">
            <a:extLst>
              <a:ext uri="{FF2B5EF4-FFF2-40B4-BE49-F238E27FC236}">
                <a16:creationId xmlns:a16="http://schemas.microsoft.com/office/drawing/2014/main" id="{744251D1-0B5D-1C3E-C158-7B493AA3F126}"/>
              </a:ext>
            </a:extLst>
          </p:cNvPr>
          <p:cNvSpPr txBox="1"/>
          <p:nvPr/>
        </p:nvSpPr>
        <p:spPr>
          <a:xfrm>
            <a:off x="990600" y="1714500"/>
            <a:ext cx="10033000" cy="230832"/>
          </a:xfrm>
          <a:prstGeom prst="rect">
            <a:avLst/>
          </a:prstGeom>
          <a:noFill/>
        </p:spPr>
        <p:txBody>
          <a:bodyPr vert="horz" wrap="square" lIns="0" tIns="0" rIns="0" bIns="0" rtlCol="0">
            <a:spAutoFit/>
          </a:bodyPr>
          <a:lstStyle/>
          <a:p>
            <a:r>
              <a:rPr lang="en-US" sz="1500">
                <a:solidFill>
                  <a:srgbClr val="636569"/>
                </a:solidFill>
                <a:latin typeface="Arial" panose="020B0604020202020204" pitchFamily="34" charset="0"/>
                <a:cs typeface="Arial" pitchFamily="34" charset="0"/>
              </a:rPr>
              <a:t>The source workshop ended by separating MathWorks actions and customer actions.</a:t>
            </a:r>
            <a:endParaRPr lang="en-US" sz="1500" dirty="0">
              <a:solidFill>
                <a:srgbClr val="636569"/>
              </a:solidFill>
              <a:latin typeface="Arial" panose="020B0604020202020204" pitchFamily="34" charset="0"/>
              <a:cs typeface="Arial" pitchFamily="34" charset="0"/>
            </a:endParaRPr>
          </a:p>
        </p:txBody>
      </p:sp>
      <p:sp>
        <p:nvSpPr>
          <p:cNvPr id="6" name="Li_ResultsTable_6" descr="LiPattern:ResultsTable">
            <a:extLst>
              <a:ext uri="{FF2B5EF4-FFF2-40B4-BE49-F238E27FC236}">
                <a16:creationId xmlns:a16="http://schemas.microsoft.com/office/drawing/2014/main" id="{FC23C0D9-6F63-9F69-1B43-BA0E977D5301}"/>
              </a:ext>
            </a:extLst>
          </p:cNvPr>
          <p:cNvSpPr/>
          <p:nvPr/>
        </p:nvSpPr>
        <p:spPr>
          <a:xfrm>
            <a:off x="1524000" y="5905500"/>
            <a:ext cx="9144000" cy="457200"/>
          </a:xfrm>
          <a:prstGeom prst="roundRect">
            <a:avLst/>
          </a:prstGeom>
          <a:solidFill>
            <a:srgbClr val="FFF6DA">
              <a:alpha val="92000"/>
            </a:srgbClr>
          </a:solidFill>
          <a:ln w="11430">
            <a:solidFill>
              <a:srgbClr val="D78824"/>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101600" rIns="152400" bIns="101600" rtlCol="0" anchor="ctr"/>
          <a:lstStyle/>
          <a:p>
            <a:pPr algn="ctr"/>
            <a:r>
              <a:rPr lang="en-US" sz="1400" b="1">
                <a:solidFill>
                  <a:srgbClr val="1F1F1F"/>
                </a:solidFill>
                <a:latin typeface="Arial" pitchFamily="34" charset="0"/>
                <a:cs typeface="Arial" pitchFamily="34" charset="0"/>
              </a:rPr>
              <a:t>The next workshop ends with an owned action list and evidence gaps.</a:t>
            </a:r>
            <a:endParaRPr lang="en-US" sz="1400" b="1" dirty="0">
              <a:solidFill>
                <a:srgbClr val="1F1F1F"/>
              </a:solidFill>
              <a:latin typeface="Arial" pitchFamily="34" charset="0"/>
              <a:cs typeface="Arial" pitchFamily="34" charset="0"/>
            </a:endParaRPr>
          </a:p>
        </p:txBody>
      </p:sp>
    </p:spTree>
    <p:extLst>
      <p:ext uri="{BB962C8B-B14F-4D97-AF65-F5344CB8AC3E}">
        <p14:creationId xmlns:p14="http://schemas.microsoft.com/office/powerpoint/2010/main" val="141736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 id="{59CF0C3A-1374-FF4F-BC13-83D96775E065}" vid="{E2E3060B-D3CD-9E44-A667-975AC4DDCA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BDF109259C3742B70118398EA662DF" ma:contentTypeVersion="4" ma:contentTypeDescription="Create a new document." ma:contentTypeScope="" ma:versionID="685566423c5dd230aba5d55ba4d04239">
  <xsd:schema xmlns:xsd="http://www.w3.org/2001/XMLSchema" xmlns:xs="http://www.w3.org/2001/XMLSchema" xmlns:p="http://schemas.microsoft.com/office/2006/metadata/properties" xmlns:ns2="c0427815-c159-405c-a9c3-9204bd95a48e" targetNamespace="http://schemas.microsoft.com/office/2006/metadata/properties" ma:root="true" ma:fieldsID="db0a9b8f4106c642c10fea28b3543bf4" ns2:_="">
    <xsd:import namespace="c0427815-c159-405c-a9c3-9204bd95a48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27815-c159-405c-a9c3-9204bd95a4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30D810-BCBB-473F-88F7-D071E062A6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27815-c159-405c-a9c3-9204bd95a4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3.xml><?xml version="1.0" encoding="utf-8"?>
<ds:datastoreItem xmlns:ds="http://schemas.openxmlformats.org/officeDocument/2006/customXml" ds:itemID="{73B851B7-D313-4E85-A1E0-5976CFE11EC3}">
  <ds:schemaRefs>
    <ds:schemaRef ds:uri="http://schemas.microsoft.com/office/2006/metadata/properties"/>
    <ds:schemaRef ds:uri="http://schemas.microsoft.com/sharepoint/v3"/>
    <ds:schemaRef ds:uri="a70944c9-f5be-4b0f-89c7-00caf47c665c"/>
    <ds:schemaRef ds:uri="http://purl.org/dc/dcmitype/"/>
    <ds:schemaRef ds:uri="http://www.w3.org/XML/1998/namespace"/>
    <ds:schemaRef ds:uri="19f94994-4311-4823-a682-47492cb9e3e3"/>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MathWorks Public PowerPoint Template</Template>
  <TotalTime>0</TotalTime>
  <Words>1936</Words>
  <Application>Microsoft Office PowerPoint</Application>
  <PresentationFormat>Widescreen</PresentationFormat>
  <Paragraphs>250</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Courier New</vt:lpstr>
      <vt:lpstr>Wingdings</vt:lpstr>
      <vt:lpstr>MW_Public_widescreen</vt:lpstr>
      <vt:lpstr>MBD Establishment Workshop</vt:lpstr>
      <vt:lpstr>The workshop has one through-line: turn code evidence into model decisions</vt:lpstr>
      <vt:lpstr>Workshop setup: every concept is tied to a concrete artifact</vt:lpstr>
      <vt:lpstr>The target workflow links decisions, tools, and verification</vt:lpstr>
      <vt:lpstr>Generic conversion steps fail when project inputs are missing</vt:lpstr>
      <vt:lpstr>The workshop path resolves the missing-input problem</vt:lpstr>
      <vt:lpstr>Source code is not just implementation; it exposes modeling decisions</vt:lpstr>
      <vt:lpstr>Data definitions become the interface contract</vt:lpstr>
      <vt:lpstr>A useful conversion review connects artifacts to decisions</vt:lpstr>
      <vt:lpstr>System Composer captures architecture after the evidence is understood</vt:lpstr>
      <vt:lpstr>The workshop leaves decisions, not just observations</vt:lpstr>
      <vt:lpstr>Exercise: convert one component using the artifact map</vt:lpstr>
      <vt:lpstr>Reusable MBD establishment pattern</vt:lpstr>
      <vt:lpstr>Where are we now, and what is 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Li Dang</dc:creator>
  <cp:keywords>Version 26.0</cp:keywords>
  <dc:description/>
  <cp:lastModifiedBy>Li Dang</cp:lastModifiedBy>
  <cp:revision>2</cp:revision>
  <dcterms:created xsi:type="dcterms:W3CDTF">2026-08-04T16:11:18Z</dcterms:created>
  <dcterms:modified xsi:type="dcterms:W3CDTF">2026-08-05T20:19:01Z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0x010100E8BDF109259C3742B70118398EA662DF</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